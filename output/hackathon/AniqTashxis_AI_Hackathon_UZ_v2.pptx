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2.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5cca46e82ce4dc5" /><Relationship Type="http://schemas.openxmlformats.org/officeDocument/2006/relationships/extended-properties" Target="/docProps/app.xml" Id="R5c18aa118d4b4935" /><Relationship Type="http://schemas.openxmlformats.org/officeDocument/2006/relationships/officeDocument" Target="/ppt/presentation.xml" Id="R3ed942f6843f49c6" /></Relationships>
</file>

<file path=ppt/presentation.xml><?xml version="1.0" encoding="utf-8"?>
<p:presentation xmlns:p="http://schemas.openxmlformats.org/presentationml/2006/main">
  <p:sldMasterIdLst>
    <p:sldMasterId xmlns:r="http://schemas.openxmlformats.org/officeDocument/2006/relationships" id="2147483648" r:id="R7e42aeab6abf4a31"/>
  </p:sldMasterIdLst>
  <p:notesMasterIdLst>
    <p:notesMasterId xmlns:r="http://schemas.openxmlformats.org/officeDocument/2006/relationships" r:id="R1035bdb50e4849e8"/>
  </p:notesMasterIdLst>
  <p:sldIdLst>
    <p:sldId xmlns:r="http://schemas.openxmlformats.org/officeDocument/2006/relationships" id="256" r:id="R0a02025e16ae407c"/>
    <p:sldId xmlns:r="http://schemas.openxmlformats.org/officeDocument/2006/relationships" id="257" r:id="Red0be3754b5f43b2"/>
    <p:sldId xmlns:r="http://schemas.openxmlformats.org/officeDocument/2006/relationships" id="258" r:id="R75fe339901554b8b"/>
    <p:sldId xmlns:r="http://schemas.openxmlformats.org/officeDocument/2006/relationships" id="259" r:id="Rf73868430549478a"/>
    <p:sldId xmlns:r="http://schemas.openxmlformats.org/officeDocument/2006/relationships" id="260" r:id="Ra75df0230e1f4cf7"/>
    <p:sldId xmlns:r="http://schemas.openxmlformats.org/officeDocument/2006/relationships" id="261" r:id="Ra927bd72dddc477a"/>
    <p:sldId xmlns:r="http://schemas.openxmlformats.org/officeDocument/2006/relationships" id="262" r:id="Re9b6265bbd89428f"/>
    <p:sldId xmlns:r="http://schemas.openxmlformats.org/officeDocument/2006/relationships" id="263" r:id="Re7fe89e8bd5d48c3"/>
    <p:sldId xmlns:r="http://schemas.openxmlformats.org/officeDocument/2006/relationships" id="264" r:id="R1d00f3e4b61b471b"/>
    <p:sldId xmlns:r="http://schemas.openxmlformats.org/officeDocument/2006/relationships" id="265" r:id="R14468c4c467b468c"/>
    <p:sldId xmlns:r="http://schemas.openxmlformats.org/officeDocument/2006/relationships" id="266" r:id="R9439b99604c0466f"/>
    <p:sldId xmlns:r="http://schemas.openxmlformats.org/officeDocument/2006/relationships" id="267" r:id="Rcf960e469f194944"/>
    <p:sldId xmlns:r="http://schemas.openxmlformats.org/officeDocument/2006/relationships" id="268" r:id="Rf776411447c94b71"/>
    <p:sldId xmlns:r="http://schemas.openxmlformats.org/officeDocument/2006/relationships" id="269" r:id="R86e83927ce80436d"/>
    <p:sldId xmlns:r="http://schemas.openxmlformats.org/officeDocument/2006/relationships" id="270" r:id="R4e821e2261584d7a"/>
    <p:sldId xmlns:r="http://schemas.openxmlformats.org/officeDocument/2006/relationships" id="271" r:id="R01c89c13e9404490"/>
    <p:sldId xmlns:r="http://schemas.openxmlformats.org/officeDocument/2006/relationships" id="272" r:id="R9b31df0d8f384436"/>
    <p:sldId xmlns:r="http://schemas.openxmlformats.org/officeDocument/2006/relationships" id="273" r:id="Re32479a04697488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02e13c2ef2846a3" /><Relationship Type="http://schemas.openxmlformats.org/officeDocument/2006/relationships/slideMaster" Target="/ppt/slideMasters/slideMaster1.xml" Id="R7e42aeab6abf4a31" /><Relationship Type="http://schemas.openxmlformats.org/officeDocument/2006/relationships/notesMaster" Target="/ppt/notesMasters/notesMaster1.xml" Id="R1035bdb50e4849e8" /><Relationship Type="http://schemas.openxmlformats.org/officeDocument/2006/relationships/presProps" Target="/ppt/presProps.xml" Id="R47c9a349d21e41a6" /><Relationship Type="http://schemas.openxmlformats.org/officeDocument/2006/relationships/tableStyles" Target="/ppt/tableStyles.xml" Id="R792c0d2a6c7f4305" /><Relationship Type="http://schemas.openxmlformats.org/officeDocument/2006/relationships/slide" Target="/ppt/slides/slide1.xml" Id="R0a02025e16ae407c" /><Relationship Type="http://schemas.openxmlformats.org/officeDocument/2006/relationships/slide" Target="/ppt/slides/slide2.xml" Id="Red0be3754b5f43b2" /><Relationship Type="http://schemas.openxmlformats.org/officeDocument/2006/relationships/slide" Target="/ppt/slides/slide3.xml" Id="R75fe339901554b8b" /><Relationship Type="http://schemas.openxmlformats.org/officeDocument/2006/relationships/slide" Target="/ppt/slides/slide4.xml" Id="Rf73868430549478a" /><Relationship Type="http://schemas.openxmlformats.org/officeDocument/2006/relationships/slide" Target="/ppt/slides/slide5.xml" Id="Ra75df0230e1f4cf7" /><Relationship Type="http://schemas.openxmlformats.org/officeDocument/2006/relationships/slide" Target="/ppt/slides/slide6.xml" Id="Ra927bd72dddc477a" /><Relationship Type="http://schemas.openxmlformats.org/officeDocument/2006/relationships/slide" Target="/ppt/slides/slide7.xml" Id="Re9b6265bbd89428f" /><Relationship Type="http://schemas.openxmlformats.org/officeDocument/2006/relationships/slide" Target="/ppt/slides/slide8.xml" Id="Re7fe89e8bd5d48c3" /><Relationship Type="http://schemas.openxmlformats.org/officeDocument/2006/relationships/slide" Target="/ppt/slides/slide9.xml" Id="R1d00f3e4b61b471b" /><Relationship Type="http://schemas.openxmlformats.org/officeDocument/2006/relationships/slide" Target="/ppt/slides/slide10.xml" Id="R14468c4c467b468c" /><Relationship Type="http://schemas.openxmlformats.org/officeDocument/2006/relationships/slide" Target="/ppt/slides/slide11.xml" Id="R9439b99604c0466f" /><Relationship Type="http://schemas.openxmlformats.org/officeDocument/2006/relationships/slide" Target="/ppt/slides/slide12.xml" Id="Rcf960e469f194944" /><Relationship Type="http://schemas.openxmlformats.org/officeDocument/2006/relationships/slide" Target="/ppt/slides/slide13.xml" Id="Rf776411447c94b71" /><Relationship Type="http://schemas.openxmlformats.org/officeDocument/2006/relationships/slide" Target="/ppt/slides/slide14.xml" Id="R86e83927ce80436d" /><Relationship Type="http://schemas.openxmlformats.org/officeDocument/2006/relationships/slide" Target="/ppt/slides/slide15.xml" Id="R4e821e2261584d7a" /><Relationship Type="http://schemas.openxmlformats.org/officeDocument/2006/relationships/slide" Target="/ppt/slides/slide16.xml" Id="R01c89c13e9404490" /><Relationship Type="http://schemas.openxmlformats.org/officeDocument/2006/relationships/slide" Target="/ppt/slides/slide17.xml" Id="R9b31df0d8f384436" /><Relationship Type="http://schemas.openxmlformats.org/officeDocument/2006/relationships/slide" Target="/ppt/slides/slide18.xml" Id="Re32479a04697488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c1c4f3cc81147e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d7670b1e6e54837" /><Relationship Type="http://schemas.openxmlformats.org/officeDocument/2006/relationships/notesMaster" Target="/ppt/notesMasters/notesMaster1.xml" Id="R67229fc3f1bb4f30" /></Relationships>
</file>

<file path=ppt/notesSlides/_rels/notesSlide2.xml.rels>&#65279;<?xml version="1.0" encoding="utf-8"?><Relationships xmlns="http://schemas.openxmlformats.org/package/2006/relationships"><Relationship Type="http://schemas.openxmlformats.org/officeDocument/2006/relationships/slide" Target="/ppt/slides/slide2.xml" Id="R70e3993c07724aaa" /><Relationship Type="http://schemas.openxmlformats.org/officeDocument/2006/relationships/notesMaster" Target="/ppt/notesMasters/notesMaster1.xml" Id="R7e3c7c6766ac4133" /></Relationships>
</file>

<file path=ppt/notesSlides/_rels/notesSlide3.xml.rels>&#65279;<?xml version="1.0" encoding="utf-8"?><Relationships xmlns="http://schemas.openxmlformats.org/package/2006/relationships"><Relationship Type="http://schemas.openxmlformats.org/officeDocument/2006/relationships/slide" Target="/ppt/slides/slide3.xml" Id="R4203c148fe024dd3" /><Relationship Type="http://schemas.openxmlformats.org/officeDocument/2006/relationships/notesMaster" Target="/ppt/notesMasters/notesMaster1.xml" Id="Re46d148aa530404c" /></Relationships>
</file>

<file path=ppt/notesSlides/_rels/notesSlide4.xml.rels>&#65279;<?xml version="1.0" encoding="utf-8"?><Relationships xmlns="http://schemas.openxmlformats.org/package/2006/relationships"><Relationship Type="http://schemas.openxmlformats.org/officeDocument/2006/relationships/slide" Target="/ppt/slides/slide4.xml" Id="Ra4dfb78a275a45de" /><Relationship Type="http://schemas.openxmlformats.org/officeDocument/2006/relationships/notesMaster" Target="/ppt/notesMasters/notesMaster1.xml" Id="R53198cd7c21c46fa" /></Relationships>
</file>

<file path=ppt/notesSlides/_rels/notesSlide5.xml.rels>&#65279;<?xml version="1.0" encoding="utf-8"?><Relationships xmlns="http://schemas.openxmlformats.org/package/2006/relationships"><Relationship Type="http://schemas.openxmlformats.org/officeDocument/2006/relationships/slide" Target="/ppt/slides/slide5.xml" Id="Re38e931d9f8f4244" /><Relationship Type="http://schemas.openxmlformats.org/officeDocument/2006/relationships/notesMaster" Target="/ppt/notesMasters/notesMaster1.xml" Id="R84f33950ba00451b" /></Relationships>
</file>

<file path=ppt/notesSlides/_rels/notesSlide6.xml.rels>&#65279;<?xml version="1.0" encoding="utf-8"?><Relationships xmlns="http://schemas.openxmlformats.org/package/2006/relationships"><Relationship Type="http://schemas.openxmlformats.org/officeDocument/2006/relationships/slide" Target="/ppt/slides/slide6.xml" Id="Rc2613a3a283f41e9" /><Relationship Type="http://schemas.openxmlformats.org/officeDocument/2006/relationships/notesMaster" Target="/ppt/notesMasters/notesMaster1.xml" Id="Rf29a1e4d246f4c74" /></Relationships>
</file>

<file path=ppt/notesSlides/_rels/notesSlide7.xml.rels>&#65279;<?xml version="1.0" encoding="utf-8"?><Relationships xmlns="http://schemas.openxmlformats.org/package/2006/relationships"><Relationship Type="http://schemas.openxmlformats.org/officeDocument/2006/relationships/slide" Target="/ppt/slides/slide7.xml" Id="Re91b0507f9f04928" /><Relationship Type="http://schemas.openxmlformats.org/officeDocument/2006/relationships/notesMaster" Target="/ppt/notesMasters/notesMaster1.xml" Id="Rd138238b26f14d25" /></Relationships>
</file>

<file path=ppt/notesSlides/_rels/notesSlide8.xml.rels>&#65279;<?xml version="1.0" encoding="utf-8"?><Relationships xmlns="http://schemas.openxmlformats.org/package/2006/relationships"><Relationship Type="http://schemas.openxmlformats.org/officeDocument/2006/relationships/slide" Target="/ppt/slides/slide8.xml" Id="R1a46f61bbeab4cf6" /><Relationship Type="http://schemas.openxmlformats.org/officeDocument/2006/relationships/notesMaster" Target="/ppt/notesMasters/notesMaster1.xml" Id="R4567fdf07c994de7" /></Relationships>
</file>

<file path=ppt/notesSlides/_rels/notesSlide9.xml.rels>&#65279;<?xml version="1.0" encoding="utf-8"?><Relationships xmlns="http://schemas.openxmlformats.org/package/2006/relationships"><Relationship Type="http://schemas.openxmlformats.org/officeDocument/2006/relationships/slide" Target="/ppt/slides/slide9.xml" Id="Red99545ac6834798" /><Relationship Type="http://schemas.openxmlformats.org/officeDocument/2006/relationships/notesMaster" Target="/ppt/notesMasters/notesMaster1.xml" Id="R44cb9643ee2f427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41f3514c1a74739" /><Relationship Type="http://schemas.openxmlformats.org/officeDocument/2006/relationships/notesMaster" Target="/ppt/notesMasters/notesMaster1.xml" Id="Ra09a6580cf1b498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f911a2584a54b00" /><Relationship Type="http://schemas.openxmlformats.org/officeDocument/2006/relationships/notesMaster" Target="/ppt/notesMasters/notesMaster1.xml" Id="R6eb54fff498e4db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6728bf275cb458f" /><Relationship Type="http://schemas.openxmlformats.org/officeDocument/2006/relationships/notesMaster" Target="/ppt/notesMasters/notesMaster1.xml" Id="Rbafa4e20448b47a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07bfe24320f4a5a" /><Relationship Type="http://schemas.openxmlformats.org/officeDocument/2006/relationships/notesMaster" Target="/ppt/notesMasters/notesMaster1.xml" Id="R079c90cd13b5493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af47d138fc14220" /><Relationship Type="http://schemas.openxmlformats.org/officeDocument/2006/relationships/notesMaster" Target="/ppt/notesMasters/notesMaster1.xml" Id="R38ca18dc7c344bb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49b8b34344542b5" /><Relationship Type="http://schemas.openxmlformats.org/officeDocument/2006/relationships/notesMaster" Target="/ppt/notesMasters/notesMaster1.xml" Id="R58abac215ca64ab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b955db2a8044f06" /><Relationship Type="http://schemas.openxmlformats.org/officeDocument/2006/relationships/notesMaster" Target="/ppt/notesMasters/notesMaster1.xml" Id="R0d1693da16e644c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cfc386553c94bca" /><Relationship Type="http://schemas.openxmlformats.org/officeDocument/2006/relationships/notesMaster" Target="/ppt/notesMasters/notesMaster1.xml" Id="Rbdfd846e29c8456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c27701f08ca4395" /><Relationship Type="http://schemas.openxmlformats.org/officeDocument/2006/relationships/notesMaster" Target="/ppt/notesMasters/notesMaster1.xml" Id="R60b4885976404e6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Nutq vaqti: 10 soniya.</a:t>
            </a:r>
          </a:p>
          <a:p xmlns:a="http://schemas.openxmlformats.org/drawingml/2006/main">
            <a:r>
              <a:t/>
            </a:r>
          </a:p>
          <a:p xmlns:a="http://schemas.openxmlformats.org/drawingml/2006/main">
            <a:r>
              <a:t>Assalomu alaykum. Biz AVI Lab jamoasimiz. AniqTashxis AI bemor ma’lumotlari va shifokor xulosasini bir joyda solishtiradigan klinik ish maydoni.</a:t>
            </a:r>
          </a:p>
          <a:p xmlns:a="http://schemas.openxmlformats.org/drawingml/2006/main">
            <a:r>
              <a:t/>
            </a:r>
          </a:p>
          <a:p xmlns:a="http://schemas.openxmlformats.org/drawingml/2006/main">
            <a:r>
              <a:t>Qo‘shimcha izoh:</a:t>
            </a:r>
          </a:p>
          <a:p xmlns:a="http://schemas.openxmlformats.org/drawingml/2006/main">
            <a:r>
              <a:t>Muqova: AI yaratgan abstrakt optik ko‘z. Tibbiy skan yoki bemor anatomiyasi emas. Jamoa nomi foydalanuvchi tasdig‘iga asoslangan.</a:t>
            </a:r>
          </a:p>
          <a:p xmlns:a="http://schemas.openxmlformats.org/drawingml/2006/main">
            <a:r>
              <a:t/>
            </a:r>
          </a:p>
          <a:p xmlns:a="http://schemas.openxmlformats.org/drawingml/2006/main">
            <a:r>
              <a:t>Manbalar:</a:t>
            </a:r>
          </a:p>
          <a:p xmlns:a="http://schemas.openxmlformats.org/drawingml/2006/main">
            <a:r>
              <a:t>Loyiha brendi: frontend/public/brand/aniqtashxis-mark.svg</a:t>
            </a:r>
          </a:p>
          <a:p xmlns:a="http://schemas.openxmlformats.org/drawingml/2006/main">
            <a:r>
              <a:t>Muqova: built-in imagegen, 2026-09-19; prompt VISUAL_ASSETS.md faylida.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Nutq vaqti: 20 soniya.</a:t>
            </a:r>
          </a:p>
          <a:p xmlns:a="http://schemas.openxmlformats.org/drawingml/2006/main">
            <a:r>
              <a:t/>
            </a:r>
          </a:p>
          <a:p xmlns:a="http://schemas.openxmlformats.org/drawingml/2006/main">
            <a:r>
              <a:t>Shikoyatlar, laboratoriya javoblari va tasvirlar turli joylarda saqlanadi. Shifokor ularni qayta yig‘ib, qarorini tekshiradi. Biz avval mustaqil shifokorlar va kichik xususiy klinikalarga e’tibor qaratamiz. Rasmiy statistikada 2025-yil boshida O‘zbekistonda 1 301 ta xususiy shifoxona bor.</a:t>
            </a:r>
          </a:p>
          <a:p xmlns:a="http://schemas.openxmlformats.org/drawingml/2006/main">
            <a:r>
              <a:t/>
            </a:r>
          </a:p>
          <a:p xmlns:a="http://schemas.openxmlformats.org/drawingml/2006/main">
            <a:r>
              <a:t>Qo‘shimcha izoh:</a:t>
            </a:r>
          </a:p>
          <a:p xmlns:a="http://schemas.openxmlformats.org/drawingml/2006/main">
            <a:r>
              <a:t>Muammo mahsulot gipotezasi, foydalanuvchi so‘rovi va ish jarayoniga asoslangan. Vaqt tejash hali o‘lchanmagan. 1 301 faqat xususiy shifoxona, barcha ambulator klinikalar emas. Bu 2026-yil bozori, TAM yoki real mijoz soni emas. Yangilik 2025-09-12 nashr qilingan.</a:t>
            </a:r>
          </a:p>
          <a:p xmlns:a="http://schemas.openxmlformats.org/drawingml/2006/main">
            <a:r>
              <a:t/>
            </a:r>
          </a:p>
          <a:p xmlns:a="http://schemas.openxmlformats.org/drawingml/2006/main">
            <a:r>
              <a:t>Manbalar:</a:t>
            </a:r>
          </a:p>
          <a:p xmlns:a="http://schemas.openxmlformats.org/drawingml/2006/main">
            <a:r>
              <a:t>https://stat.uz/en/press-center/news-of-committee/63870-zbekistonda-khususij-shifokhonalar-soni-k-pajmo-da-4</a:t>
            </a:r>
          </a:p>
          <a:p xmlns:a="http://schemas.openxmlformats.org/drawingml/2006/main">
            <a:r>
              <a:t>work/pitch/business.md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Nutq vaqti: 30 soniya.</a:t>
            </a:r>
          </a:p>
          <a:p xmlns:a="http://schemas.openxmlformats.org/drawingml/2006/main">
            <a:r>
              <a:t/>
            </a:r>
          </a:p>
          <a:p xmlns:a="http://schemas.openxmlformats.org/drawingml/2006/main">
            <a:r>
              <a:t>Bemorni yaratishda faqat ism-familiya majburiy. Dastur avtomatik kod beradi. Shifokor subyektiv, obyektiv, laborator va instrumental ma’lumotlarni qo‘lda kiritadi yoki hujjat yuklaydi. Keyin o‘z tashxisi va davolash rejasini yozadi. AI tasdiqlangan ma’lumotlar bilan solishtiradi, natijani esa manbaga qaytib tekshirish mumkin. Interfeys o‘zbek, rus va ingliz tillarida ishlaydi.</a:t>
            </a:r>
          </a:p>
          <a:p xmlns:a="http://schemas.openxmlformats.org/drawingml/2006/main">
            <a:r>
              <a:t/>
            </a:r>
          </a:p>
          <a:p xmlns:a="http://schemas.openxmlformats.org/drawingml/2006/main">
            <a:r>
              <a:t>Qo‘shimcha izoh:</a:t>
            </a:r>
          </a:p>
          <a:p xmlns:a="http://schemas.openxmlformats.org/drawingml/2006/main">
            <a:r>
              <a:t>Haqiqiy ilova skrinshoti, alohida sintetik bemor bazasi. Hujjatdan olingan ma’lumotni foydalanuvchi tekshiradi. DMED hozir demo, haqiqiy sinxronlash yo‘q. Skrinshot rus tilidagi saqlangan demo bilan uyg‘un.</a:t>
            </a:r>
          </a:p>
          <a:p xmlns:a="http://schemas.openxmlformats.org/drawingml/2006/main">
            <a:r>
              <a:t/>
            </a:r>
          </a:p>
          <a:p xmlns:a="http://schemas.openxmlformats.org/drawingml/2006/main">
            <a:r>
              <a:t>Manbalar:</a:t>
            </a:r>
          </a:p>
          <a:p xmlns:a="http://schemas.openxmlformats.org/drawingml/2006/main">
            <a:r>
              <a:t>docs/WORKSPACE_GUIDE_UZ.md</a:t>
            </a:r>
          </a:p>
          <a:p xmlns:a="http://schemas.openxmlformats.org/drawingml/2006/main">
            <a:r>
              <a:t>docs/PATIENT_REGISTRATION.md</a:t>
            </a:r>
          </a:p>
          <a:p xmlns:a="http://schemas.openxmlformats.org/drawingml/2006/main">
            <a:r>
              <a:t>work/pitch/assets/screenshots-manifest.json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Nutq vaqti: 25 soniya.</a:t>
            </a:r>
          </a:p>
          <a:p xmlns:a="http://schemas.openxmlformats.org/drawingml/2006/main">
            <a:r>
              <a:t/>
            </a:r>
          </a:p>
          <a:p xmlns:a="http://schemas.openxmlformats.org/drawingml/2006/main">
            <a:r>
              <a:t>Lokal MedGemma 4B tashxis va davolash rejasini alohida ko‘rib chiqadi. Sonlar va dalil havolalarini dastur tekshiradi. Ma’lumot yetmasa, bu ochiq ko‘rsatiladi. Ekrandagi javob haqiqiy modeldan olingan. Model hali mazmuniy xato qilishi mumkin, shuning uchun yakuniy qaror shifokorda qoladi.</a:t>
            </a:r>
          </a:p>
          <a:p xmlns:a="http://schemas.openxmlformats.org/drawingml/2006/main">
            <a:r>
              <a:t/>
            </a:r>
          </a:p>
          <a:p xmlns:a="http://schemas.openxmlformats.org/drawingml/2006/main">
            <a:r>
              <a:t>Qo‘shimcha izoh:</a:t>
            </a:r>
          </a:p>
          <a:p xmlns:a="http://schemas.openxmlformats.org/drawingml/2006/main">
            <a:r>
              <a:t>Sinov patient-comparison-1.6, 68.41s, bir tuzatish. Model manbada bor davolash boshlanish vaqtini qayta so‘ragan. Bu tasvir klinik aniqlikni isbotlamaydi. Cheklangan son/doza/ref tekshiruvlari barcha xatolarni ushlamaydi.</a:t>
            </a:r>
          </a:p>
          <a:p xmlns:a="http://schemas.openxmlformats.org/drawingml/2006/main">
            <a:r>
              <a:t/>
            </a:r>
          </a:p>
          <a:p xmlns:a="http://schemas.openxmlformats.org/drawingml/2006/main">
            <a:r>
              <a:t>Manbalar:</a:t>
            </a:r>
          </a:p>
          <a:p xmlns:a="http://schemas.openxmlformats.org/drawingml/2006/main">
            <a:r>
              <a:t>work/patient-workspace-live-7746whiy/result.json</a:t>
            </a:r>
          </a:p>
          <a:p xmlns:a="http://schemas.openxmlformats.org/drawingml/2006/main">
            <a:r>
              <a:t>docs/AI_AND_BRAND_UPDATE_UZ.md</a:t>
            </a:r>
          </a:p>
          <a:p xmlns:a="http://schemas.openxmlformats.org/drawingml/2006/main">
            <a:r>
              <a:t>https://huggingface.co/google/medgemma-1.5-4b-it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Nutq vaqti: 25 soniya.</a:t>
            </a:r>
          </a:p>
          <a:p xmlns:a="http://schemas.openxmlformats.org/drawingml/2006/main">
            <a:r>
              <a:t/>
            </a:r>
          </a:p>
          <a:p xmlns:a="http://schemas.openxmlformats.org/drawingml/2006/main">
            <a:r>
              <a:t>Radiologiya oynasida DICOM ZIP ochiladi. Shifokor seriya, kesim va ko‘rish oynasini tanlab, radiolog xulosasini kiritadi. AI tanlangan kadrlarni tahlil qiladi va qamrovini ko‘rsatadi. Bu sintetik sinovda o‘n ikki kadrdan to‘rttasi ko‘rildi. Natijadagi havola asl kadrni ochadi. Hozircha bu to‘liq uch o‘lchamli skan emas.</a:t>
            </a:r>
          </a:p>
          <a:p xmlns:a="http://schemas.openxmlformats.org/drawingml/2006/main">
            <a:r>
              <a:t/>
            </a:r>
          </a:p>
          <a:p xmlns:a="http://schemas.openxmlformats.org/drawingml/2006/main">
            <a:r>
              <a:t>Qo‘shimcha izoh:</a:t>
            </a:r>
          </a:p>
          <a:p xmlns:a="http://schemas.openxmlformats.org/drawingml/2006/main">
            <a:r>
              <a:t>Tasvir geometrik fantom bo‘lib, bemor anatomiyasi emas. Haqiqiy MedGemma so‘rovi 4 tasvirni 97 soniyada ko‘rdi. Namuna rejimi jami ko‘pi bilan 4 kadrni oladi. CT/MR/MSCT viewer qamrovi klinik validatsiya degani emas. Qamrov butun hajm uchun xulosa berishga yetmaydi.</a:t>
            </a:r>
          </a:p>
          <a:p xmlns:a="http://schemas.openxmlformats.org/drawingml/2006/main">
            <a:r>
              <a:t/>
            </a:r>
          </a:p>
          <a:p xmlns:a="http://schemas.openxmlformats.org/drawingml/2006/main">
            <a:r>
              <a:t>Manbalar:</a:t>
            </a:r>
          </a:p>
          <a:p xmlns:a="http://schemas.openxmlformats.org/drawingml/2006/main">
            <a:r>
              <a:t>work/radiology-sample-live-ocmk25pv/result.json</a:t>
            </a:r>
          </a:p>
          <a:p xmlns:a="http://schemas.openxmlformats.org/drawingml/2006/main">
            <a:r>
              <a:t>backend/app/radiology.py</a:t>
            </a:r>
          </a:p>
          <a:p xmlns:a="http://schemas.openxmlformats.org/drawingml/2006/main">
            <a:r>
              <a:t>work/pitch/assets/screenshots-manifest.json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Nutq vaqti: 20 soniya.</a:t>
            </a:r>
          </a:p>
          <a:p xmlns:a="http://schemas.openxmlformats.org/drawingml/2006/main">
            <a:r>
              <a:t/>
            </a:r>
          </a:p>
          <a:p xmlns:a="http://schemas.openxmlformats.org/drawingml/2006/main">
            <a:r>
              <a:t>Biznes modelimiz oylik obuna. Bir shifokor uchun 150 ming so‘m, o‘n shifokorli klinika uchun bir million 390 ming, yigirma besh shifokor uchun ikki million 390 ming so‘m. Katta klinikalar bilan individual kelishamiz. Chek yuklash va developer tasdig‘idan keyin kirish ochilishi loyihada ishlaydi.</a:t>
            </a:r>
          </a:p>
          <a:p xmlns:a="http://schemas.openxmlformats.org/drawingml/2006/main">
            <a:r>
              <a:t/>
            </a:r>
          </a:p>
          <a:p xmlns:a="http://schemas.openxmlformats.org/drawingml/2006/main">
            <a:r>
              <a:t>Qo‘shimcha izoh:</a:t>
            </a:r>
          </a:p>
          <a:p xmlns:a="http://schemas.openxmlformats.org/drawingml/2006/main">
            <a:r>
              <a:t>Narxlar foydalanuvchi talabi va billing.py katalogi bilan tekshirildi. Bir kalendar oy. Bank to‘lovi qo‘lda tekshiriladi, avtomatik ekvayring emas. Klinika limiti doctor/radiologist/expert o‘rinlarini qamraydi. Karta rekvizitlari pitchga chiqarilmadi.</a:t>
            </a:r>
          </a:p>
          <a:p xmlns:a="http://schemas.openxmlformats.org/drawingml/2006/main">
            <a:r>
              <a:t/>
            </a:r>
          </a:p>
          <a:p xmlns:a="http://schemas.openxmlformats.org/drawingml/2006/main">
            <a:r>
              <a:t>Manbalar:</a:t>
            </a:r>
          </a:p>
          <a:p xmlns:a="http://schemas.openxmlformats.org/drawingml/2006/main">
            <a:r>
              <a:t>backend/app/billing.py</a:t>
            </a:r>
          </a:p>
          <a:p xmlns:a="http://schemas.openxmlformats.org/drawingml/2006/main">
            <a:r>
              <a:t>docs/SUBSCRIPTION_GUIDE_UZ.md</a:t>
            </a:r>
          </a:p>
          <a:p xmlns:a="http://schemas.openxmlformats.org/drawingml/2006/main">
            <a:r>
              <a:t>docs/BILLING_API.md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Nutq vaqti: 15 soniya.</a:t>
            </a:r>
          </a:p>
          <a:p xmlns:a="http://schemas.openxmlformats.org/drawingml/2006/main">
            <a:r>
              <a:t/>
            </a:r>
          </a:p>
          <a:p xmlns:a="http://schemas.openxmlformats.org/drawingml/2006/main">
            <a:r>
              <a:t>Ushbu chart savdo natijasi emas, obuna hisobining uch ssenariysi. Masalan, yuzta individual va o‘ttizta klinika obunasi oyiga 66,7 million so‘m tushum beradi. Foyda hisoblash xarajati va foydalanish yuklamasiga bog‘liq. Bu ko‘rsatkichlarni pilotda o‘lchaymiz.</a:t>
            </a:r>
          </a:p>
          <a:p xmlns:a="http://schemas.openxmlformats.org/drawingml/2006/main">
            <a:r>
              <a:t/>
            </a:r>
          </a:p>
          <a:p xmlns:a="http://schemas.openxmlformats.org/drawingml/2006/main">
            <a:r>
              <a:t>Qo‘shimcha izoh:</a:t>
            </a:r>
          </a:p>
          <a:p xmlns:a="http://schemas.openxmlformats.org/drawingml/2006/main">
            <a:r>
              <a:t>X o‘qi ssenariylarni bildiradi, oylarni emas. Formula: 150 000 × Doctor + 1 390 000 × Clinic 10 + 2 390 000 × Clinic 25. Chegirma, churn, qaytarish va soliqlar kiritilmagan. Xarajat sezgirligi 13-slaydda. Bu haqiqiy tushum ham, sotuv prognozi ham emas.</a:t>
            </a:r>
          </a:p>
          <a:p xmlns:a="http://schemas.openxmlformats.org/drawingml/2006/main">
            <a:r>
              <a:t/>
            </a:r>
          </a:p>
          <a:p xmlns:a="http://schemas.openxmlformats.org/drawingml/2006/main">
            <a:r>
              <a:t>Manbalar:</a:t>
            </a:r>
          </a:p>
          <a:p xmlns:a="http://schemas.openxmlformats.org/drawingml/2006/main">
            <a:r>
              <a:t>work/pitch/business-data.json</a:t>
            </a:r>
          </a:p>
          <a:p xmlns:a="http://schemas.openxmlformats.org/drawingml/2006/main">
            <a:r>
              <a:t>work/pitch/business.md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Nutq vaqti: 20 soniya.</a:t>
            </a:r>
          </a:p>
          <a:p xmlns:a="http://schemas.openxmlformats.org/drawingml/2006/main">
            <a:r>
              <a:t/>
            </a:r>
          </a:p>
          <a:p xmlns:a="http://schemas.openxmlformats.org/drawingml/2006/main">
            <a:r>
              <a:t>Keyingi to‘qson kunda muammoni intervyular bilan tekshiramiz, ikki klinikada o‘n shifokor bilan nazoratli pilotni taklif qilamiz. Maqsad ikki yuzta shaxssizlantirilgan retrospektiv holat. Tayyorlash vaqti, ekspert topgan xatolar va tahlil tannarxini o‘lchaymiz. Tegishli tekshiruvlardan keyin pullik obuna va yangilanishni sinaymiz.</a:t>
            </a:r>
          </a:p>
          <a:p xmlns:a="http://schemas.openxmlformats.org/drawingml/2006/main">
            <a:r>
              <a:t/>
            </a:r>
          </a:p>
          <a:p xmlns:a="http://schemas.openxmlformats.org/drawingml/2006/main">
            <a:r>
              <a:t>Qo‘shimcha izoh:</a:t>
            </a:r>
          </a:p>
          <a:p xmlns:a="http://schemas.openxmlformats.org/drawingml/2006/main">
            <a:r>
              <a:t>Barchasi taklif etilgan reja. Klinikalar bilan kelishuv, klinik sertifikat yoki bajarilgan 200 holat mavjud deb talqin qilinmasin. 200 holat dastlabki ish jarayoni piloti hajmi bo‘lib, umumiy klinik aniqlik isboti emas. Retrospektiv ma’lumotga ruxsat va shaxssizlantirish zarur.</a:t>
            </a:r>
          </a:p>
          <a:p xmlns:a="http://schemas.openxmlformats.org/drawingml/2006/main">
            <a:r>
              <a:t/>
            </a:r>
          </a:p>
          <a:p xmlns:a="http://schemas.openxmlformats.org/drawingml/2006/main">
            <a:r>
              <a:t>Manbalar:</a:t>
            </a:r>
          </a:p>
          <a:p xmlns:a="http://schemas.openxmlformats.org/drawingml/2006/main">
            <a:r>
              <a:t>work/pitch/business.md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Nutq vaqti: 15 soniya.</a:t>
            </a:r>
          </a:p>
          <a:p xmlns:a="http://schemas.openxmlformats.org/drawingml/2006/main">
            <a:r>
              <a:t/>
            </a:r>
          </a:p>
          <a:p xmlns:a="http://schemas.openxmlformats.org/drawingml/2006/main">
            <a:r>
              <a:t>Bizda ishlaydigan prototip va aniq obuna modeli bor. Endi uni mustaqil baholash uchun ikki pilot klinika, klinik ekspertlar va hisoblash hamkorini izlaymiz. AniqTashxis AI shifokorga qarorining dalillarini ko‘rishga yordam beradi. Rahmat.</a:t>
            </a:r>
          </a:p>
          <a:p xmlns:a="http://schemas.openxmlformats.org/drawingml/2006/main">
            <a:r>
              <a:t/>
            </a:r>
          </a:p>
          <a:p xmlns:a="http://schemas.openxmlformats.org/drawingml/2006/main">
            <a:r>
              <a:t>Qo‘shimcha izoh:</a:t>
            </a:r>
          </a:p>
          <a:p xmlns:a="http://schemas.openxmlformats.org/drawingml/2006/main">
            <a:r>
              <a:t>Asosiy 3 daqiqalik nutq shu slaydda tugaydi. Keyingi slaydlarni faqat hakam savoli bo‘lsa oching. Haqiqiy hamkor, tushum yoki investitsiya mavjudligi da’vo qilinmaydi.</a:t>
            </a:r>
          </a:p>
          <a:p xmlns:a="http://schemas.openxmlformats.org/drawingml/2006/main">
            <a:r>
              <a:t/>
            </a:r>
          </a:p>
          <a:p xmlns:a="http://schemas.openxmlformats.org/drawingml/2006/main">
            <a:r>
              <a:t>Manbalar:</a:t>
            </a:r>
          </a:p>
          <a:p xmlns:a="http://schemas.openxmlformats.org/drawingml/2006/main">
            <a:r>
              <a:t>Foydalanuvchi bergan Telegram: https://t.me/avilab_uz_support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Qo‘shimcha izoh:</a:t>
            </a:r>
          </a:p>
          <a:p xmlns:a="http://schemas.openxmlformats.org/drawingml/2006/main">
            <a:r>
              <a:t>Jadval implementatsiya qamrovini bildiradi, mustaqil klinik foyda isboti emas. AI natijalari tahlil bajarilgan tilda saqlanadi. DMED o‘z profilidan sinxronlash va avtomatik bank tasdig‘i hozir mavjud emas.</a:t>
            </a:r>
          </a:p>
          <a:p xmlns:a="http://schemas.openxmlformats.org/drawingml/2006/main">
            <a:r>
              <a:t/>
            </a:r>
          </a:p>
          <a:p xmlns:a="http://schemas.openxmlformats.org/drawingml/2006/main">
            <a:r>
              <a:t>Manbalar:</a:t>
            </a:r>
          </a:p>
          <a:p xmlns:a="http://schemas.openxmlformats.org/drawingml/2006/main">
            <a:r>
              <a:t>docs/WORKSPACE_GUIDE_UZ.md</a:t>
            </a:r>
          </a:p>
          <a:p xmlns:a="http://schemas.openxmlformats.org/drawingml/2006/main">
            <a:r>
              <a:t>docs/LOCALIZATION.md</a:t>
            </a:r>
          </a:p>
          <a:p xmlns:a="http://schemas.openxmlformats.org/drawingml/2006/main">
            <a:r>
              <a:t>docs/SUBSCRIPTION_GUIDE_UZ.md</a:t>
            </a:r>
          </a:p>
          <a:p xmlns:a="http://schemas.openxmlformats.org/drawingml/2006/main">
            <a:r>
              <a:t>backend/app/radiology.py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Qo‘shimcha izoh:</a:t>
            </a:r>
          </a:p>
          <a:p xmlns:a="http://schemas.openxmlformats.org/drawingml/2006/main">
            <a:r>
              <a:t>Mahalliy model inferens uchun tashqi pullik model API xizmatini talab qilmaydi. Hosting, GPU va zaxira nusxa xarajatlari qoladi. Hozirgi demo bazasi SQLite. Klinikaga xos ruxsatlar serverda tekshiriladi. Mahalliy inferensning o‘zi maxfiylik talablarining barchasini bajarmaydi. Model yangidan o‘qitilmagan, mavjud MedGemma vaznlari ishlatilgan.</a:t>
            </a:r>
          </a:p>
          <a:p xmlns:a="http://schemas.openxmlformats.org/drawingml/2006/main">
            <a:r>
              <a:t/>
            </a:r>
          </a:p>
          <a:p xmlns:a="http://schemas.openxmlformats.org/drawingml/2006/main">
            <a:r>
              <a:t>Manbalar:</a:t>
            </a:r>
          </a:p>
          <a:p xmlns:a="http://schemas.openxmlformats.org/drawingml/2006/main">
            <a:r>
              <a:t>docs/ARCHITECTURE.md</a:t>
            </a:r>
          </a:p>
          <a:p xmlns:a="http://schemas.openxmlformats.org/drawingml/2006/main">
            <a:r>
              <a:t>frontend/package.json</a:t>
            </a:r>
          </a:p>
          <a:p xmlns:a="http://schemas.openxmlformats.org/drawingml/2006/main">
            <a:r>
              <a:t>backend/app/main.py</a:t>
            </a:r>
          </a:p>
          <a:p xmlns:a="http://schemas.openxmlformats.org/drawingml/2006/main">
            <a:r>
              <a:t>backend/app/llama_adapter.py</a:t>
            </a:r>
          </a:p>
          <a:p xmlns:a="http://schemas.openxmlformats.org/drawingml/2006/main">
            <a:r>
              <a:t>backend/app/security.py</a:t>
            </a:r>
          </a:p>
          <a:p xmlns:a="http://schemas.openxmlformats.org/drawingml/2006/main">
            <a:r>
              <a:t>https://huggingface.co/google/medgemma-1.5-4b-it</a:t>
            </a:r>
          </a:p>
          <a:p xmlns:a="http://schemas.openxmlformats.org/drawingml/2006/main">
            <a:r>
              <a:t>https://github.com/lucide-icons/lucide/blob/main/LICENSE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Qo‘shimcha izoh:</a:t>
            </a:r>
          </a:p>
          <a:p xmlns:a="http://schemas.openxmlformats.org/drawingml/2006/main">
            <a:r>
              <a:t>1 390 000 / 10 = 139 000 va 2 390 000 / 25 = 95 600. O‘rinlar to‘liq band bo‘lishi hisob farazi bo‘lib, faol foydalanish fakti emas. Shifokor vaqti tejalgani yoki ROI hali o‘lchanmagan. Sotuv kanallari taklif bo‘lib, amaldagi mijozlar borligini bildirmaydi. To‘lov hozir qo‘lda tasdiqlanadi.</a:t>
            </a:r>
          </a:p>
          <a:p xmlns:a="http://schemas.openxmlformats.org/drawingml/2006/main">
            <a:r>
              <a:t/>
            </a:r>
          </a:p>
          <a:p xmlns:a="http://schemas.openxmlformats.org/drawingml/2006/main">
            <a:r>
              <a:t>Manbalar:</a:t>
            </a:r>
          </a:p>
          <a:p xmlns:a="http://schemas.openxmlformats.org/drawingml/2006/main">
            <a:r>
              <a:t>work/pitch/business.md</a:t>
            </a:r>
          </a:p>
          <a:p xmlns:a="http://schemas.openxmlformats.org/drawingml/2006/main">
            <a:r>
              <a:t>backend/app/billing.py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Qo‘shimcha izoh:</a:t>
            </a:r>
          </a:p>
          <a:p xmlns:a="http://schemas.openxmlformats.org/drawingml/2006/main">
            <a:r>
              <a:t>Bu faraziy hisob, haqiqiy xarajat yoki prognoz emas. Baza MRR: 66,7 mln so‘m. 550 o‘rindan 60% = 330 faol shifokor. Har biriga 40 tahlil = 13 200 tahlil/oy. Saqlash va backup: 3,3 mln. Bank xarajati farazi: 1%, ya’ni 667 ming. Doimiy budjet: 25 mln, shundan muhandislik 16 mln, yordam 4 mln, savdo/ma’muriyat 4 mln va boshqa infratuzilma 1 mln. AI birligi: 200 / 500 / 1 500 / 3 500 so‘m. Qoldiq: 35,093 / 31,133 / 17,933 / −8,467 mln so‘m. Soliq, ish beruvchi to‘lovlari, apparat xaridi, klinik baholash, huquqiy va xavfsizlik ekspertizasi, qaytarishlar hamda ayrim bir martalik xarajatlar kiritilmagan. Bu sof foyda emas. Kadrlar va qayta urinishlar hisoblash sarfini o‘zgartiradi.</a:t>
            </a:r>
          </a:p>
          <a:p xmlns:a="http://schemas.openxmlformats.org/drawingml/2006/main">
            <a:r>
              <a:t/>
            </a:r>
          </a:p>
          <a:p xmlns:a="http://schemas.openxmlformats.org/drawingml/2006/main">
            <a:r>
              <a:t>Manbalar:</a:t>
            </a:r>
          </a:p>
          <a:p xmlns:a="http://schemas.openxmlformats.org/drawingml/2006/main">
            <a:r>
              <a:t>work/pitch/business-data.json</a:t>
            </a:r>
          </a:p>
          <a:p xmlns:a="http://schemas.openxmlformats.org/drawingml/2006/main">
            <a:r>
              <a:t>work/pitch/business.md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Qo‘shimcha izoh:</a:t>
            </a:r>
          </a:p>
          <a:p xmlns:a="http://schemas.openxmlformats.org/drawingml/2006/main">
            <a:r>
              <a:t>Haqiqiy klinik sinov patient-comparison-1.6 versiyasida bajarilgan. Javob 5 mg dozani saqladi, biroq manbada 2022-yildan boshlangan deb yozilgan davolash vaqtini qayta so‘radi. Bu modelning mazmuniy xatosi. Besh yillik istiqbol shartli kuzatuv ssenariylari bo‘lib, individual kasallik ehtimoli emas. Radiologiyada tanlangan kadrlar butun tekshiruv normal ekanini tasdiqlamaydi.</a:t>
            </a:r>
          </a:p>
          <a:p xmlns:a="http://schemas.openxmlformats.org/drawingml/2006/main">
            <a:r>
              <a:t/>
            </a:r>
          </a:p>
          <a:p xmlns:a="http://schemas.openxmlformats.org/drawingml/2006/main">
            <a:r>
              <a:t>Manbalar:</a:t>
            </a:r>
          </a:p>
          <a:p xmlns:a="http://schemas.openxmlformats.org/drawingml/2006/main">
            <a:r>
              <a:t>work/patient-workspace-live-7746whiy/result.json</a:t>
            </a:r>
          </a:p>
          <a:p xmlns:a="http://schemas.openxmlformats.org/drawingml/2006/main">
            <a:r>
              <a:t>https://huggingface.co/google/medgemma-1.5-4b-it</a:t>
            </a:r>
          </a:p>
          <a:p xmlns:a="http://schemas.openxmlformats.org/drawingml/2006/main">
            <a:r>
              <a:t>docs/AI_AND_BRAND_UPDATE_UZ.md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Qo‘shimcha izoh:</a:t>
            </a:r>
          </a:p>
          <a:p xmlns:a="http://schemas.openxmlformats.org/drawingml/2006/main">
            <a:r>
              <a:t>Bu baholash rejasi, o‘lchangan natija emas. Vakillik qiluvchi holatlar, ajratilgan baholash to‘plami, mustaqil klinik etalonlar va oldindan belgilangan ko‘rsatkichlar zarur. AI bilan shifokorning mos kelishi diagnostik aniqlikning o‘zi emas. Real foydalanishda ma’lumot maxfiyligi va tegishli talablar mutaxassis bilan tekshiriladi.</a:t>
            </a:r>
          </a:p>
          <a:p xmlns:a="http://schemas.openxmlformats.org/drawingml/2006/main">
            <a:r>
              <a:t/>
            </a:r>
          </a:p>
          <a:p xmlns:a="http://schemas.openxmlformats.org/drawingml/2006/main">
            <a:r>
              <a:t>Manbalar:</a:t>
            </a:r>
          </a:p>
          <a:p xmlns:a="http://schemas.openxmlformats.org/drawingml/2006/main">
            <a:r>
              <a:t>https://huggingface.co/google/medgemma-1.5-4b-it</a:t>
            </a:r>
          </a:p>
          <a:p xmlns:a="http://schemas.openxmlformats.org/drawingml/2006/main">
            <a:r>
              <a:t>work/pitch/business.md</a:t>
            </a:r>
          </a:p>
          <a:p xmlns:a="http://schemas.openxmlformats.org/drawingml/2006/main">
            <a:r>
              <a:t>docs/AI_AND_BRAND_UPDATE_UZ.md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Qo‘shimcha izoh:</a:t>
            </a:r>
          </a:p>
          <a:p xmlns:a="http://schemas.openxmlformats.org/drawingml/2006/main">
            <a:r>
              <a:t>Sinovlar 2026-09-18 kuni bajarilgan. Backendning 245 testli to‘liq paketi oxirgi doza tekshiruvidan oldin o‘tdi. Oxirgi tuzatishdan keyin 49 ta maqsadli klinik test o‘tdi. Bu sonlar qo‘shilmaydi. Frontend: 10 faylda 60 test. Brauzerning 7 maqsadli ssenariysi alohida bajarildi: tasvir 1, hisobot 1, lokalizatsiya 3, bemor ish maydoni 2. Production build o‘tdi. 68,41 va 97 soniya bitta qurilmadagi alohida sintetik sinovlar bo‘lib, SLA yoki p50/p95 emas. UI 1440, 390 va 320 px kengliklarda tekshirildi. Batafsil dalillar work/pitch/evidence.md faylida.</a:t>
            </a:r>
          </a:p>
          <a:p xmlns:a="http://schemas.openxmlformats.org/drawingml/2006/main">
            <a:r>
              <a:t/>
            </a:r>
          </a:p>
          <a:p xmlns:a="http://schemas.openxmlformats.org/drawingml/2006/main">
            <a:r>
              <a:t>Manbalar:</a:t>
            </a:r>
          </a:p>
          <a:p xmlns:a="http://schemas.openxmlformats.org/drawingml/2006/main">
            <a:r>
              <a:t>docs/AI_AND_BRAND_UPDATE_UZ.md</a:t>
            </a:r>
          </a:p>
          <a:p xmlns:a="http://schemas.openxmlformats.org/drawingml/2006/main">
            <a:r>
              <a:t>work/patient-workspace-live-7746whiy/result.json</a:t>
            </a:r>
          </a:p>
          <a:p xmlns:a="http://schemas.openxmlformats.org/drawingml/2006/main">
            <a:r>
              <a:t>work/radiology-sample-live-ocmk25pv/result.json</a:t>
            </a:r>
          </a:p>
          <a:p xmlns:a="http://schemas.openxmlformats.org/drawingml/2006/main">
            <a:r>
              <a:t>work/brand-ai-ui-qa/result.json</a:t>
            </a:r>
          </a:p>
          <a:p xmlns:a="http://schemas.openxmlformats.org/drawingml/2006/main">
            <a:r>
              <a:t>work/brand-seo-production-final.json</a:t>
            </a:r>
          </a:p>
          <a:p xmlns:a="http://schemas.openxmlformats.org/drawingml/2006/main">
            <a:r>
              <a:t>work/pitch/evidence.md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Qo‘shimcha izoh:</a:t>
            </a:r>
          </a:p>
          <a:p xmlns:a="http://schemas.openxmlformats.org/drawingml/2006/main">
            <a:r>
              <a:t>HAI-DEF modeli open-weight. Modelning o‘zini Apache 2.0 deb atash to‘g‘ri emas. Google FAQ tijorat mahsuloti yaratishga ruxsat berishini aytadi, biroq Terms of Use va Prohibited Use Policy tatbiq etiladi. Web/API orqali taqdim etish ham shartlardagi distribution ta’rifiga kiradi. Klinik foydalanish va tegishli ruxsatlar alohida baholanadi. Bu huquqiy xulosa emas. Mahalliy inferensdan tashqari kirish huquqlari, fayl saqlash, backup, hosting va ma’lumotga ruxsat ham nazorat talab qiladi.</a:t>
            </a:r>
          </a:p>
          <a:p xmlns:a="http://schemas.openxmlformats.org/drawingml/2006/main">
            <a:r>
              <a:t/>
            </a:r>
          </a:p>
          <a:p xmlns:a="http://schemas.openxmlformats.org/drawingml/2006/main">
            <a:r>
              <a:t>Manbalar:</a:t>
            </a:r>
          </a:p>
          <a:p xmlns:a="http://schemas.openxmlformats.org/drawingml/2006/main">
            <a:r>
              <a:t>https://developers.google.com/health-ai-developer-foundations/faqs</a:t>
            </a:r>
          </a:p>
          <a:p xmlns:a="http://schemas.openxmlformats.org/drawingml/2006/main">
            <a:r>
              <a:t>https://developers.google.com/health-ai-developer-foundations/terms</a:t>
            </a:r>
          </a:p>
          <a:p xmlns:a="http://schemas.openxmlformats.org/drawingml/2006/main">
            <a:r>
              <a:t>https://huggingface.co/google/medgemma-1.5-4b-it</a:t>
            </a:r>
          </a:p>
          <a:p xmlns:a="http://schemas.openxmlformats.org/drawingml/2006/main">
            <a:r>
              <a:t>work/pitch/business.md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Qo‘shimcha izoh:</a:t>
            </a:r>
          </a:p>
          <a:p xmlns:a="http://schemas.openxmlformats.org/drawingml/2006/main">
            <a:r>
              <a:t>Muqova AI yaratgan abstrakt brend illustratsiyasi, tibbiy dalil emas. Skrinshotlar faqat nusxalangan sintetik bazalardan olingan. Lucide ikonkalari ISC litsenziyasida, litsenziya assets/LUCIDE-LICENSE.txt faylida. Asl loyiha logosi saqlangan. Moliyaviy ssenariylarning aniq qiymatlari business-data.json faylida. Tashqi manbalar 2026-09-19 kuni tekshirildi.</a:t>
            </a:r>
          </a:p>
          <a:p xmlns:a="http://schemas.openxmlformats.org/drawingml/2006/main">
            <a:r>
              <a:t/>
            </a:r>
          </a:p>
          <a:p xmlns:a="http://schemas.openxmlformats.org/drawingml/2006/main">
            <a:r>
              <a:t>Manbalar:</a:t>
            </a:r>
          </a:p>
          <a:p xmlns:a="http://schemas.openxmlformats.org/drawingml/2006/main">
            <a:r>
              <a:t>https://stat.uz/en/press-center/news-of-committee/63870-zbekistonda-khususij-shifokhonalar-soni-k-pajmo-da-4</a:t>
            </a:r>
          </a:p>
          <a:p xmlns:a="http://schemas.openxmlformats.org/drawingml/2006/main">
            <a:r>
              <a:t>https://stat.uz/img/images/healthcare_p40170.pdf</a:t>
            </a:r>
          </a:p>
          <a:p xmlns:a="http://schemas.openxmlformats.org/drawingml/2006/main">
            <a:r>
              <a:t>https://huggingface.co/google/medgemma-1.5-4b-it</a:t>
            </a:r>
          </a:p>
          <a:p xmlns:a="http://schemas.openxmlformats.org/drawingml/2006/main">
            <a:r>
              <a:t>https://developers.google.com/health-ai-developer-foundations/faqs</a:t>
            </a:r>
          </a:p>
          <a:p xmlns:a="http://schemas.openxmlformats.org/drawingml/2006/main">
            <a:r>
              <a:t>https://developers.google.com/health-ai-developer-foundations/terms</a:t>
            </a:r>
          </a:p>
          <a:p xmlns:a="http://schemas.openxmlformats.org/drawingml/2006/main">
            <a:r>
              <a:t>https://github.com/lucide-icons/lucide/blob/main/LICENSE</a:t>
            </a:r>
          </a:p>
          <a:p xmlns:a="http://schemas.openxmlformats.org/drawingml/2006/main">
            <a:r>
              <a:t>docs/AI_AND_BRAND_UPDATE_UZ.md</a:t>
            </a:r>
          </a:p>
          <a:p xmlns:a="http://schemas.openxmlformats.org/drawingml/2006/main">
            <a:r>
              <a:t>docs/WORKSPACE_GUIDE_UZ.md</a:t>
            </a:r>
          </a:p>
          <a:p xmlns:a="http://schemas.openxmlformats.org/drawingml/2006/main">
            <a:r>
              <a:t>work/pitch/business.md</a:t>
            </a:r>
          </a:p>
          <a:p xmlns:a="http://schemas.openxmlformats.org/drawingml/2006/main">
            <a:r>
              <a:t>work/pitch/assets/screenshots-manifest.json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e0eec9e615d4f1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ae619ce86b5401a" /><Relationship Type="http://schemas.openxmlformats.org/officeDocument/2006/relationships/slideLayout" Target="/ppt/slideLayouts/slideLayout1.xml" Id="R1a51f7b3c11a4d6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a51f7b3c11a4d6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5d9ac2e6d0d4650" /><Relationship Type="http://schemas.openxmlformats.org/officeDocument/2006/relationships/image" Target="/ppt/media/image.png" Id="Rdf2adf6efbdf4c14" /><Relationship Type="http://schemas.openxmlformats.org/officeDocument/2006/relationships/image" Target="/ppt/media/image2.png" Id="Ra76831f7eb704989" /><Relationship Type="http://schemas.openxmlformats.org/officeDocument/2006/relationships/notesSlide" Target="/ppt/notesSlides/notesSlide1.xml" Id="R6779b7e756744b3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2c36793cd494757" /><Relationship Type="http://schemas.openxmlformats.org/officeDocument/2006/relationships/image" Target="/ppt/media/image3.png" Id="Re08244e9c9b6419a" /><Relationship Type="http://schemas.openxmlformats.org/officeDocument/2006/relationships/image" Target="/ppt/media/image.svg" Id="Rbcf35cc1468942d6" /><Relationship Type="http://schemas.openxmlformats.org/officeDocument/2006/relationships/notesSlide" Target="/ppt/notesSlides/notesSlide2.xml" Id="Rac1d4f7e291a468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1597ee7df104669" /><Relationship Type="http://schemas.openxmlformats.org/officeDocument/2006/relationships/image" Target="/ppt/media/image4.png" Id="Ra0545338dd4c4ed5" /><Relationship Type="http://schemas.openxmlformats.org/officeDocument/2006/relationships/notesSlide" Target="/ppt/notesSlides/notesSlide3.xml" Id="R1c60fc2a4494488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d97cd6f928743cd" /><Relationship Type="http://schemas.openxmlformats.org/officeDocument/2006/relationships/image" Target="/ppt/media/image5.png" Id="Rd5634eef049f4d42" /><Relationship Type="http://schemas.openxmlformats.org/officeDocument/2006/relationships/notesSlide" Target="/ppt/notesSlides/notesSlide4.xml" Id="Rc3162c437072418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156d55521674f8b" /><Relationship Type="http://schemas.openxmlformats.org/officeDocument/2006/relationships/image" Target="/ppt/media/image6.png" Id="R2fd0a15c7dcb43f4" /><Relationship Type="http://schemas.openxmlformats.org/officeDocument/2006/relationships/notesSlide" Target="/ppt/notesSlides/notesSlide5.xml" Id="R3d42c5e2ae3a455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761ba92d4354bab" /><Relationship Type="http://schemas.openxmlformats.org/officeDocument/2006/relationships/notesSlide" Target="/ppt/notesSlides/notesSlide6.xml" Id="Rf6ff7f965be847f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c12c1dd1235452f" /><Relationship Type="http://schemas.openxmlformats.org/officeDocument/2006/relationships/chart" Target="/ppt/slides/charts/chart1.xml" Id="Re249d0c431984da5" /><Relationship Type="http://schemas.openxmlformats.org/officeDocument/2006/relationships/notesSlide" Target="/ppt/notesSlides/notesSlide7.xml" Id="R6a26242735fe478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2d3a7d5852f4662" /><Relationship Type="http://schemas.openxmlformats.org/officeDocument/2006/relationships/notesSlide" Target="/ppt/notesSlides/notesSlide8.xml" Id="R5c8618bc28334ac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74ba87351db4793" /><Relationship Type="http://schemas.openxmlformats.org/officeDocument/2006/relationships/image" Target="/ppt/media/image7.png" Id="Rc671659b126d4929" /><Relationship Type="http://schemas.openxmlformats.org/officeDocument/2006/relationships/hyperlink" Target="https://t.me/avilab_uz_support" TargetMode="External" Id="R2d14eb80d6504b72" /><Relationship Type="http://schemas.openxmlformats.org/officeDocument/2006/relationships/notesSlide" Target="/ppt/notesSlides/notesSlide9.xml" Id="Rb65f75a86c394a1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3ff0a8693ad46a3" /><Relationship Type="http://schemas.openxmlformats.org/officeDocument/2006/relationships/notesSlide" Target="/ppt/notesSlides/notesSlide10.xml" Id="R0b61079ec53b42b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7b2340dbd7a4777" /><Relationship Type="http://schemas.openxmlformats.org/officeDocument/2006/relationships/image" Target="/ppt/media/image8.png" Id="R7f16028eca0f4c23" /><Relationship Type="http://schemas.openxmlformats.org/officeDocument/2006/relationships/image" Target="/ppt/media/image2.svg" Id="Rb44c6b6b46c54f61" /><Relationship Type="http://schemas.openxmlformats.org/officeDocument/2006/relationships/image" Target="/ppt/media/image9.png" Id="R8a09544ef0fd4522" /><Relationship Type="http://schemas.openxmlformats.org/officeDocument/2006/relationships/image" Target="/ppt/media/image3.svg" Id="Rc8b92b14a2bc490c" /><Relationship Type="http://schemas.openxmlformats.org/officeDocument/2006/relationships/image" Target="/ppt/media/image10.png" Id="R3e617d9ee0a740a4" /><Relationship Type="http://schemas.openxmlformats.org/officeDocument/2006/relationships/image" Target="/ppt/media/image4.svg" Id="R633d51aacd474281" /><Relationship Type="http://schemas.openxmlformats.org/officeDocument/2006/relationships/notesSlide" Target="/ppt/notesSlides/notesSlide11.xml" Id="Rbacba41dcb4b4bb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ab939b46f9e494c" /><Relationship Type="http://schemas.openxmlformats.org/officeDocument/2006/relationships/notesSlide" Target="/ppt/notesSlides/notesSlide12.xml" Id="R40033e950e494cf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031c738bd7c4204" /><Relationship Type="http://schemas.openxmlformats.org/officeDocument/2006/relationships/chart" Target="/ppt/slides/charts/chart2.xml" Id="R89f0aa7990ab497e" /><Relationship Type="http://schemas.openxmlformats.org/officeDocument/2006/relationships/notesSlide" Target="/ppt/notesSlides/notesSlide13.xml" Id="R1cd817271854411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c1e783d90af446a" /><Relationship Type="http://schemas.openxmlformats.org/officeDocument/2006/relationships/image" Target="/ppt/media/image11.png" Id="R423fa267299b4867" /><Relationship Type="http://schemas.openxmlformats.org/officeDocument/2006/relationships/notesSlide" Target="/ppt/notesSlides/notesSlide14.xml" Id="Rfa2af75f2f40418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2e89b8f167e446b" /><Relationship Type="http://schemas.openxmlformats.org/officeDocument/2006/relationships/notesSlide" Target="/ppt/notesSlides/notesSlide15.xml" Id="R7563918ccd1a456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ff5252ecb7f4dd5" /><Relationship Type="http://schemas.openxmlformats.org/officeDocument/2006/relationships/notesSlide" Target="/ppt/notesSlides/notesSlide16.xml" Id="R292cf2b236674bd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39c4b3777b14e88" /><Relationship Type="http://schemas.openxmlformats.org/officeDocument/2006/relationships/notesSlide" Target="/ppt/notesSlides/notesSlide17.xml" Id="Rd7d4e620936843a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3e2552feb4545dd" /><Relationship Type="http://schemas.openxmlformats.org/officeDocument/2006/relationships/notesSlide" Target="/ppt/notesSlides/notesSlide18.xml" Id="R7172c4ed68aa421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Oylik tushum</c:v>
          </c:tx>
          <c:spPr>
            <a:solidFill xmlns:a="http://schemas.openxmlformats.org/drawingml/2006/main">
              <a:srgbClr val="008B8B"/>
            </a:solidFill>
          </c:spPr>
          <c:dPt>
            <c:idx val="0"/>
            <c:invertIfNegative val="0"/>
            <c:spPr>
              <a:solidFill xmlns:a="http://schemas.openxmlformats.org/drawingml/2006/main">
                <a:srgbClr val="AACED0"/>
              </a:solidFill>
            </c:spPr>
          </c:dPt>
          <c:dPt>
            <c:idx val="1"/>
            <c:invertIfNegative val="0"/>
            <c:spPr>
              <a:solidFill xmlns:a="http://schemas.openxmlformats.org/drawingml/2006/main">
                <a:srgbClr val="008B8B"/>
              </a:solidFill>
            </c:spPr>
          </c:dPt>
          <c:dPt>
            <c:idx val="2"/>
            <c:invertIfNegative val="0"/>
            <c:spPr>
              <a:solidFill xmlns:a="http://schemas.openxmlformats.org/drawingml/2006/main">
                <a:srgbClr val="092536"/>
              </a:solidFill>
            </c:spPr>
          </c:dPt>
          <c:cat>
            <c:strRef>
              <c:f>'Chart Data'!$A$2:$A$4</c:f>
              <c:strCache>
                <c:ptCount val="3"/>
                <c:pt idx="0">
                  <c:v>Boshlang‘ich</c:v>
                </c:pt>
                <c:pt idx="1">
                  <c:v>O‘sish</c:v>
                </c:pt>
                <c:pt idx="2">
                  <c:v>Kengayish</c:v>
                </c:pt>
              </c:strCache>
            </c:strRef>
          </c:cat>
          <c:val>
            <c:numRef>
              <c:f>'Chart Data'!$B$2:$B$4</c:f>
              <c:numCache>
                <c:formatCode>0.##</c:formatCode>
                <c:ptCount val="3"/>
                <c:pt idx="0">
                  <c:v>9.56</c:v>
                </c:pt>
                <c:pt idx="1">
                  <c:v>66.7</c:v>
                </c:pt>
                <c:pt idx="2">
                  <c:v>200.1</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092536"/>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E2E4"/>
            </a:solidFill>
          </a:ln>
        </c:spPr>
        <c:txPr>
          <a:bodyPr xmlns:a="http://schemas.openxmlformats.org/drawingml/2006/main" anchorCtr="1"/>
          <a:lstStyle xmlns:a="http://schemas.openxmlformats.org/drawingml/2006/main"/>
          <a:p xmlns:a="http://schemas.openxmlformats.org/drawingml/2006/main">
            <a:pPr>
              <a:defRPr sz="1575">
                <a:solidFill>
                  <a:srgbClr val="15394B"/>
                </a:solidFill>
                <a:latin typeface="Arial"/>
                <a:ea typeface="Arial"/>
                <a:cs typeface="Arial"/>
              </a:defRPr>
            </a:pPr>
          </a:p>
        </c:txPr>
        <c:crossAx val="48672768"/>
      </c:catAx>
      <c:valAx>
        <c:axId val="48672768"/>
        <c:scaling>
          <c:orientation val="minMax"/>
          <c:max val="240"/>
          <c:min val="0"/>
        </c:scaling>
        <c:delete val="0"/>
        <c:axPos val="l"/>
        <c:majorGridlines>
          <c:spPr>
            <a:ln xmlns:a="http://schemas.openxmlformats.org/drawingml/2006/main" w="9525">
              <a:solidFill>
                <a:srgbClr val="D4E2E4"/>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87582"/>
                </a:solidFill>
                <a:latin typeface="Arial"/>
                <a:ea typeface="Arial"/>
                <a:cs typeface="Arial"/>
              </a:defRPr>
            </a:pPr>
          </a:p>
        </c:txPr>
        <c:crossAx val="48650112"/>
        <c:crossBetween val="between"/>
        <c:majorUnit val="60"/>
      </c:valAx>
      <c:spPr>
        <a:solidFill xmlns:a="http://schemas.openxmlformats.org/drawingml/2006/main">
          <a:srgbClr val="F3F8F7"/>
        </a:solidFill>
      </c:spPr>
    </c:plotArea>
    <c:plotVisOnly val="1"/>
  </c:chart>
  <c:spPr>
    <a:solidFill xmlns:a="http://schemas.openxmlformats.org/drawingml/2006/main">
      <a:srgbClr val="F3F8F7"/>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Shartli qoldiq</c:v>
          </c:tx>
          <c:spPr>
            <a:solidFill xmlns:a="http://schemas.openxmlformats.org/drawingml/2006/main">
              <a:srgbClr val="008B8B"/>
            </a:solidFill>
          </c:spPr>
          <c:invertIfNegative val="0"/>
          <c:dPt>
            <c:idx val="3"/>
            <c:invertIfNegative val="0"/>
            <c:spPr>
              <a:solidFill xmlns:a="http://schemas.openxmlformats.org/drawingml/2006/main">
                <a:srgbClr val="BD5C5C"/>
              </a:solidFill>
            </c:spPr>
          </c:dPt>
          <c:cat>
            <c:strRef>
              <c:f>'Chart Data'!$A$2:$A$5</c:f>
              <c:strCache>
                <c:ptCount val="4"/>
                <c:pt idx="0">
                  <c:v>200</c:v>
                </c:pt>
                <c:pt idx="1">
                  <c:v>500</c:v>
                </c:pt>
                <c:pt idx="2">
                  <c:v>1 500</c:v>
                </c:pt>
                <c:pt idx="3">
                  <c:v>3 500</c:v>
                </c:pt>
              </c:strCache>
            </c:strRef>
          </c:cat>
          <c:val>
            <c:numRef>
              <c:f>'Chart Data'!$B$2:$B$5</c:f>
              <c:numCache>
                <c:formatCode>0.0</c:formatCode>
                <c:ptCount val="4"/>
                <c:pt idx="0">
                  <c:v>35.093</c:v>
                </c:pt>
                <c:pt idx="1">
                  <c:v>31.133</c:v>
                </c:pt>
                <c:pt idx="2">
                  <c:v>17.933</c:v>
                </c:pt>
                <c:pt idx="3">
                  <c:v>-8.467</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5394B"/>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5394B"/>
                </a:solidFill>
                <a:latin typeface="Arial"/>
                <a:ea typeface="Arial"/>
                <a:cs typeface="Arial"/>
              </a:defRPr>
            </a:pPr>
          </a:p>
        </c:txPr>
        <c:crossAx val="48672768"/>
      </c:catAx>
      <c:valAx>
        <c:axId val="48672768"/>
        <c:scaling>
          <c:orientation val="minMax"/>
          <c:max val="45"/>
          <c:min val="-15"/>
        </c:scaling>
        <c:delete val="0"/>
        <c:axPos val="l"/>
        <c:majorGridlines>
          <c:spPr>
            <a:ln xmlns:a="http://schemas.openxmlformats.org/drawingml/2006/main" w="9525">
              <a:solidFill>
                <a:srgbClr val="D4E2E4"/>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87582"/>
                </a:solidFill>
                <a:latin typeface="Arial"/>
                <a:ea typeface="Arial"/>
                <a:cs typeface="Arial"/>
              </a:defRPr>
            </a:pPr>
          </a:p>
        </c:txPr>
        <c:crossAx val="48650112"/>
        <c:crossBetween val="between"/>
        <c:majorUnit val="15"/>
      </c:valAx>
      <c:spPr>
        <a:solidFill xmlns:a="http://schemas.openxmlformats.org/drawingml/2006/main">
          <a:srgbClr val="F3F8F7"/>
        </a:solidFill>
      </c:spPr>
    </c:plotArea>
    <c:plotVisOnly val="1"/>
  </c:chart>
  <c:spPr>
    <a:solidFill xmlns:a="http://schemas.openxmlformats.org/drawingml/2006/main">
      <a:srgbClr val="F3F8F7"/>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92536"/>
        </a:solidFill>
      </p:bgPr>
    </p:bg>
    <p:spTree>
      <p:nvGrpSpPr>
        <p:cNvPr id="1" name=""/>
        <p:cNvGrpSpPr/>
        <p:nvPr/>
      </p:nvGrpSpPr>
      <p:grpSpPr>
        <a:xfrm xmlns:a="http://schemas.openxmlformats.org/drawingml/2006/main"/>
      </p:grpSpPr>
      <p:sp>
        <p:nvSpPr>
          <p:cNvPr id="9" name="AniqTashxis AI">
            <a:extLst xmlns:a="http://schemas.openxmlformats.org/drawingml/2006/main">
              <a:ext uri="{FF2B5EF4-FFF2-40B4-BE49-F238E27FC236}">
                <a16:creationId xmlns:a16="http://schemas.microsoft.com/office/drawing/2014/main" id="{0CCA4817-68E4-46FE-8880-072975989718}"/>
              </a:ext>
            </a:extLst>
          </p:cNvPr>
          <p:cNvSpPr>
            <a:spLocks xmlns:a="http://schemas.openxmlformats.org/drawingml/2006/main" noGrp="1"/>
          </p:cNvSpPr>
          <p:nvPr/>
        </p:nvSpPr>
        <p:spPr>
          <a:xfrm xmlns:a="http://schemas.openxmlformats.org/drawingml/2006/main">
            <a:off x="571500" y="64674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A6C0CB"/>
                </a:solidFill>
                <a:latin typeface="Arial"/>
                <a:ea typeface="Arial"/>
                <a:cs typeface="Arial"/>
              </a:defRPr>
            </a:pPr>
            <a:r>
              <a:rPr sz="1125" b="0">
                <a:solidFill>
                  <a:srgbClr val="A6C0CB"/>
                </a:solidFill>
                <a:latin typeface="Arial"/>
                <a:ea typeface="Arial"/>
                <a:cs typeface="Arial"/>
              </a:rPr>
              <a:t>AniqTashxis AI</a:t>
            </a:r>
          </a:p>
        </p:txBody>
      </p:sp>
      <p:sp>
        <p:nvSpPr>
          <p:cNvPr id="2" name="01">
            <a:extLst xmlns:a="http://schemas.openxmlformats.org/drawingml/2006/main">
              <a:ext uri="{FF2B5EF4-FFF2-40B4-BE49-F238E27FC236}">
                <a16:creationId xmlns:a16="http://schemas.microsoft.com/office/drawing/2014/main" id="{F127DF52-8A9D-4B34-B0FE-20C53ACA92CC}"/>
              </a:ext>
            </a:extLst>
          </p:cNvPr>
          <p:cNvSpPr>
            <a:spLocks xmlns:a="http://schemas.openxmlformats.org/drawingml/2006/main" noGrp="1"/>
          </p:cNvSpPr>
          <p:nvPr/>
        </p:nvSpPr>
        <p:spPr>
          <a:xfrm xmlns:a="http://schemas.openxmlformats.org/drawingml/2006/main">
            <a:off x="11049000" y="64484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6C0CB"/>
                </a:solidFill>
                <a:latin typeface="Arial"/>
                <a:ea typeface="Arial"/>
                <a:cs typeface="Arial"/>
              </a:defRPr>
            </a:pPr>
            <a:r>
              <a:rPr sz="1200" b="0">
                <a:solidFill>
                  <a:srgbClr val="A6C0CB"/>
                </a:solidFill>
                <a:latin typeface="Arial"/>
                <a:ea typeface="Arial"/>
                <a:cs typeface="Arial"/>
              </a:rPr>
              <a:t>01</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f2adf6efbdf4c1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a76831f7eb704989"/>
          <a:stretch xmlns:a="http://schemas.openxmlformats.org/drawingml/2006/main"/>
        </p:blipFill>
        <p:spPr>
          <a:xfrm xmlns:a="http://schemas.openxmlformats.org/drawingml/2006/main">
            <a:off x="571500" y="552450"/>
            <a:ext cx="666750" cy="666750"/>
          </a:xfrm>
          <a:prstGeom xmlns:a="http://schemas.openxmlformats.org/drawingml/2006/main" prst="rect">
            <a:avLst/>
          </a:prstGeom>
        </p:spPr>
      </p:pic>
      <p:sp>
        <p:nvSpPr>
          <p:cNvPr id="5" name="AVI Lab">
            <a:extLst xmlns:a="http://schemas.openxmlformats.org/drawingml/2006/main">
              <a:ext uri="{FF2B5EF4-FFF2-40B4-BE49-F238E27FC236}">
                <a16:creationId xmlns:a16="http://schemas.microsoft.com/office/drawing/2014/main" id="{A70115F2-31B2-4C5D-898B-F693BB1B3B5B}"/>
              </a:ext>
            </a:extLst>
          </p:cNvPr>
          <p:cNvSpPr>
            <a:spLocks xmlns:a="http://schemas.openxmlformats.org/drawingml/2006/main" noGrp="1"/>
          </p:cNvSpPr>
          <p:nvPr/>
        </p:nvSpPr>
        <p:spPr>
          <a:xfrm xmlns:a="http://schemas.openxmlformats.org/drawingml/2006/main">
            <a:off x="1390650" y="75247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FFFFFF"/>
                </a:solidFill>
                <a:latin typeface="Arial"/>
                <a:ea typeface="Arial"/>
                <a:cs typeface="Arial"/>
              </a:defRPr>
            </a:pPr>
            <a:r>
              <a:rPr sz="1950" b="1">
                <a:solidFill>
                  <a:srgbClr val="FFFFFF"/>
                </a:solidFill>
                <a:latin typeface="Arial"/>
                <a:ea typeface="Arial"/>
                <a:cs typeface="Arial"/>
              </a:rPr>
              <a:t>AVI Lab</a:t>
            </a:r>
          </a:p>
        </p:txBody>
      </p:sp>
      <p:sp>
        <p:nvSpPr>
          <p:cNvPr id="6" name="AniqTashxis&#10;AI">
            <a:extLst xmlns:a="http://schemas.openxmlformats.org/drawingml/2006/main">
              <a:ext uri="{FF2B5EF4-FFF2-40B4-BE49-F238E27FC236}">
                <a16:creationId xmlns:a16="http://schemas.microsoft.com/office/drawing/2014/main" id="{6BE34B46-2A3F-4181-9265-B40B7023BA87}"/>
              </a:ext>
            </a:extLst>
          </p:cNvPr>
          <p:cNvSpPr>
            <a:spLocks xmlns:a="http://schemas.openxmlformats.org/drawingml/2006/main" noGrp="1"/>
          </p:cNvSpPr>
          <p:nvPr/>
        </p:nvSpPr>
        <p:spPr>
          <a:xfrm xmlns:a="http://schemas.openxmlformats.org/drawingml/2006/main">
            <a:off x="571500" y="2209800"/>
            <a:ext cx="59055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550" b="1">
                <a:solidFill>
                  <a:srgbClr val="FFFFFF"/>
                </a:solidFill>
                <a:latin typeface="Arial"/>
                <a:ea typeface="Arial"/>
                <a:cs typeface="Arial"/>
              </a:defRPr>
            </a:pPr>
            <a:r>
              <a:rPr sz="5550" b="1">
                <a:solidFill>
                  <a:srgbClr val="FFFFFF"/>
                </a:solidFill>
                <a:latin typeface="Arial"/>
                <a:ea typeface="Arial"/>
                <a:cs typeface="Arial"/>
              </a:rPr>
              <a:t>AniqTashxis</a:t>
            </a:r>
          </a:p>
          <a:p xmlns:a="http://schemas.openxmlformats.org/drawingml/2006/main">
            <a:pPr algn="l">
              <a:defRPr sz="5550" b="1">
                <a:solidFill>
                  <a:srgbClr val="FFFFFF"/>
                </a:solidFill>
                <a:latin typeface="Arial"/>
                <a:ea typeface="Arial"/>
                <a:cs typeface="Arial"/>
              </a:defRPr>
            </a:pPr>
            <a:r>
              <a:rPr sz="5550" b="1">
                <a:solidFill>
                  <a:srgbClr val="FFFFFF"/>
                </a:solidFill>
                <a:latin typeface="Arial"/>
                <a:ea typeface="Arial"/>
                <a:cs typeface="Arial"/>
              </a:rPr>
              <a:t>AI</a:t>
            </a:r>
          </a:p>
        </p:txBody>
      </p:sp>
      <p:sp>
        <p:nvSpPr>
          <p:cNvPr id="7" name="Shifokor qarori uchun&#10;dalillarga bog‘langan yord">
            <a:extLst xmlns:a="http://schemas.openxmlformats.org/drawingml/2006/main">
              <a:ext uri="{FF2B5EF4-FFF2-40B4-BE49-F238E27FC236}">
                <a16:creationId xmlns:a16="http://schemas.microsoft.com/office/drawing/2014/main" id="{B1BA7946-8E49-41A7-8F04-7315379FBD7E}"/>
              </a:ext>
            </a:extLst>
          </p:cNvPr>
          <p:cNvSpPr>
            <a:spLocks xmlns:a="http://schemas.openxmlformats.org/drawingml/2006/main" noGrp="1"/>
          </p:cNvSpPr>
          <p:nvPr/>
        </p:nvSpPr>
        <p:spPr>
          <a:xfrm xmlns:a="http://schemas.openxmlformats.org/drawingml/2006/main">
            <a:off x="609600" y="4295775"/>
            <a:ext cx="5286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D4E6E9"/>
                </a:solidFill>
                <a:latin typeface="Arial"/>
                <a:ea typeface="Arial"/>
                <a:cs typeface="Arial"/>
              </a:defRPr>
            </a:pPr>
            <a:r>
              <a:rPr sz="2325" b="0">
                <a:solidFill>
                  <a:srgbClr val="D4E6E9"/>
                </a:solidFill>
                <a:latin typeface="Arial"/>
                <a:ea typeface="Arial"/>
                <a:cs typeface="Arial"/>
              </a:rPr>
              <a:t>Shifokor qarori uchun</a:t>
            </a:r>
          </a:p>
          <a:p xmlns:a="http://schemas.openxmlformats.org/drawingml/2006/main">
            <a:pPr algn="l">
              <a:defRPr sz="2325" b="0">
                <a:solidFill>
                  <a:srgbClr val="D4E6E9"/>
                </a:solidFill>
                <a:latin typeface="Arial"/>
                <a:ea typeface="Arial"/>
                <a:cs typeface="Arial"/>
              </a:defRPr>
            </a:pPr>
            <a:r>
              <a:rPr sz="2325" b="0">
                <a:solidFill>
                  <a:srgbClr val="D4E6E9"/>
                </a:solidFill>
                <a:latin typeface="Arial"/>
                <a:ea typeface="Arial"/>
                <a:cs typeface="Arial"/>
              </a:rPr>
              <a:t>dalillarga bog‘langan yordam</a:t>
            </a:r>
          </a:p>
        </p:txBody>
      </p:sp>
      <p:sp>
        <p:nvSpPr>
          <p:cNvPr id="8" name="Hackathon taqdimoti, 19 sentabr 2026">
            <a:extLst xmlns:a="http://schemas.openxmlformats.org/drawingml/2006/main">
              <a:ext uri="{FF2B5EF4-FFF2-40B4-BE49-F238E27FC236}">
                <a16:creationId xmlns:a16="http://schemas.microsoft.com/office/drawing/2014/main" id="{5432DEF5-2343-46EB-9A3E-2CF95CC1A7B7}"/>
              </a:ext>
            </a:extLst>
          </p:cNvPr>
          <p:cNvSpPr>
            <a:spLocks xmlns:a="http://schemas.openxmlformats.org/drawingml/2006/main" noGrp="1"/>
          </p:cNvSpPr>
          <p:nvPr/>
        </p:nvSpPr>
        <p:spPr>
          <a:xfrm xmlns:a="http://schemas.openxmlformats.org/drawingml/2006/main">
            <a:off x="609600" y="6153150"/>
            <a:ext cx="552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A6C0CB"/>
                </a:solidFill>
                <a:latin typeface="Arial"/>
                <a:ea typeface="Arial"/>
                <a:cs typeface="Arial"/>
              </a:defRPr>
            </a:pPr>
            <a:r>
              <a:rPr sz="1350" b="0">
                <a:solidFill>
                  <a:srgbClr val="A6C0CB"/>
                </a:solidFill>
                <a:latin typeface="Arial"/>
                <a:ea typeface="Arial"/>
                <a:cs typeface="Arial"/>
              </a:rPr>
              <a:t>Hackathon taqdimoti, 19 sentabr 2026</a:t>
            </a:r>
          </a:p>
        </p:txBody>
      </p:sp>
    </p:spTree>
    <p:extLst>
      <p:ext uri="{BB962C8B-B14F-4D97-AF65-F5344CB8AC3E}">
        <p14:creationId xmlns:p14="http://schemas.microsoft.com/office/powerpoint/2010/main" val="606294523"/>
      </p:ext>
    </p:extLst>
  </p:cSld>
</p:sld>
</file>

<file path=ppt/slides/slide2.xml><?xml version="1.0" encoding="utf-8"?>
<p:sld xmlns:p="http://schemas.openxmlformats.org/presentationml/2006/main">
  <p:cSld>
    <p:bg>
      <p:bgPr>
        <a:solidFill xmlns:a="http://schemas.openxmlformats.org/drawingml/2006/main">
          <a:srgbClr val="F3F8F7"/>
        </a:solidFill>
      </p:bgPr>
    </p:bg>
    <p:spTree>
      <p:nvGrpSpPr>
        <p:cNvPr id="1" name=""/>
        <p:cNvGrpSpPr/>
        <p:nvPr/>
      </p:nvGrpSpPr>
      <p:grpSpPr>
        <a:xfrm xmlns:a="http://schemas.openxmlformats.org/drawingml/2006/main"/>
      </p:grpSpPr>
      <p:sp>
        <p:nvSpPr>
          <p:cNvPr id="11" name="Bemor ma’lumotlari tarqoq">
            <a:extLst xmlns:a="http://schemas.openxmlformats.org/drawingml/2006/main">
              <a:ext uri="{FF2B5EF4-FFF2-40B4-BE49-F238E27FC236}">
                <a16:creationId xmlns:a16="http://schemas.microsoft.com/office/drawing/2014/main" id="{76736999-63F3-43F4-9D83-025F839892C8}"/>
              </a:ext>
            </a:extLst>
          </p:cNvPr>
          <p:cNvSpPr>
            <a:spLocks xmlns:a="http://schemas.openxmlformats.org/drawingml/2006/main" noGrp="1"/>
          </p:cNvSpPr>
          <p:nvPr/>
        </p:nvSpPr>
        <p:spPr>
          <a:xfrm xmlns:a="http://schemas.openxmlformats.org/drawingml/2006/main">
            <a:off x="571500" y="4191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92536"/>
                </a:solidFill>
                <a:latin typeface="Arial"/>
                <a:ea typeface="Arial"/>
                <a:cs typeface="Arial"/>
              </a:defRPr>
            </a:pPr>
            <a:r>
              <a:rPr sz="3300" b="1">
                <a:solidFill>
                  <a:srgbClr val="092536"/>
                </a:solidFill>
                <a:latin typeface="Arial"/>
                <a:ea typeface="Arial"/>
                <a:cs typeface="Arial"/>
              </a:rPr>
              <a:t>Bemor ma’lumotlari tarqoq</a:t>
            </a:r>
          </a:p>
        </p:txBody>
      </p:sp>
      <p:sp>
        <p:nvSpPr>
          <p:cNvPr id="2" name="AniqTashxis AI">
            <a:extLst xmlns:a="http://schemas.openxmlformats.org/drawingml/2006/main">
              <a:ext uri="{FF2B5EF4-FFF2-40B4-BE49-F238E27FC236}">
                <a16:creationId xmlns:a16="http://schemas.microsoft.com/office/drawing/2014/main" id="{AEAE81BB-0347-48B7-9691-F8995B92075C}"/>
              </a:ext>
            </a:extLst>
          </p:cNvPr>
          <p:cNvSpPr>
            <a:spLocks xmlns:a="http://schemas.openxmlformats.org/drawingml/2006/main" noGrp="1"/>
          </p:cNvSpPr>
          <p:nvPr/>
        </p:nvSpPr>
        <p:spPr>
          <a:xfrm xmlns:a="http://schemas.openxmlformats.org/drawingml/2006/main">
            <a:off x="571500" y="64674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87582"/>
                </a:solidFill>
                <a:latin typeface="Arial"/>
                <a:ea typeface="Arial"/>
                <a:cs typeface="Arial"/>
              </a:defRPr>
            </a:pPr>
            <a:r>
              <a:rPr sz="1125" b="0">
                <a:solidFill>
                  <a:srgbClr val="587582"/>
                </a:solidFill>
                <a:latin typeface="Arial"/>
                <a:ea typeface="Arial"/>
                <a:cs typeface="Arial"/>
              </a:rPr>
              <a:t>AniqTashxis AI</a:t>
            </a:r>
          </a:p>
        </p:txBody>
      </p:sp>
      <p:sp>
        <p:nvSpPr>
          <p:cNvPr id="3" name="02">
            <a:extLst xmlns:a="http://schemas.openxmlformats.org/drawingml/2006/main">
              <a:ext uri="{FF2B5EF4-FFF2-40B4-BE49-F238E27FC236}">
                <a16:creationId xmlns:a16="http://schemas.microsoft.com/office/drawing/2014/main" id="{C01CA527-BCFA-4EB7-9C1E-7D4B68B30ABB}"/>
              </a:ext>
            </a:extLst>
          </p:cNvPr>
          <p:cNvSpPr>
            <a:spLocks xmlns:a="http://schemas.openxmlformats.org/drawingml/2006/main" noGrp="1"/>
          </p:cNvSpPr>
          <p:nvPr/>
        </p:nvSpPr>
        <p:spPr>
          <a:xfrm xmlns:a="http://schemas.openxmlformats.org/drawingml/2006/main">
            <a:off x="11049000" y="64484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87582"/>
                </a:solidFill>
                <a:latin typeface="Arial"/>
                <a:ea typeface="Arial"/>
                <a:cs typeface="Arial"/>
              </a:defRPr>
            </a:pPr>
            <a:r>
              <a:rPr sz="1200" b="0">
                <a:solidFill>
                  <a:srgbClr val="587582"/>
                </a:solidFill>
                <a:latin typeface="Arial"/>
                <a:ea typeface="Arial"/>
                <a:cs typeface="Arial"/>
              </a:rPr>
              <a:t>02</a:t>
            </a:r>
          </a:p>
        </p:txBody>
      </p:sp>
      <p:sp>
        <p:nvSpPr>
          <p:cNvPr id="4" name="Shikoyat alohida.&#10;Tahlil hujjatda.&#10;Tasvir boshqa">
            <a:extLst xmlns:a="http://schemas.openxmlformats.org/drawingml/2006/main">
              <a:ext uri="{FF2B5EF4-FFF2-40B4-BE49-F238E27FC236}">
                <a16:creationId xmlns:a16="http://schemas.microsoft.com/office/drawing/2014/main" id="{5382D786-EBA0-4C4E-A300-8184AD10EA52}"/>
              </a:ext>
            </a:extLst>
          </p:cNvPr>
          <p:cNvSpPr>
            <a:spLocks xmlns:a="http://schemas.openxmlformats.org/drawingml/2006/main" noGrp="1"/>
          </p:cNvSpPr>
          <p:nvPr/>
        </p:nvSpPr>
        <p:spPr>
          <a:xfrm xmlns:a="http://schemas.openxmlformats.org/drawingml/2006/main">
            <a:off x="571500" y="1647825"/>
            <a:ext cx="6477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5394B"/>
                </a:solidFill>
                <a:latin typeface="Arial"/>
                <a:ea typeface="Arial"/>
                <a:cs typeface="Arial"/>
              </a:defRPr>
            </a:pPr>
            <a:r>
              <a:rPr sz="3150" b="1">
                <a:solidFill>
                  <a:srgbClr val="15394B"/>
                </a:solidFill>
                <a:latin typeface="Arial"/>
                <a:ea typeface="Arial"/>
                <a:cs typeface="Arial"/>
              </a:rPr>
              <a:t>Shikoyat alohida.</a:t>
            </a:r>
          </a:p>
          <a:p xmlns:a="http://schemas.openxmlformats.org/drawingml/2006/main">
            <a:pPr algn="l">
              <a:defRPr sz="3150" b="1">
                <a:solidFill>
                  <a:srgbClr val="15394B"/>
                </a:solidFill>
                <a:latin typeface="Arial"/>
                <a:ea typeface="Arial"/>
                <a:cs typeface="Arial"/>
              </a:defRPr>
            </a:pPr>
            <a:r>
              <a:rPr sz="3150" b="1">
                <a:solidFill>
                  <a:srgbClr val="15394B"/>
                </a:solidFill>
                <a:latin typeface="Arial"/>
                <a:ea typeface="Arial"/>
                <a:cs typeface="Arial"/>
              </a:rPr>
              <a:t>Tahlil hujjatda.</a:t>
            </a:r>
          </a:p>
          <a:p xmlns:a="http://schemas.openxmlformats.org/drawingml/2006/main">
            <a:pPr algn="l">
              <a:defRPr sz="3150" b="1">
                <a:solidFill>
                  <a:srgbClr val="15394B"/>
                </a:solidFill>
                <a:latin typeface="Arial"/>
                <a:ea typeface="Arial"/>
                <a:cs typeface="Arial"/>
              </a:defRPr>
            </a:pPr>
            <a:r>
              <a:rPr sz="3150" b="1">
                <a:solidFill>
                  <a:srgbClr val="15394B"/>
                </a:solidFill>
                <a:latin typeface="Arial"/>
                <a:ea typeface="Arial"/>
                <a:cs typeface="Arial"/>
              </a:rPr>
              <a:t>Tasvir boshqa oynada.</a:t>
            </a:r>
          </a:p>
        </p:txBody>
      </p:sp>
      <p:sp>
        <p:nvSpPr>
          <p:cNvPr id="5" name="Shifokor xulosani tekshirish uchun&#10;manbalarni qa">
            <a:extLst xmlns:a="http://schemas.openxmlformats.org/drawingml/2006/main">
              <a:ext uri="{FF2B5EF4-FFF2-40B4-BE49-F238E27FC236}">
                <a16:creationId xmlns:a16="http://schemas.microsoft.com/office/drawing/2014/main" id="{B403FF72-6890-4B7F-B49F-6C348CC1B502}"/>
              </a:ext>
            </a:extLst>
          </p:cNvPr>
          <p:cNvSpPr>
            <a:spLocks xmlns:a="http://schemas.openxmlformats.org/drawingml/2006/main" noGrp="1"/>
          </p:cNvSpPr>
          <p:nvPr/>
        </p:nvSpPr>
        <p:spPr>
          <a:xfrm xmlns:a="http://schemas.openxmlformats.org/drawingml/2006/main">
            <a:off x="571500" y="4143375"/>
            <a:ext cx="619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87582"/>
                </a:solidFill>
                <a:latin typeface="Arial"/>
                <a:ea typeface="Arial"/>
                <a:cs typeface="Arial"/>
              </a:defRPr>
            </a:pPr>
            <a:r>
              <a:rPr sz="2175" b="0">
                <a:solidFill>
                  <a:srgbClr val="587582"/>
                </a:solidFill>
                <a:latin typeface="Arial"/>
                <a:ea typeface="Arial"/>
                <a:cs typeface="Arial"/>
              </a:rPr>
              <a:t>Shifokor xulosani tekshirish uchun</a:t>
            </a:r>
          </a:p>
          <a:p xmlns:a="http://schemas.openxmlformats.org/drawingml/2006/main">
            <a:pPr algn="l">
              <a:defRPr sz="2175" b="0">
                <a:solidFill>
                  <a:srgbClr val="587582"/>
                </a:solidFill>
                <a:latin typeface="Arial"/>
                <a:ea typeface="Arial"/>
                <a:cs typeface="Arial"/>
              </a:defRPr>
            </a:pPr>
            <a:r>
              <a:rPr sz="2175" b="0">
                <a:solidFill>
                  <a:srgbClr val="587582"/>
                </a:solidFill>
                <a:latin typeface="Arial"/>
                <a:ea typeface="Arial"/>
                <a:cs typeface="Arial"/>
              </a:rPr>
              <a:t>manbalarni qayta yig‘adi.</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e08244e9c9b6419a">
            <a:extLst>
              <a:ext uri="{96DAC541-7B7A-43D3-8B79-37D633B846F1}">
                <asvg:svgBlip xmlns:asvg="http://schemas.microsoft.com/office/drawing/2016/SVG/main" r:embed="Rbcf35cc1468942d6"/>
              </a:ext>
            </a:extLst>
          </a:blip>
          <a:stretch xmlns:a="http://schemas.openxmlformats.org/drawingml/2006/main"/>
        </p:blipFill>
        <p:spPr>
          <a:xfrm xmlns:a="http://schemas.openxmlformats.org/drawingml/2006/main">
            <a:off x="8477250" y="1581150"/>
            <a:ext cx="609600" cy="609600"/>
          </a:xfrm>
          <a:prstGeom xmlns:a="http://schemas.openxmlformats.org/drawingml/2006/main" prst="rect">
            <a:avLst/>
          </a:prstGeom>
        </p:spPr>
      </p:pic>
      <p:sp>
        <p:nvSpPr>
          <p:cNvPr id="7" name="1 301">
            <a:extLst xmlns:a="http://schemas.openxmlformats.org/drawingml/2006/main">
              <a:ext uri="{FF2B5EF4-FFF2-40B4-BE49-F238E27FC236}">
                <a16:creationId xmlns:a16="http://schemas.microsoft.com/office/drawing/2014/main" id="{E5002A27-BA48-4741-8BD8-360885C19880}"/>
              </a:ext>
            </a:extLst>
          </p:cNvPr>
          <p:cNvSpPr>
            <a:spLocks xmlns:a="http://schemas.openxmlformats.org/drawingml/2006/main" noGrp="1"/>
          </p:cNvSpPr>
          <p:nvPr/>
        </p:nvSpPr>
        <p:spPr>
          <a:xfrm xmlns:a="http://schemas.openxmlformats.org/drawingml/2006/main">
            <a:off x="7810500" y="2476500"/>
            <a:ext cx="3714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900" b="1">
                <a:solidFill>
                  <a:srgbClr val="008B8B"/>
                </a:solidFill>
                <a:latin typeface="Arial"/>
                <a:ea typeface="Arial"/>
                <a:cs typeface="Arial"/>
              </a:defRPr>
            </a:pPr>
            <a:r>
              <a:rPr sz="6900" b="1">
                <a:solidFill>
                  <a:srgbClr val="008B8B"/>
                </a:solidFill>
                <a:latin typeface="Arial"/>
                <a:ea typeface="Arial"/>
                <a:cs typeface="Arial"/>
              </a:rPr>
              <a:t>1 301</a:t>
            </a:r>
          </a:p>
        </p:txBody>
      </p:sp>
      <p:sp>
        <p:nvSpPr>
          <p:cNvPr id="8" name="xususiy shifoxona">
            <a:extLst xmlns:a="http://schemas.openxmlformats.org/drawingml/2006/main">
              <a:ext uri="{FF2B5EF4-FFF2-40B4-BE49-F238E27FC236}">
                <a16:creationId xmlns:a16="http://schemas.microsoft.com/office/drawing/2014/main" id="{1E1074C0-3F21-4132-95E4-6A4C75F90118}"/>
              </a:ext>
            </a:extLst>
          </p:cNvPr>
          <p:cNvSpPr>
            <a:spLocks xmlns:a="http://schemas.openxmlformats.org/drawingml/2006/main" noGrp="1"/>
          </p:cNvSpPr>
          <p:nvPr/>
        </p:nvSpPr>
        <p:spPr>
          <a:xfrm xmlns:a="http://schemas.openxmlformats.org/drawingml/2006/main">
            <a:off x="7810500" y="3609975"/>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394B"/>
                </a:solidFill>
                <a:latin typeface="Arial"/>
                <a:ea typeface="Arial"/>
                <a:cs typeface="Arial"/>
              </a:defRPr>
            </a:pPr>
            <a:r>
              <a:rPr sz="2100" b="1">
                <a:solidFill>
                  <a:srgbClr val="15394B"/>
                </a:solidFill>
                <a:latin typeface="Arial"/>
                <a:ea typeface="Arial"/>
                <a:cs typeface="Arial"/>
              </a:rPr>
              <a:t>xususiy shifoxona</a:t>
            </a:r>
          </a:p>
        </p:txBody>
      </p:sp>
      <p:sp>
        <p:nvSpPr>
          <p:cNvPr id="9" name="O‘zbekiston&#10;2025-yil 1-yanvar holati">
            <a:extLst xmlns:a="http://schemas.openxmlformats.org/drawingml/2006/main">
              <a:ext uri="{FF2B5EF4-FFF2-40B4-BE49-F238E27FC236}">
                <a16:creationId xmlns:a16="http://schemas.microsoft.com/office/drawing/2014/main" id="{A2DE00EE-DFBE-465D-98D4-7B37AA65044B}"/>
              </a:ext>
            </a:extLst>
          </p:cNvPr>
          <p:cNvSpPr>
            <a:spLocks xmlns:a="http://schemas.openxmlformats.org/drawingml/2006/main" noGrp="1"/>
          </p:cNvSpPr>
          <p:nvPr/>
        </p:nvSpPr>
        <p:spPr>
          <a:xfrm xmlns:a="http://schemas.openxmlformats.org/drawingml/2006/main">
            <a:off x="7810500" y="4181475"/>
            <a:ext cx="342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87582"/>
                </a:solidFill>
                <a:latin typeface="Arial"/>
                <a:ea typeface="Arial"/>
                <a:cs typeface="Arial"/>
              </a:defRPr>
            </a:pPr>
            <a:r>
              <a:rPr sz="1725" b="0">
                <a:solidFill>
                  <a:srgbClr val="587582"/>
                </a:solidFill>
                <a:latin typeface="Arial"/>
                <a:ea typeface="Arial"/>
                <a:cs typeface="Arial"/>
              </a:rPr>
              <a:t>O‘zbekiston</a:t>
            </a:r>
          </a:p>
          <a:p xmlns:a="http://schemas.openxmlformats.org/drawingml/2006/main">
            <a:pPr algn="l">
              <a:defRPr sz="1725" b="0">
                <a:solidFill>
                  <a:srgbClr val="587582"/>
                </a:solidFill>
                <a:latin typeface="Arial"/>
                <a:ea typeface="Arial"/>
                <a:cs typeface="Arial"/>
              </a:defRPr>
            </a:pPr>
            <a:r>
              <a:rPr sz="1725" b="0">
                <a:solidFill>
                  <a:srgbClr val="587582"/>
                </a:solidFill>
                <a:latin typeface="Arial"/>
                <a:ea typeface="Arial"/>
                <a:cs typeface="Arial"/>
              </a:rPr>
              <a:t>2025-yil 1-yanvar holati</a:t>
            </a:r>
          </a:p>
        </p:txBody>
      </p:sp>
      <p:sp>
        <p:nvSpPr>
          <p:cNvPr id="10" name="Boshlang‘ich segment: 5–25 shifokorli klinikalar">
            <a:extLst xmlns:a="http://schemas.openxmlformats.org/drawingml/2006/main">
              <a:ext uri="{FF2B5EF4-FFF2-40B4-BE49-F238E27FC236}">
                <a16:creationId xmlns:a16="http://schemas.microsoft.com/office/drawing/2014/main" id="{1439A697-24BD-495A-BF6B-22E55372FAE6}"/>
              </a:ext>
            </a:extLst>
          </p:cNvPr>
          <p:cNvSpPr>
            <a:spLocks xmlns:a="http://schemas.openxmlformats.org/drawingml/2006/main" noGrp="1"/>
          </p:cNvSpPr>
          <p:nvPr/>
        </p:nvSpPr>
        <p:spPr>
          <a:xfrm xmlns:a="http://schemas.openxmlformats.org/drawingml/2006/main">
            <a:off x="571500" y="573405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8B8B"/>
                </a:solidFill>
                <a:latin typeface="Arial"/>
                <a:ea typeface="Arial"/>
                <a:cs typeface="Arial"/>
              </a:defRPr>
            </a:pPr>
            <a:r>
              <a:rPr sz="1875" b="1">
                <a:solidFill>
                  <a:srgbClr val="008B8B"/>
                </a:solidFill>
                <a:latin typeface="Arial"/>
                <a:ea typeface="Arial"/>
                <a:cs typeface="Arial"/>
              </a:rPr>
              <a:t>Boshlang‘ich segment: 5–25 shifokorli klinikalar va mustaqil shifokorlar</a:t>
            </a:r>
          </a:p>
        </p:txBody>
      </p:sp>
    </p:spTree>
    <p:extLst>
      <p:ext uri="{BB962C8B-B14F-4D97-AF65-F5344CB8AC3E}">
        <p14:creationId xmlns:p14="http://schemas.microsoft.com/office/powerpoint/2010/main" val="1444259727"/>
      </p:ext>
    </p:extLst>
  </p:cSld>
</p:sld>
</file>

<file path=ppt/slides/slide3.xml><?xml version="1.0" encoding="utf-8"?>
<p:sld xmlns:p="http://schemas.openxmlformats.org/presentationml/2006/main">
  <p:cSld>
    <p:bg>
      <p:bgPr>
        <a:solidFill xmlns:a="http://schemas.openxmlformats.org/drawingml/2006/main">
          <a:srgbClr val="F3F8F7"/>
        </a:solidFill>
      </p:bgPr>
    </p:bg>
    <p:spTree>
      <p:nvGrpSpPr>
        <p:cNvPr id="1" name=""/>
        <p:cNvGrpSpPr/>
        <p:nvPr/>
      </p:nvGrpSpPr>
      <p:grpSpPr>
        <a:xfrm xmlns:a="http://schemas.openxmlformats.org/drawingml/2006/main"/>
      </p:grpSpPr>
      <p:sp>
        <p:nvSpPr>
          <p:cNvPr id="18" name="Bemor bilan ishlash uchun bitta joy">
            <a:extLst xmlns:a="http://schemas.openxmlformats.org/drawingml/2006/main">
              <a:ext uri="{FF2B5EF4-FFF2-40B4-BE49-F238E27FC236}">
                <a16:creationId xmlns:a16="http://schemas.microsoft.com/office/drawing/2014/main" id="{1573CD9D-F266-43DC-A78F-4D033B7851F7}"/>
              </a:ext>
            </a:extLst>
          </p:cNvPr>
          <p:cNvSpPr>
            <a:spLocks xmlns:a="http://schemas.openxmlformats.org/drawingml/2006/main" noGrp="1"/>
          </p:cNvSpPr>
          <p:nvPr/>
        </p:nvSpPr>
        <p:spPr>
          <a:xfrm xmlns:a="http://schemas.openxmlformats.org/drawingml/2006/main">
            <a:off x="571500" y="4191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92536"/>
                </a:solidFill>
                <a:latin typeface="Arial"/>
                <a:ea typeface="Arial"/>
                <a:cs typeface="Arial"/>
              </a:defRPr>
            </a:pPr>
            <a:r>
              <a:rPr sz="3300" b="1">
                <a:solidFill>
                  <a:srgbClr val="092536"/>
                </a:solidFill>
                <a:latin typeface="Arial"/>
                <a:ea typeface="Arial"/>
                <a:cs typeface="Arial"/>
              </a:rPr>
              <a:t>Bemor bilan ishlash uchun bitta joy</a:t>
            </a:r>
          </a:p>
        </p:txBody>
      </p:sp>
      <p:sp>
        <p:nvSpPr>
          <p:cNvPr id="2" name="AniqTashxis AI">
            <a:extLst xmlns:a="http://schemas.openxmlformats.org/drawingml/2006/main">
              <a:ext uri="{FF2B5EF4-FFF2-40B4-BE49-F238E27FC236}">
                <a16:creationId xmlns:a16="http://schemas.microsoft.com/office/drawing/2014/main" id="{DE2C026B-D19E-4383-A1AE-2E7B586B092A}"/>
              </a:ext>
            </a:extLst>
          </p:cNvPr>
          <p:cNvSpPr>
            <a:spLocks xmlns:a="http://schemas.openxmlformats.org/drawingml/2006/main" noGrp="1"/>
          </p:cNvSpPr>
          <p:nvPr/>
        </p:nvSpPr>
        <p:spPr>
          <a:xfrm xmlns:a="http://schemas.openxmlformats.org/drawingml/2006/main">
            <a:off x="571500" y="64674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87582"/>
                </a:solidFill>
                <a:latin typeface="Arial"/>
                <a:ea typeface="Arial"/>
                <a:cs typeface="Arial"/>
              </a:defRPr>
            </a:pPr>
            <a:r>
              <a:rPr sz="1125" b="0">
                <a:solidFill>
                  <a:srgbClr val="587582"/>
                </a:solidFill>
                <a:latin typeface="Arial"/>
                <a:ea typeface="Arial"/>
                <a:cs typeface="Arial"/>
              </a:rPr>
              <a:t>AniqTashxis AI</a:t>
            </a:r>
          </a:p>
        </p:txBody>
      </p:sp>
      <p:sp>
        <p:nvSpPr>
          <p:cNvPr id="3" name="03">
            <a:extLst xmlns:a="http://schemas.openxmlformats.org/drawingml/2006/main">
              <a:ext uri="{FF2B5EF4-FFF2-40B4-BE49-F238E27FC236}">
                <a16:creationId xmlns:a16="http://schemas.microsoft.com/office/drawing/2014/main" id="{7ABC36AF-D12A-43F4-A281-2B3656C82B10}"/>
              </a:ext>
            </a:extLst>
          </p:cNvPr>
          <p:cNvSpPr>
            <a:spLocks xmlns:a="http://schemas.openxmlformats.org/drawingml/2006/main" noGrp="1"/>
          </p:cNvSpPr>
          <p:nvPr/>
        </p:nvSpPr>
        <p:spPr>
          <a:xfrm xmlns:a="http://schemas.openxmlformats.org/drawingml/2006/main">
            <a:off x="11049000" y="64484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87582"/>
                </a:solidFill>
                <a:latin typeface="Arial"/>
                <a:ea typeface="Arial"/>
                <a:cs typeface="Arial"/>
              </a:defRPr>
            </a:pPr>
            <a:r>
              <a:rPr sz="1200" b="0">
                <a:solidFill>
                  <a:srgbClr val="587582"/>
                </a:solidFill>
                <a:latin typeface="Arial"/>
                <a:ea typeface="Arial"/>
                <a:cs typeface="Arial"/>
              </a:rPr>
              <a:t>03</a:t>
            </a:r>
          </a:p>
        </p:txBody>
      </p:sp>
      <p:sp>
        <p:nvSpPr>
          <p:cNvPr id="4" name="01">
            <a:extLst xmlns:a="http://schemas.openxmlformats.org/drawingml/2006/main">
              <a:ext uri="{FF2B5EF4-FFF2-40B4-BE49-F238E27FC236}">
                <a16:creationId xmlns:a16="http://schemas.microsoft.com/office/drawing/2014/main" id="{215D2CA2-7707-442C-83F9-3A84AF8D09BC}"/>
              </a:ext>
            </a:extLst>
          </p:cNvPr>
          <p:cNvSpPr>
            <a:spLocks xmlns:a="http://schemas.openxmlformats.org/drawingml/2006/main" noGrp="1"/>
          </p:cNvSpPr>
          <p:nvPr/>
        </p:nvSpPr>
        <p:spPr>
          <a:xfrm xmlns:a="http://schemas.openxmlformats.org/drawingml/2006/main">
            <a:off x="571500" y="1571625"/>
            <a:ext cx="47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8B8B"/>
                </a:solidFill>
                <a:latin typeface="Arial"/>
                <a:ea typeface="Arial"/>
                <a:cs typeface="Arial"/>
              </a:defRPr>
            </a:pPr>
            <a:r>
              <a:rPr sz="2175" b="1">
                <a:solidFill>
                  <a:srgbClr val="008B8B"/>
                </a:solidFill>
                <a:latin typeface="Arial"/>
                <a:ea typeface="Arial"/>
                <a:cs typeface="Arial"/>
              </a:rPr>
              <a:t>01</a:t>
            </a:r>
          </a:p>
        </p:txBody>
      </p:sp>
      <p:sp>
        <p:nvSpPr>
          <p:cNvPr id="5" name="Bemorni qo‘shish">
            <a:extLst xmlns:a="http://schemas.openxmlformats.org/drawingml/2006/main">
              <a:ext uri="{FF2B5EF4-FFF2-40B4-BE49-F238E27FC236}">
                <a16:creationId xmlns:a16="http://schemas.microsoft.com/office/drawing/2014/main" id="{87624553-8AC9-43AD-A10F-85C392730A8A}"/>
              </a:ext>
            </a:extLst>
          </p:cNvPr>
          <p:cNvSpPr>
            <a:spLocks xmlns:a="http://schemas.openxmlformats.org/drawingml/2006/main" noGrp="1"/>
          </p:cNvSpPr>
          <p:nvPr/>
        </p:nvSpPr>
        <p:spPr>
          <a:xfrm xmlns:a="http://schemas.openxmlformats.org/drawingml/2006/main">
            <a:off x="1190625" y="1571625"/>
            <a:ext cx="300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5394B"/>
                </a:solidFill>
                <a:latin typeface="Arial"/>
                <a:ea typeface="Arial"/>
                <a:cs typeface="Arial"/>
              </a:defRPr>
            </a:pPr>
            <a:r>
              <a:rPr sz="1950" b="1">
                <a:solidFill>
                  <a:srgbClr val="15394B"/>
                </a:solidFill>
                <a:latin typeface="Arial"/>
                <a:ea typeface="Arial"/>
                <a:cs typeface="Arial"/>
              </a:rPr>
              <a:t>Bemorni qo‘shish</a:t>
            </a:r>
          </a:p>
        </p:txBody>
      </p:sp>
      <p:sp>
        <p:nvSpPr>
          <p:cNvPr id="6" name="Faqat F.I.Sh. majburiy">
            <a:extLst xmlns:a="http://schemas.openxmlformats.org/drawingml/2006/main">
              <a:ext uri="{FF2B5EF4-FFF2-40B4-BE49-F238E27FC236}">
                <a16:creationId xmlns:a16="http://schemas.microsoft.com/office/drawing/2014/main" id="{6EEB5E26-FD2C-4AAD-BCE9-73D2DEE7349E}"/>
              </a:ext>
            </a:extLst>
          </p:cNvPr>
          <p:cNvSpPr>
            <a:spLocks xmlns:a="http://schemas.openxmlformats.org/drawingml/2006/main" noGrp="1"/>
          </p:cNvSpPr>
          <p:nvPr/>
        </p:nvSpPr>
        <p:spPr>
          <a:xfrm xmlns:a="http://schemas.openxmlformats.org/drawingml/2006/main">
            <a:off x="1190625" y="198120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87582"/>
                </a:solidFill>
                <a:latin typeface="Arial"/>
                <a:ea typeface="Arial"/>
                <a:cs typeface="Arial"/>
              </a:defRPr>
            </a:pPr>
            <a:r>
              <a:rPr sz="1575" b="0">
                <a:solidFill>
                  <a:srgbClr val="587582"/>
                </a:solidFill>
                <a:latin typeface="Arial"/>
                <a:ea typeface="Arial"/>
                <a:cs typeface="Arial"/>
              </a:rPr>
              <a:t>Faqat F.I.Sh. majburiy</a:t>
            </a:r>
          </a:p>
        </p:txBody>
      </p:sp>
      <p:sp>
        <p:nvSpPr>
          <p:cNvPr id="7" name="02">
            <a:extLst xmlns:a="http://schemas.openxmlformats.org/drawingml/2006/main">
              <a:ext uri="{FF2B5EF4-FFF2-40B4-BE49-F238E27FC236}">
                <a16:creationId xmlns:a16="http://schemas.microsoft.com/office/drawing/2014/main" id="{E57ECA59-E2AF-4C66-B2CB-B042CCC38777}"/>
              </a:ext>
            </a:extLst>
          </p:cNvPr>
          <p:cNvSpPr>
            <a:spLocks xmlns:a="http://schemas.openxmlformats.org/drawingml/2006/main" noGrp="1"/>
          </p:cNvSpPr>
          <p:nvPr/>
        </p:nvSpPr>
        <p:spPr>
          <a:xfrm xmlns:a="http://schemas.openxmlformats.org/drawingml/2006/main">
            <a:off x="571500" y="2676525"/>
            <a:ext cx="47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8B8B"/>
                </a:solidFill>
                <a:latin typeface="Arial"/>
                <a:ea typeface="Arial"/>
                <a:cs typeface="Arial"/>
              </a:defRPr>
            </a:pPr>
            <a:r>
              <a:rPr sz="2175" b="1">
                <a:solidFill>
                  <a:srgbClr val="008B8B"/>
                </a:solidFill>
                <a:latin typeface="Arial"/>
                <a:ea typeface="Arial"/>
                <a:cs typeface="Arial"/>
              </a:rPr>
              <a:t>02</a:t>
            </a:r>
          </a:p>
        </p:txBody>
      </p:sp>
      <p:sp>
        <p:nvSpPr>
          <p:cNvPr id="8" name="Ma’lumotni kiritish">
            <a:extLst xmlns:a="http://schemas.openxmlformats.org/drawingml/2006/main">
              <a:ext uri="{FF2B5EF4-FFF2-40B4-BE49-F238E27FC236}">
                <a16:creationId xmlns:a16="http://schemas.microsoft.com/office/drawing/2014/main" id="{FF7AD065-60B4-45CC-A759-AA4F0189E1A0}"/>
              </a:ext>
            </a:extLst>
          </p:cNvPr>
          <p:cNvSpPr>
            <a:spLocks xmlns:a="http://schemas.openxmlformats.org/drawingml/2006/main" noGrp="1"/>
          </p:cNvSpPr>
          <p:nvPr/>
        </p:nvSpPr>
        <p:spPr>
          <a:xfrm xmlns:a="http://schemas.openxmlformats.org/drawingml/2006/main">
            <a:off x="1190625" y="2676525"/>
            <a:ext cx="300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5394B"/>
                </a:solidFill>
                <a:latin typeface="Arial"/>
                <a:ea typeface="Arial"/>
                <a:cs typeface="Arial"/>
              </a:defRPr>
            </a:pPr>
            <a:r>
              <a:rPr sz="1950" b="1">
                <a:solidFill>
                  <a:srgbClr val="15394B"/>
                </a:solidFill>
                <a:latin typeface="Arial"/>
                <a:ea typeface="Arial"/>
                <a:cs typeface="Arial"/>
              </a:rPr>
              <a:t>Ma’lumotni kiritish</a:t>
            </a:r>
          </a:p>
        </p:txBody>
      </p:sp>
      <p:sp>
        <p:nvSpPr>
          <p:cNvPr id="9" name="Qo‘lda yoki hujjatdan">
            <a:extLst xmlns:a="http://schemas.openxmlformats.org/drawingml/2006/main">
              <a:ext uri="{FF2B5EF4-FFF2-40B4-BE49-F238E27FC236}">
                <a16:creationId xmlns:a16="http://schemas.microsoft.com/office/drawing/2014/main" id="{3A0BAFE1-F821-439E-9B6E-4A8CD3935D4C}"/>
              </a:ext>
            </a:extLst>
          </p:cNvPr>
          <p:cNvSpPr>
            <a:spLocks xmlns:a="http://schemas.openxmlformats.org/drawingml/2006/main" noGrp="1"/>
          </p:cNvSpPr>
          <p:nvPr/>
        </p:nvSpPr>
        <p:spPr>
          <a:xfrm xmlns:a="http://schemas.openxmlformats.org/drawingml/2006/main">
            <a:off x="1190625" y="308610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87582"/>
                </a:solidFill>
                <a:latin typeface="Arial"/>
                <a:ea typeface="Arial"/>
                <a:cs typeface="Arial"/>
              </a:defRPr>
            </a:pPr>
            <a:r>
              <a:rPr sz="1575" b="0">
                <a:solidFill>
                  <a:srgbClr val="587582"/>
                </a:solidFill>
                <a:latin typeface="Arial"/>
                <a:ea typeface="Arial"/>
                <a:cs typeface="Arial"/>
              </a:rPr>
              <a:t>Qo‘lda yoki hujjatdan</a:t>
            </a:r>
          </a:p>
        </p:txBody>
      </p:sp>
      <p:sp>
        <p:nvSpPr>
          <p:cNvPr id="10" name="03">
            <a:extLst xmlns:a="http://schemas.openxmlformats.org/drawingml/2006/main">
              <a:ext uri="{FF2B5EF4-FFF2-40B4-BE49-F238E27FC236}">
                <a16:creationId xmlns:a16="http://schemas.microsoft.com/office/drawing/2014/main" id="{CD7B0B82-C305-4108-BDA6-D58F4E39F5C4}"/>
              </a:ext>
            </a:extLst>
          </p:cNvPr>
          <p:cNvSpPr>
            <a:spLocks xmlns:a="http://schemas.openxmlformats.org/drawingml/2006/main" noGrp="1"/>
          </p:cNvSpPr>
          <p:nvPr/>
        </p:nvSpPr>
        <p:spPr>
          <a:xfrm xmlns:a="http://schemas.openxmlformats.org/drawingml/2006/main">
            <a:off x="571500" y="3781425"/>
            <a:ext cx="47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8B8B"/>
                </a:solidFill>
                <a:latin typeface="Arial"/>
                <a:ea typeface="Arial"/>
                <a:cs typeface="Arial"/>
              </a:defRPr>
            </a:pPr>
            <a:r>
              <a:rPr sz="2175" b="1">
                <a:solidFill>
                  <a:srgbClr val="008B8B"/>
                </a:solidFill>
                <a:latin typeface="Arial"/>
                <a:ea typeface="Arial"/>
                <a:cs typeface="Arial"/>
              </a:rPr>
              <a:t>03</a:t>
            </a:r>
          </a:p>
        </p:txBody>
      </p:sp>
      <p:sp>
        <p:nvSpPr>
          <p:cNvPr id="11" name="Shifokor xulosasi">
            <a:extLst xmlns:a="http://schemas.openxmlformats.org/drawingml/2006/main">
              <a:ext uri="{FF2B5EF4-FFF2-40B4-BE49-F238E27FC236}">
                <a16:creationId xmlns:a16="http://schemas.microsoft.com/office/drawing/2014/main" id="{2620C744-C429-493B-8E77-86711A220B18}"/>
              </a:ext>
            </a:extLst>
          </p:cNvPr>
          <p:cNvSpPr>
            <a:spLocks xmlns:a="http://schemas.openxmlformats.org/drawingml/2006/main" noGrp="1"/>
          </p:cNvSpPr>
          <p:nvPr/>
        </p:nvSpPr>
        <p:spPr>
          <a:xfrm xmlns:a="http://schemas.openxmlformats.org/drawingml/2006/main">
            <a:off x="1190625" y="3781425"/>
            <a:ext cx="300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5394B"/>
                </a:solidFill>
                <a:latin typeface="Arial"/>
                <a:ea typeface="Arial"/>
                <a:cs typeface="Arial"/>
              </a:defRPr>
            </a:pPr>
            <a:r>
              <a:rPr sz="1950" b="1">
                <a:solidFill>
                  <a:srgbClr val="15394B"/>
                </a:solidFill>
                <a:latin typeface="Arial"/>
                <a:ea typeface="Arial"/>
                <a:cs typeface="Arial"/>
              </a:rPr>
              <a:t>Shifokor xulosasi</a:t>
            </a:r>
          </a:p>
        </p:txBody>
      </p:sp>
      <p:sp>
        <p:nvSpPr>
          <p:cNvPr id="12" name="Tashxis va davolash rejasi">
            <a:extLst xmlns:a="http://schemas.openxmlformats.org/drawingml/2006/main">
              <a:ext uri="{FF2B5EF4-FFF2-40B4-BE49-F238E27FC236}">
                <a16:creationId xmlns:a16="http://schemas.microsoft.com/office/drawing/2014/main" id="{B903B880-4124-4FB4-AA24-C8B84EE50EDC}"/>
              </a:ext>
            </a:extLst>
          </p:cNvPr>
          <p:cNvSpPr>
            <a:spLocks xmlns:a="http://schemas.openxmlformats.org/drawingml/2006/main" noGrp="1"/>
          </p:cNvSpPr>
          <p:nvPr/>
        </p:nvSpPr>
        <p:spPr>
          <a:xfrm xmlns:a="http://schemas.openxmlformats.org/drawingml/2006/main">
            <a:off x="1190625" y="419100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87582"/>
                </a:solidFill>
                <a:latin typeface="Arial"/>
                <a:ea typeface="Arial"/>
                <a:cs typeface="Arial"/>
              </a:defRPr>
            </a:pPr>
            <a:r>
              <a:rPr sz="1575" b="0">
                <a:solidFill>
                  <a:srgbClr val="587582"/>
                </a:solidFill>
                <a:latin typeface="Arial"/>
                <a:ea typeface="Arial"/>
                <a:cs typeface="Arial"/>
              </a:rPr>
              <a:t>Tashxis va davolash rejasi</a:t>
            </a:r>
          </a:p>
        </p:txBody>
      </p:sp>
      <p:sp>
        <p:nvSpPr>
          <p:cNvPr id="13" name="04">
            <a:extLst xmlns:a="http://schemas.openxmlformats.org/drawingml/2006/main">
              <a:ext uri="{FF2B5EF4-FFF2-40B4-BE49-F238E27FC236}">
                <a16:creationId xmlns:a16="http://schemas.microsoft.com/office/drawing/2014/main" id="{C902B517-1725-414E-BE13-7FFB54077B6F}"/>
              </a:ext>
            </a:extLst>
          </p:cNvPr>
          <p:cNvSpPr>
            <a:spLocks xmlns:a="http://schemas.openxmlformats.org/drawingml/2006/main" noGrp="1"/>
          </p:cNvSpPr>
          <p:nvPr/>
        </p:nvSpPr>
        <p:spPr>
          <a:xfrm xmlns:a="http://schemas.openxmlformats.org/drawingml/2006/main">
            <a:off x="571500" y="4886325"/>
            <a:ext cx="47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8B8B"/>
                </a:solidFill>
                <a:latin typeface="Arial"/>
                <a:ea typeface="Arial"/>
                <a:cs typeface="Arial"/>
              </a:defRPr>
            </a:pPr>
            <a:r>
              <a:rPr sz="2175" b="1">
                <a:solidFill>
                  <a:srgbClr val="008B8B"/>
                </a:solidFill>
                <a:latin typeface="Arial"/>
                <a:ea typeface="Arial"/>
                <a:cs typeface="Arial"/>
              </a:rPr>
              <a:t>04</a:t>
            </a:r>
          </a:p>
        </p:txBody>
      </p:sp>
      <p:sp>
        <p:nvSpPr>
          <p:cNvPr id="14" name="AI bilan solishtirish">
            <a:extLst xmlns:a="http://schemas.openxmlformats.org/drawingml/2006/main">
              <a:ext uri="{FF2B5EF4-FFF2-40B4-BE49-F238E27FC236}">
                <a16:creationId xmlns:a16="http://schemas.microsoft.com/office/drawing/2014/main" id="{92519F23-F9AD-4C2E-A305-9EA5F8C3155B}"/>
              </a:ext>
            </a:extLst>
          </p:cNvPr>
          <p:cNvSpPr>
            <a:spLocks xmlns:a="http://schemas.openxmlformats.org/drawingml/2006/main" noGrp="1"/>
          </p:cNvSpPr>
          <p:nvPr/>
        </p:nvSpPr>
        <p:spPr>
          <a:xfrm xmlns:a="http://schemas.openxmlformats.org/drawingml/2006/main">
            <a:off x="1190625" y="4886325"/>
            <a:ext cx="300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5394B"/>
                </a:solidFill>
                <a:latin typeface="Arial"/>
                <a:ea typeface="Arial"/>
                <a:cs typeface="Arial"/>
              </a:defRPr>
            </a:pPr>
            <a:r>
              <a:rPr sz="1950" b="1">
                <a:solidFill>
                  <a:srgbClr val="15394B"/>
                </a:solidFill>
                <a:latin typeface="Arial"/>
                <a:ea typeface="Arial"/>
                <a:cs typeface="Arial"/>
              </a:rPr>
              <a:t>AI bilan solishtirish</a:t>
            </a:r>
          </a:p>
        </p:txBody>
      </p:sp>
      <p:sp>
        <p:nvSpPr>
          <p:cNvPr id="15" name="Manbalar bilan tekshirish">
            <a:extLst xmlns:a="http://schemas.openxmlformats.org/drawingml/2006/main">
              <a:ext uri="{FF2B5EF4-FFF2-40B4-BE49-F238E27FC236}">
                <a16:creationId xmlns:a16="http://schemas.microsoft.com/office/drawing/2014/main" id="{927D17A6-0A86-465A-A88E-D82603BB1F69}"/>
              </a:ext>
            </a:extLst>
          </p:cNvPr>
          <p:cNvSpPr>
            <a:spLocks xmlns:a="http://schemas.openxmlformats.org/drawingml/2006/main" noGrp="1"/>
          </p:cNvSpPr>
          <p:nvPr/>
        </p:nvSpPr>
        <p:spPr>
          <a:xfrm xmlns:a="http://schemas.openxmlformats.org/drawingml/2006/main">
            <a:off x="1190625" y="529590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87582"/>
                </a:solidFill>
                <a:latin typeface="Arial"/>
                <a:ea typeface="Arial"/>
                <a:cs typeface="Arial"/>
              </a:defRPr>
            </a:pPr>
            <a:r>
              <a:rPr sz="1575" b="0">
                <a:solidFill>
                  <a:srgbClr val="587582"/>
                </a:solidFill>
                <a:latin typeface="Arial"/>
                <a:ea typeface="Arial"/>
                <a:cs typeface="Arial"/>
              </a:rPr>
              <a:t>Manbalar bilan tekshirish</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a0545338dd4c4ed5"/>
          <a:stretch xmlns:a="http://schemas.openxmlformats.org/drawingml/2006/main"/>
        </p:blipFill>
        <p:spPr>
          <a:xfrm xmlns:a="http://schemas.openxmlformats.org/drawingml/2006/main">
            <a:off x="4524375" y="1438275"/>
            <a:ext cx="7239000" cy="4524375"/>
          </a:xfrm>
          <a:prstGeom xmlns:a="http://schemas.openxmlformats.org/drawingml/2006/main" prst="rect">
            <a:avLst/>
          </a:prstGeom>
        </p:spPr>
      </p:pic>
      <p:sp>
        <p:nvSpPr>
          <p:cNvPr id="17" name="Subyektiv, obyektiv, laborator va instrumental m">
            <a:extLst xmlns:a="http://schemas.openxmlformats.org/drawingml/2006/main">
              <a:ext uri="{FF2B5EF4-FFF2-40B4-BE49-F238E27FC236}">
                <a16:creationId xmlns:a16="http://schemas.microsoft.com/office/drawing/2014/main" id="{EA5E80B5-A180-44ED-A568-B56D385A501B}"/>
              </a:ext>
            </a:extLst>
          </p:cNvPr>
          <p:cNvSpPr>
            <a:spLocks xmlns:a="http://schemas.openxmlformats.org/drawingml/2006/main" noGrp="1"/>
          </p:cNvSpPr>
          <p:nvPr/>
        </p:nvSpPr>
        <p:spPr>
          <a:xfrm xmlns:a="http://schemas.openxmlformats.org/drawingml/2006/main">
            <a:off x="4619625" y="6019800"/>
            <a:ext cx="700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87582"/>
                </a:solidFill>
                <a:latin typeface="Arial"/>
                <a:ea typeface="Arial"/>
                <a:cs typeface="Arial"/>
              </a:defRPr>
            </a:pPr>
            <a:r>
              <a:rPr sz="1500" b="0">
                <a:solidFill>
                  <a:srgbClr val="587582"/>
                </a:solidFill>
                <a:latin typeface="Arial"/>
                <a:ea typeface="Arial"/>
                <a:cs typeface="Arial"/>
              </a:rPr>
              <a:t>Subyektiv, obyektiv, laborator va instrumental ma’lumotlar</a:t>
            </a:r>
          </a:p>
        </p:txBody>
      </p:sp>
    </p:spTree>
    <p:extLst>
      <p:ext uri="{BB962C8B-B14F-4D97-AF65-F5344CB8AC3E}">
        <p14:creationId xmlns:p14="http://schemas.microsoft.com/office/powerpoint/2010/main" val="489204702"/>
      </p:ext>
    </p:extLst>
  </p:cSld>
</p:sld>
</file>

<file path=ppt/slides/slide4.xml><?xml version="1.0" encoding="utf-8"?>
<p:sld xmlns:p="http://schemas.openxmlformats.org/presentationml/2006/main">
  <p:cSld>
    <p:bg>
      <p:bgPr>
        <a:solidFill xmlns:a="http://schemas.openxmlformats.org/drawingml/2006/main">
          <a:srgbClr val="F3F8F7"/>
        </a:solidFill>
      </p:bgPr>
    </p:bg>
    <p:spTree>
      <p:nvGrpSpPr>
        <p:cNvPr id="1" name=""/>
        <p:cNvGrpSpPr/>
        <p:nvPr/>
      </p:nvGrpSpPr>
      <p:grpSpPr>
        <a:xfrm xmlns:a="http://schemas.openxmlformats.org/drawingml/2006/main"/>
      </p:grpSpPr>
      <p:sp>
        <p:nvSpPr>
          <p:cNvPr id="12" name="AI javobi dalilga bog‘langan">
            <a:extLst xmlns:a="http://schemas.openxmlformats.org/drawingml/2006/main">
              <a:ext uri="{FF2B5EF4-FFF2-40B4-BE49-F238E27FC236}">
                <a16:creationId xmlns:a16="http://schemas.microsoft.com/office/drawing/2014/main" id="{30D9C5EE-6CA6-49BD-9211-52B2B46EE8C6}"/>
              </a:ext>
            </a:extLst>
          </p:cNvPr>
          <p:cNvSpPr>
            <a:spLocks xmlns:a="http://schemas.openxmlformats.org/drawingml/2006/main" noGrp="1"/>
          </p:cNvSpPr>
          <p:nvPr/>
        </p:nvSpPr>
        <p:spPr>
          <a:xfrm xmlns:a="http://schemas.openxmlformats.org/drawingml/2006/main">
            <a:off x="571500" y="4191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92536"/>
                </a:solidFill>
                <a:latin typeface="Arial"/>
                <a:ea typeface="Arial"/>
                <a:cs typeface="Arial"/>
              </a:defRPr>
            </a:pPr>
            <a:r>
              <a:rPr sz="3300" b="1">
                <a:solidFill>
                  <a:srgbClr val="092536"/>
                </a:solidFill>
                <a:latin typeface="Arial"/>
                <a:ea typeface="Arial"/>
                <a:cs typeface="Arial"/>
              </a:rPr>
              <a:t>AI javobi dalilga bog‘langan</a:t>
            </a:r>
          </a:p>
        </p:txBody>
      </p:sp>
      <p:sp>
        <p:nvSpPr>
          <p:cNvPr id="2" name="AniqTashxis AI">
            <a:extLst xmlns:a="http://schemas.openxmlformats.org/drawingml/2006/main">
              <a:ext uri="{FF2B5EF4-FFF2-40B4-BE49-F238E27FC236}">
                <a16:creationId xmlns:a16="http://schemas.microsoft.com/office/drawing/2014/main" id="{48F52993-E1C0-4EF4-A73F-C03EB67B1214}"/>
              </a:ext>
            </a:extLst>
          </p:cNvPr>
          <p:cNvSpPr>
            <a:spLocks xmlns:a="http://schemas.openxmlformats.org/drawingml/2006/main" noGrp="1"/>
          </p:cNvSpPr>
          <p:nvPr/>
        </p:nvSpPr>
        <p:spPr>
          <a:xfrm xmlns:a="http://schemas.openxmlformats.org/drawingml/2006/main">
            <a:off x="571500" y="64674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87582"/>
                </a:solidFill>
                <a:latin typeface="Arial"/>
                <a:ea typeface="Arial"/>
                <a:cs typeface="Arial"/>
              </a:defRPr>
            </a:pPr>
            <a:r>
              <a:rPr sz="1125" b="0">
                <a:solidFill>
                  <a:srgbClr val="587582"/>
                </a:solidFill>
                <a:latin typeface="Arial"/>
                <a:ea typeface="Arial"/>
                <a:cs typeface="Arial"/>
              </a:rPr>
              <a:t>AniqTashxis AI</a:t>
            </a:r>
          </a:p>
        </p:txBody>
      </p:sp>
      <p:sp>
        <p:nvSpPr>
          <p:cNvPr id="3" name="04">
            <a:extLst xmlns:a="http://schemas.openxmlformats.org/drawingml/2006/main">
              <a:ext uri="{FF2B5EF4-FFF2-40B4-BE49-F238E27FC236}">
                <a16:creationId xmlns:a16="http://schemas.microsoft.com/office/drawing/2014/main" id="{E56C48B2-8511-48EE-8E23-E91CFF681398}"/>
              </a:ext>
            </a:extLst>
          </p:cNvPr>
          <p:cNvSpPr>
            <a:spLocks xmlns:a="http://schemas.openxmlformats.org/drawingml/2006/main" noGrp="1"/>
          </p:cNvSpPr>
          <p:nvPr/>
        </p:nvSpPr>
        <p:spPr>
          <a:xfrm xmlns:a="http://schemas.openxmlformats.org/drawingml/2006/main">
            <a:off x="11049000" y="64484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87582"/>
                </a:solidFill>
                <a:latin typeface="Arial"/>
                <a:ea typeface="Arial"/>
                <a:cs typeface="Arial"/>
              </a:defRPr>
            </a:pPr>
            <a:r>
              <a:rPr sz="1200" b="0">
                <a:solidFill>
                  <a:srgbClr val="587582"/>
                </a:solidFill>
                <a:latin typeface="Arial"/>
                <a:ea typeface="Arial"/>
                <a:cs typeface="Arial"/>
              </a:rPr>
              <a:t>04</a:t>
            </a:r>
          </a:p>
        </p:txBody>
      </p:sp>
      <p:sp>
        <p:nvSpPr>
          <p:cNvPr id="4" name="MedGemma 4B">
            <a:extLst xmlns:a="http://schemas.openxmlformats.org/drawingml/2006/main">
              <a:ext uri="{FF2B5EF4-FFF2-40B4-BE49-F238E27FC236}">
                <a16:creationId xmlns:a16="http://schemas.microsoft.com/office/drawing/2014/main" id="{F4DC5ED7-D5A5-4B63-9A37-4668E95088B8}"/>
              </a:ext>
            </a:extLst>
          </p:cNvPr>
          <p:cNvSpPr>
            <a:spLocks xmlns:a="http://schemas.openxmlformats.org/drawingml/2006/main" noGrp="1"/>
          </p:cNvSpPr>
          <p:nvPr/>
        </p:nvSpPr>
        <p:spPr>
          <a:xfrm xmlns:a="http://schemas.openxmlformats.org/drawingml/2006/main">
            <a:off x="571500" y="1638300"/>
            <a:ext cx="3619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008B8B"/>
                </a:solidFill>
                <a:latin typeface="Arial"/>
                <a:ea typeface="Arial"/>
                <a:cs typeface="Arial"/>
              </a:defRPr>
            </a:pPr>
            <a:r>
              <a:rPr sz="2700" b="1">
                <a:solidFill>
                  <a:srgbClr val="008B8B"/>
                </a:solidFill>
                <a:latin typeface="Arial"/>
                <a:ea typeface="Arial"/>
                <a:cs typeface="Arial"/>
              </a:rPr>
              <a:t>MedGemma 4B</a:t>
            </a:r>
          </a:p>
        </p:txBody>
      </p:sp>
      <p:sp>
        <p:nvSpPr>
          <p:cNvPr id="5" name="Lokal model">
            <a:extLst xmlns:a="http://schemas.openxmlformats.org/drawingml/2006/main">
              <a:ext uri="{FF2B5EF4-FFF2-40B4-BE49-F238E27FC236}">
                <a16:creationId xmlns:a16="http://schemas.microsoft.com/office/drawing/2014/main" id="{8D14F0E7-77F2-4A35-8696-4A9FDFCE6137}"/>
              </a:ext>
            </a:extLst>
          </p:cNvPr>
          <p:cNvSpPr>
            <a:spLocks xmlns:a="http://schemas.openxmlformats.org/drawingml/2006/main" noGrp="1"/>
          </p:cNvSpPr>
          <p:nvPr/>
        </p:nvSpPr>
        <p:spPr>
          <a:xfrm xmlns:a="http://schemas.openxmlformats.org/drawingml/2006/main">
            <a:off x="571500" y="2143125"/>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5394B"/>
                </a:solidFill>
                <a:latin typeface="Arial"/>
                <a:ea typeface="Arial"/>
                <a:cs typeface="Arial"/>
              </a:defRPr>
            </a:pPr>
            <a:r>
              <a:rPr sz="2025" b="0">
                <a:solidFill>
                  <a:srgbClr val="15394B"/>
                </a:solidFill>
                <a:latin typeface="Arial"/>
                <a:ea typeface="Arial"/>
                <a:cs typeface="Arial"/>
              </a:rPr>
              <a:t>Lokal model</a:t>
            </a:r>
          </a:p>
        </p:txBody>
      </p:sp>
      <p:sp>
        <p:nvSpPr>
          <p:cNvPr id="6" name="">
            <a:extLst xmlns:a="http://schemas.openxmlformats.org/drawingml/2006/main">
              <a:ext uri="{FF2B5EF4-FFF2-40B4-BE49-F238E27FC236}">
                <a16:creationId xmlns:a16="http://schemas.microsoft.com/office/drawing/2014/main" id="{99CC886A-4A1E-498B-8171-ABC37E9F85AD}"/>
              </a:ext>
            </a:extLst>
          </p:cNvPr>
          <p:cNvSpPr>
            <a:spLocks xmlns:a="http://schemas.openxmlformats.org/drawingml/2006/main" noGrp="1"/>
          </p:cNvSpPr>
          <p:nvPr/>
        </p:nvSpPr>
        <p:spPr>
          <a:xfrm xmlns:a="http://schemas.openxmlformats.org/drawingml/2006/main">
            <a:off x="571500" y="2790825"/>
            <a:ext cx="2952750" cy="0"/>
          </a:xfrm>
          <a:prstGeom xmlns:a="http://schemas.openxmlformats.org/drawingml/2006/main" prst="line">
            <a:avLst/>
          </a:prstGeom>
          <a:noFill xmlns:a="http://schemas.openxmlformats.org/drawingml/2006/main"/>
          <a:ln xmlns:a="http://schemas.openxmlformats.org/drawingml/2006/main" w="9525">
            <a:solidFill>
              <a:srgbClr val="D4E2E4"/>
            </a:solidFill>
          </a:ln>
        </p:spPr>
      </p:sp>
      <p:sp>
        <p:nvSpPr>
          <p:cNvPr id="7" name="Tashxis va davolash&#10;alohida tekshiriladi">
            <a:extLst xmlns:a="http://schemas.openxmlformats.org/drawingml/2006/main">
              <a:ext uri="{FF2B5EF4-FFF2-40B4-BE49-F238E27FC236}">
                <a16:creationId xmlns:a16="http://schemas.microsoft.com/office/drawing/2014/main" id="{389F4AF0-D059-418D-A917-EBB3219959DC}"/>
              </a:ext>
            </a:extLst>
          </p:cNvPr>
          <p:cNvSpPr>
            <a:spLocks xmlns:a="http://schemas.openxmlformats.org/drawingml/2006/main" noGrp="1"/>
          </p:cNvSpPr>
          <p:nvPr/>
        </p:nvSpPr>
        <p:spPr>
          <a:xfrm xmlns:a="http://schemas.openxmlformats.org/drawingml/2006/main">
            <a:off x="571500" y="3095625"/>
            <a:ext cx="314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394B"/>
                </a:solidFill>
                <a:latin typeface="Arial"/>
                <a:ea typeface="Arial"/>
                <a:cs typeface="Arial"/>
              </a:defRPr>
            </a:pPr>
            <a:r>
              <a:rPr sz="2100" b="1">
                <a:solidFill>
                  <a:srgbClr val="15394B"/>
                </a:solidFill>
                <a:latin typeface="Arial"/>
                <a:ea typeface="Arial"/>
                <a:cs typeface="Arial"/>
              </a:rPr>
              <a:t>Tashxis va davolash</a:t>
            </a:r>
          </a:p>
          <a:p xmlns:a="http://schemas.openxmlformats.org/drawingml/2006/main">
            <a:pPr algn="l">
              <a:defRPr sz="2100" b="1">
                <a:solidFill>
                  <a:srgbClr val="15394B"/>
                </a:solidFill>
                <a:latin typeface="Arial"/>
                <a:ea typeface="Arial"/>
                <a:cs typeface="Arial"/>
              </a:defRPr>
            </a:pPr>
            <a:r>
              <a:rPr sz="2100" b="1">
                <a:solidFill>
                  <a:srgbClr val="15394B"/>
                </a:solidFill>
                <a:latin typeface="Arial"/>
                <a:ea typeface="Arial"/>
                <a:cs typeface="Arial"/>
              </a:rPr>
              <a:t>alohida tekshiriladi</a:t>
            </a:r>
          </a:p>
        </p:txBody>
      </p:sp>
      <p:sp>
        <p:nvSpPr>
          <p:cNvPr id="8" name="Yetishmagan ma’lumot&#10;va savollar ko‘rinadi">
            <a:extLst xmlns:a="http://schemas.openxmlformats.org/drawingml/2006/main">
              <a:ext uri="{FF2B5EF4-FFF2-40B4-BE49-F238E27FC236}">
                <a16:creationId xmlns:a16="http://schemas.microsoft.com/office/drawing/2014/main" id="{D10BFAA2-C3BA-4CF6-AA85-452305A99EF6}"/>
              </a:ext>
            </a:extLst>
          </p:cNvPr>
          <p:cNvSpPr>
            <a:spLocks xmlns:a="http://schemas.openxmlformats.org/drawingml/2006/main" noGrp="1"/>
          </p:cNvSpPr>
          <p:nvPr/>
        </p:nvSpPr>
        <p:spPr>
          <a:xfrm xmlns:a="http://schemas.openxmlformats.org/drawingml/2006/main">
            <a:off x="571500" y="4181475"/>
            <a:ext cx="314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87582"/>
                </a:solidFill>
                <a:latin typeface="Arial"/>
                <a:ea typeface="Arial"/>
                <a:cs typeface="Arial"/>
              </a:defRPr>
            </a:pPr>
            <a:r>
              <a:rPr sz="2025" b="0">
                <a:solidFill>
                  <a:srgbClr val="587582"/>
                </a:solidFill>
                <a:latin typeface="Arial"/>
                <a:ea typeface="Arial"/>
                <a:cs typeface="Arial"/>
              </a:rPr>
              <a:t>Yetishmagan ma’lumot</a:t>
            </a:r>
          </a:p>
          <a:p xmlns:a="http://schemas.openxmlformats.org/drawingml/2006/main">
            <a:pPr algn="l">
              <a:defRPr sz="2025" b="0">
                <a:solidFill>
                  <a:srgbClr val="587582"/>
                </a:solidFill>
                <a:latin typeface="Arial"/>
                <a:ea typeface="Arial"/>
                <a:cs typeface="Arial"/>
              </a:defRPr>
            </a:pPr>
            <a:r>
              <a:rPr sz="2025" b="0">
                <a:solidFill>
                  <a:srgbClr val="587582"/>
                </a:solidFill>
                <a:latin typeface="Arial"/>
                <a:ea typeface="Arial"/>
                <a:cs typeface="Arial"/>
              </a:rPr>
              <a:t>va savollar ko‘rinadi</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d5634eef049f4d42"/>
          <a:stretch xmlns:a="http://schemas.openxmlformats.org/drawingml/2006/main"/>
        </p:blipFill>
        <p:spPr>
          <a:xfrm xmlns:a="http://schemas.openxmlformats.org/drawingml/2006/main">
            <a:off x="4048125" y="2651081"/>
            <a:ext cx="7667625" cy="1784437"/>
          </a:xfrm>
          <a:prstGeom xmlns:a="http://schemas.openxmlformats.org/drawingml/2006/main" prst="rect">
            <a:avLst/>
          </a:prstGeom>
        </p:spPr>
      </p:pic>
      <p:sp>
        <p:nvSpPr>
          <p:cNvPr id="10" name="Saqlangan real javobdan parcha">
            <a:extLst xmlns:a="http://schemas.openxmlformats.org/drawingml/2006/main">
              <a:ext uri="{FF2B5EF4-FFF2-40B4-BE49-F238E27FC236}">
                <a16:creationId xmlns:a16="http://schemas.microsoft.com/office/drawing/2014/main" id="{B56C2924-3729-4EB3-9E20-9FB133641B4E}"/>
              </a:ext>
            </a:extLst>
          </p:cNvPr>
          <p:cNvSpPr>
            <a:spLocks xmlns:a="http://schemas.openxmlformats.org/drawingml/2006/main" noGrp="1"/>
          </p:cNvSpPr>
          <p:nvPr/>
        </p:nvSpPr>
        <p:spPr>
          <a:xfrm xmlns:a="http://schemas.openxmlformats.org/drawingml/2006/main">
            <a:off x="4048125" y="1743075"/>
            <a:ext cx="7667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87582"/>
                </a:solidFill>
                <a:latin typeface="Arial"/>
                <a:ea typeface="Arial"/>
                <a:cs typeface="Arial"/>
              </a:defRPr>
            </a:pPr>
            <a:r>
              <a:rPr sz="1800" b="0">
                <a:solidFill>
                  <a:srgbClr val="587582"/>
                </a:solidFill>
                <a:latin typeface="Arial"/>
                <a:ea typeface="Arial"/>
                <a:cs typeface="Arial"/>
              </a:rPr>
              <a:t>Saqlangan real javobdan parcha</a:t>
            </a:r>
          </a:p>
        </p:txBody>
      </p:sp>
      <p:sp>
        <p:nvSpPr>
          <p:cNvPr id="11" name="Haqiqiy sintetik demo. Mazmunni shifokor tekshir">
            <a:extLst xmlns:a="http://schemas.openxmlformats.org/drawingml/2006/main">
              <a:ext uri="{FF2B5EF4-FFF2-40B4-BE49-F238E27FC236}">
                <a16:creationId xmlns:a16="http://schemas.microsoft.com/office/drawing/2014/main" id="{70DF7069-A692-4761-A424-A4B5CC765AF3}"/>
              </a:ext>
            </a:extLst>
          </p:cNvPr>
          <p:cNvSpPr>
            <a:spLocks xmlns:a="http://schemas.openxmlformats.org/drawingml/2006/main" noGrp="1"/>
          </p:cNvSpPr>
          <p:nvPr/>
        </p:nvSpPr>
        <p:spPr>
          <a:xfrm xmlns:a="http://schemas.openxmlformats.org/drawingml/2006/main">
            <a:off x="571500" y="600075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946321"/>
                </a:solidFill>
                <a:latin typeface="Arial"/>
                <a:ea typeface="Arial"/>
                <a:cs typeface="Arial"/>
              </a:defRPr>
            </a:pPr>
            <a:r>
              <a:rPr sz="1500" b="0">
                <a:solidFill>
                  <a:srgbClr val="946321"/>
                </a:solidFill>
                <a:latin typeface="Arial"/>
                <a:ea typeface="Arial"/>
                <a:cs typeface="Arial"/>
              </a:rPr>
              <a:t>Haqiqiy sintetik demo. Mazmunni shifokor tekshiradi. Klinik aniqlik hali tasdiqlanmagan.</a:t>
            </a:r>
          </a:p>
        </p:txBody>
      </p:sp>
    </p:spTree>
    <p:extLst>
      <p:ext uri="{BB962C8B-B14F-4D97-AF65-F5344CB8AC3E}">
        <p14:creationId xmlns:p14="http://schemas.microsoft.com/office/powerpoint/2010/main" val="2144212072"/>
      </p:ext>
    </p:extLst>
  </p:cSld>
</p:sld>
</file>

<file path=ppt/slides/slide5.xml><?xml version="1.0" encoding="utf-8"?>
<p:sld xmlns:p="http://schemas.openxmlformats.org/presentationml/2006/main">
  <p:cSld>
    <p:bg>
      <p:bgPr>
        <a:solidFill xmlns:a="http://schemas.openxmlformats.org/drawingml/2006/main">
          <a:srgbClr val="092536"/>
        </a:solidFill>
      </p:bgPr>
    </p:bg>
    <p:spTree>
      <p:nvGrpSpPr>
        <p:cNvPr id="1" name=""/>
        <p:cNvGrpSpPr/>
        <p:nvPr/>
      </p:nvGrpSpPr>
      <p:grpSpPr>
        <a:xfrm xmlns:a="http://schemas.openxmlformats.org/drawingml/2006/main"/>
      </p:grpSpPr>
      <p:sp>
        <p:nvSpPr>
          <p:cNvPr id="9" name="DICOM tasvir va radiolog xulosasi">
            <a:extLst xmlns:a="http://schemas.openxmlformats.org/drawingml/2006/main">
              <a:ext uri="{FF2B5EF4-FFF2-40B4-BE49-F238E27FC236}">
                <a16:creationId xmlns:a16="http://schemas.microsoft.com/office/drawing/2014/main" id="{4A2D3577-6289-4540-B9CE-16EF2B8A36FD}"/>
              </a:ext>
            </a:extLst>
          </p:cNvPr>
          <p:cNvSpPr>
            <a:spLocks xmlns:a="http://schemas.openxmlformats.org/drawingml/2006/main" noGrp="1"/>
          </p:cNvSpPr>
          <p:nvPr/>
        </p:nvSpPr>
        <p:spPr>
          <a:xfrm xmlns:a="http://schemas.openxmlformats.org/drawingml/2006/main">
            <a:off x="571500" y="4191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DICOM tasvir va radiolog xulosasi</a:t>
            </a:r>
          </a:p>
        </p:txBody>
      </p:sp>
      <p:sp>
        <p:nvSpPr>
          <p:cNvPr id="2" name="AniqTashxis AI">
            <a:extLst xmlns:a="http://schemas.openxmlformats.org/drawingml/2006/main">
              <a:ext uri="{FF2B5EF4-FFF2-40B4-BE49-F238E27FC236}">
                <a16:creationId xmlns:a16="http://schemas.microsoft.com/office/drawing/2014/main" id="{74482B57-4893-43BE-996B-D4544B8E4262}"/>
              </a:ext>
            </a:extLst>
          </p:cNvPr>
          <p:cNvSpPr>
            <a:spLocks xmlns:a="http://schemas.openxmlformats.org/drawingml/2006/main" noGrp="1"/>
          </p:cNvSpPr>
          <p:nvPr/>
        </p:nvSpPr>
        <p:spPr>
          <a:xfrm xmlns:a="http://schemas.openxmlformats.org/drawingml/2006/main">
            <a:off x="571500" y="64674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A6C0CB"/>
                </a:solidFill>
                <a:latin typeface="Arial"/>
                <a:ea typeface="Arial"/>
                <a:cs typeface="Arial"/>
              </a:defRPr>
            </a:pPr>
            <a:r>
              <a:rPr sz="1125" b="0">
                <a:solidFill>
                  <a:srgbClr val="A6C0CB"/>
                </a:solidFill>
                <a:latin typeface="Arial"/>
                <a:ea typeface="Arial"/>
                <a:cs typeface="Arial"/>
              </a:rPr>
              <a:t>AniqTashxis AI</a:t>
            </a:r>
          </a:p>
        </p:txBody>
      </p:sp>
      <p:sp>
        <p:nvSpPr>
          <p:cNvPr id="3" name="05">
            <a:extLst xmlns:a="http://schemas.openxmlformats.org/drawingml/2006/main">
              <a:ext uri="{FF2B5EF4-FFF2-40B4-BE49-F238E27FC236}">
                <a16:creationId xmlns:a16="http://schemas.microsoft.com/office/drawing/2014/main" id="{281C5F98-6AB8-467B-9DCC-88D1D2F0D5C1}"/>
              </a:ext>
            </a:extLst>
          </p:cNvPr>
          <p:cNvSpPr>
            <a:spLocks xmlns:a="http://schemas.openxmlformats.org/drawingml/2006/main" noGrp="1"/>
          </p:cNvSpPr>
          <p:nvPr/>
        </p:nvSpPr>
        <p:spPr>
          <a:xfrm xmlns:a="http://schemas.openxmlformats.org/drawingml/2006/main">
            <a:off x="11049000" y="64484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6C0CB"/>
                </a:solidFill>
                <a:latin typeface="Arial"/>
                <a:ea typeface="Arial"/>
                <a:cs typeface="Arial"/>
              </a:defRPr>
            </a:pPr>
            <a:r>
              <a:rPr sz="1200" b="0">
                <a:solidFill>
                  <a:srgbClr val="A6C0CB"/>
                </a:solidFill>
                <a:latin typeface="Arial"/>
                <a:ea typeface="Arial"/>
                <a:cs typeface="Arial"/>
              </a:rPr>
              <a:t>05</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fd0a15c7dcb43f4"/>
          <a:stretch xmlns:a="http://schemas.openxmlformats.org/drawingml/2006/main"/>
        </p:blipFill>
        <p:spPr>
          <a:xfrm xmlns:a="http://schemas.openxmlformats.org/drawingml/2006/main">
            <a:off x="793022" y="1409700"/>
            <a:ext cx="7129331" cy="4933950"/>
          </a:xfrm>
          <a:prstGeom xmlns:a="http://schemas.openxmlformats.org/drawingml/2006/main" prst="rect">
            <a:avLst/>
          </a:prstGeom>
        </p:spPr>
      </p:pic>
      <p:sp>
        <p:nvSpPr>
          <p:cNvPr id="5" name="4 / 12">
            <a:extLst xmlns:a="http://schemas.openxmlformats.org/drawingml/2006/main">
              <a:ext uri="{FF2B5EF4-FFF2-40B4-BE49-F238E27FC236}">
                <a16:creationId xmlns:a16="http://schemas.microsoft.com/office/drawing/2014/main" id="{70757E8E-38AF-48E3-ABD5-0B6862604C34}"/>
              </a:ext>
            </a:extLst>
          </p:cNvPr>
          <p:cNvSpPr>
            <a:spLocks xmlns:a="http://schemas.openxmlformats.org/drawingml/2006/main" noGrp="1"/>
          </p:cNvSpPr>
          <p:nvPr/>
        </p:nvSpPr>
        <p:spPr>
          <a:xfrm xmlns:a="http://schemas.openxmlformats.org/drawingml/2006/main">
            <a:off x="8667750" y="1619250"/>
            <a:ext cx="295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550" b="1">
                <a:solidFill>
                  <a:srgbClr val="6AE5CB"/>
                </a:solidFill>
                <a:latin typeface="Arial"/>
                <a:ea typeface="Arial"/>
                <a:cs typeface="Arial"/>
              </a:defRPr>
            </a:pPr>
            <a:r>
              <a:rPr sz="5550" b="1">
                <a:solidFill>
                  <a:srgbClr val="6AE5CB"/>
                </a:solidFill>
                <a:latin typeface="Arial"/>
                <a:ea typeface="Arial"/>
                <a:cs typeface="Arial"/>
              </a:rPr>
              <a:t>4 / 12</a:t>
            </a:r>
          </a:p>
        </p:txBody>
      </p:sp>
      <p:sp>
        <p:nvSpPr>
          <p:cNvPr id="6" name="sinovda ko‘rilgan kadr">
            <a:extLst xmlns:a="http://schemas.openxmlformats.org/drawingml/2006/main">
              <a:ext uri="{FF2B5EF4-FFF2-40B4-BE49-F238E27FC236}">
                <a16:creationId xmlns:a16="http://schemas.microsoft.com/office/drawing/2014/main" id="{C88D499C-F960-4AF9-B3E4-96CB6728FE75}"/>
              </a:ext>
            </a:extLst>
          </p:cNvPr>
          <p:cNvSpPr>
            <a:spLocks xmlns:a="http://schemas.openxmlformats.org/drawingml/2006/main" noGrp="1"/>
          </p:cNvSpPr>
          <p:nvPr/>
        </p:nvSpPr>
        <p:spPr>
          <a:xfrm xmlns:a="http://schemas.openxmlformats.org/drawingml/2006/main">
            <a:off x="8705850" y="262890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sinovda ko‘rilgan kadr</a:t>
            </a:r>
          </a:p>
        </p:txBody>
      </p:sp>
      <p:sp>
        <p:nvSpPr>
          <p:cNvPr id="7" name="ZIP yuklash&#10;Seriya va kesim&#10;Xulosa bilan solisht">
            <a:extLst xmlns:a="http://schemas.openxmlformats.org/drawingml/2006/main">
              <a:ext uri="{FF2B5EF4-FFF2-40B4-BE49-F238E27FC236}">
                <a16:creationId xmlns:a16="http://schemas.microsoft.com/office/drawing/2014/main" id="{4C2CD265-567E-4756-A4B7-BD5BFB9D123B}"/>
              </a:ext>
            </a:extLst>
          </p:cNvPr>
          <p:cNvSpPr>
            <a:spLocks xmlns:a="http://schemas.openxmlformats.org/drawingml/2006/main" noGrp="1"/>
          </p:cNvSpPr>
          <p:nvPr/>
        </p:nvSpPr>
        <p:spPr>
          <a:xfrm xmlns:a="http://schemas.openxmlformats.org/drawingml/2006/main">
            <a:off x="8705850" y="3571875"/>
            <a:ext cx="28956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D4E6E9"/>
                </a:solidFill>
                <a:latin typeface="Arial"/>
                <a:ea typeface="Arial"/>
                <a:cs typeface="Arial"/>
              </a:defRPr>
            </a:pPr>
            <a:r>
              <a:rPr sz="2025" b="0">
                <a:solidFill>
                  <a:srgbClr val="D4E6E9"/>
                </a:solidFill>
                <a:latin typeface="Arial"/>
                <a:ea typeface="Arial"/>
                <a:cs typeface="Arial"/>
              </a:rPr>
              <a:t>ZIP yuklash</a:t>
            </a:r>
          </a:p>
          <a:p xmlns:a="http://schemas.openxmlformats.org/drawingml/2006/main">
            <a:pPr algn="l">
              <a:defRPr sz="2025" b="0">
                <a:solidFill>
                  <a:srgbClr val="D4E6E9"/>
                </a:solidFill>
                <a:latin typeface="Arial"/>
                <a:ea typeface="Arial"/>
                <a:cs typeface="Arial"/>
              </a:defRPr>
            </a:pPr>
            <a:r>
              <a:rPr sz="2025" b="0">
                <a:solidFill>
                  <a:srgbClr val="D4E6E9"/>
                </a:solidFill>
                <a:latin typeface="Arial"/>
                <a:ea typeface="Arial"/>
                <a:cs typeface="Arial"/>
              </a:rPr>
              <a:t>Seriya va kesim</a:t>
            </a:r>
          </a:p>
          <a:p xmlns:a="http://schemas.openxmlformats.org/drawingml/2006/main">
            <a:pPr algn="l">
              <a:defRPr sz="2025" b="0">
                <a:solidFill>
                  <a:srgbClr val="D4E6E9"/>
                </a:solidFill>
                <a:latin typeface="Arial"/>
                <a:ea typeface="Arial"/>
                <a:cs typeface="Arial"/>
              </a:defRPr>
            </a:pPr>
            <a:r>
              <a:rPr sz="2025" b="0">
                <a:solidFill>
                  <a:srgbClr val="D4E6E9"/>
                </a:solidFill>
                <a:latin typeface="Arial"/>
                <a:ea typeface="Arial"/>
                <a:cs typeface="Arial"/>
              </a:rPr>
              <a:t>Xulosa bilan solishtirish</a:t>
            </a:r>
          </a:p>
        </p:txBody>
      </p:sp>
      <p:sp>
        <p:nvSpPr>
          <p:cNvPr id="8" name="Sintetik fantom.&#10;Tanlangan kadrlar tahlili,&#10;to‘l">
            <a:extLst xmlns:a="http://schemas.openxmlformats.org/drawingml/2006/main">
              <a:ext uri="{FF2B5EF4-FFF2-40B4-BE49-F238E27FC236}">
                <a16:creationId xmlns:a16="http://schemas.microsoft.com/office/drawing/2014/main" id="{5359DBC6-0F69-46DE-9242-7E358EBC84E5}"/>
              </a:ext>
            </a:extLst>
          </p:cNvPr>
          <p:cNvSpPr>
            <a:spLocks xmlns:a="http://schemas.openxmlformats.org/drawingml/2006/main" noGrp="1"/>
          </p:cNvSpPr>
          <p:nvPr/>
        </p:nvSpPr>
        <p:spPr>
          <a:xfrm xmlns:a="http://schemas.openxmlformats.org/drawingml/2006/main">
            <a:off x="8705850" y="5324475"/>
            <a:ext cx="2905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C4D8DF"/>
                </a:solidFill>
                <a:latin typeface="Arial"/>
                <a:ea typeface="Arial"/>
                <a:cs typeface="Arial"/>
              </a:defRPr>
            </a:pPr>
            <a:r>
              <a:rPr sz="1500" b="0">
                <a:solidFill>
                  <a:srgbClr val="C4D8DF"/>
                </a:solidFill>
                <a:latin typeface="Arial"/>
                <a:ea typeface="Arial"/>
                <a:cs typeface="Arial"/>
              </a:rPr>
              <a:t>Sintetik fantom.</a:t>
            </a:r>
          </a:p>
          <a:p xmlns:a="http://schemas.openxmlformats.org/drawingml/2006/main">
            <a:pPr algn="l">
              <a:defRPr sz="1500" b="0">
                <a:solidFill>
                  <a:srgbClr val="C4D8DF"/>
                </a:solidFill>
                <a:latin typeface="Arial"/>
                <a:ea typeface="Arial"/>
                <a:cs typeface="Arial"/>
              </a:defRPr>
            </a:pPr>
            <a:r>
              <a:rPr sz="1500" b="0">
                <a:solidFill>
                  <a:srgbClr val="C4D8DF"/>
                </a:solidFill>
                <a:latin typeface="Arial"/>
                <a:ea typeface="Arial"/>
                <a:cs typeface="Arial"/>
              </a:rPr>
              <a:t>Tanlangan kadrlar tahlili,</a:t>
            </a:r>
          </a:p>
          <a:p xmlns:a="http://schemas.openxmlformats.org/drawingml/2006/main">
            <a:pPr algn="l">
              <a:defRPr sz="1500" b="0">
                <a:solidFill>
                  <a:srgbClr val="C4D8DF"/>
                </a:solidFill>
                <a:latin typeface="Arial"/>
                <a:ea typeface="Arial"/>
                <a:cs typeface="Arial"/>
              </a:defRPr>
            </a:pPr>
            <a:r>
              <a:rPr sz="1500" b="0">
                <a:solidFill>
                  <a:srgbClr val="C4D8DF"/>
                </a:solidFill>
                <a:latin typeface="Arial"/>
                <a:ea typeface="Arial"/>
                <a:cs typeface="Arial"/>
              </a:rPr>
              <a:t>to‘liq 3D skan emas.</a:t>
            </a:r>
          </a:p>
        </p:txBody>
      </p:sp>
    </p:spTree>
    <p:extLst>
      <p:ext uri="{BB962C8B-B14F-4D97-AF65-F5344CB8AC3E}">
        <p14:creationId xmlns:p14="http://schemas.microsoft.com/office/powerpoint/2010/main" val="648741768"/>
      </p:ext>
    </p:extLst>
  </p:cSld>
</p:sld>
</file>

<file path=ppt/slides/slide6.xml><?xml version="1.0" encoding="utf-8"?>
<p:sld xmlns:p="http://schemas.openxmlformats.org/presentationml/2006/main">
  <p:cSld>
    <p:bg>
      <p:bgPr>
        <a:solidFill xmlns:a="http://schemas.openxmlformats.org/drawingml/2006/main">
          <a:srgbClr val="F3F8F7"/>
        </a:solidFill>
      </p:bgPr>
    </p:bg>
    <p:spTree>
      <p:nvGrpSpPr>
        <p:cNvPr id="1" name=""/>
        <p:cNvGrpSpPr/>
        <p:nvPr/>
      </p:nvGrpSpPr>
      <p:grpSpPr>
        <a:xfrm xmlns:a="http://schemas.openxmlformats.org/drawingml/2006/main"/>
      </p:grpSpPr>
      <p:sp>
        <p:nvSpPr>
          <p:cNvPr id="8" name="Obuna orqali sotuv">
            <a:extLst xmlns:a="http://schemas.openxmlformats.org/drawingml/2006/main">
              <a:ext uri="{FF2B5EF4-FFF2-40B4-BE49-F238E27FC236}">
                <a16:creationId xmlns:a16="http://schemas.microsoft.com/office/drawing/2014/main" id="{D5EA6126-E8C0-4DB9-B0AB-117F29EE359F}"/>
              </a:ext>
            </a:extLst>
          </p:cNvPr>
          <p:cNvSpPr>
            <a:spLocks xmlns:a="http://schemas.openxmlformats.org/drawingml/2006/main" noGrp="1"/>
          </p:cNvSpPr>
          <p:nvPr/>
        </p:nvSpPr>
        <p:spPr>
          <a:xfrm xmlns:a="http://schemas.openxmlformats.org/drawingml/2006/main">
            <a:off x="571500" y="4191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92536"/>
                </a:solidFill>
                <a:latin typeface="Arial"/>
                <a:ea typeface="Arial"/>
                <a:cs typeface="Arial"/>
              </a:defRPr>
            </a:pPr>
            <a:r>
              <a:rPr sz="3300" b="1">
                <a:solidFill>
                  <a:srgbClr val="092536"/>
                </a:solidFill>
                <a:latin typeface="Arial"/>
                <a:ea typeface="Arial"/>
                <a:cs typeface="Arial"/>
              </a:rPr>
              <a:t>Obuna orqali sotuv</a:t>
            </a:r>
          </a:p>
        </p:txBody>
      </p:sp>
      <p:sp>
        <p:nvSpPr>
          <p:cNvPr id="2" name="AniqTashxis AI">
            <a:extLst xmlns:a="http://schemas.openxmlformats.org/drawingml/2006/main">
              <a:ext uri="{FF2B5EF4-FFF2-40B4-BE49-F238E27FC236}">
                <a16:creationId xmlns:a16="http://schemas.microsoft.com/office/drawing/2014/main" id="{A703B3C4-1900-4312-8CE7-1BEF56413815}"/>
              </a:ext>
            </a:extLst>
          </p:cNvPr>
          <p:cNvSpPr>
            <a:spLocks xmlns:a="http://schemas.openxmlformats.org/drawingml/2006/main" noGrp="1"/>
          </p:cNvSpPr>
          <p:nvPr/>
        </p:nvSpPr>
        <p:spPr>
          <a:xfrm xmlns:a="http://schemas.openxmlformats.org/drawingml/2006/main">
            <a:off x="571500" y="64674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87582"/>
                </a:solidFill>
                <a:latin typeface="Arial"/>
                <a:ea typeface="Arial"/>
                <a:cs typeface="Arial"/>
              </a:defRPr>
            </a:pPr>
            <a:r>
              <a:rPr sz="1125" b="0">
                <a:solidFill>
                  <a:srgbClr val="587582"/>
                </a:solidFill>
                <a:latin typeface="Arial"/>
                <a:ea typeface="Arial"/>
                <a:cs typeface="Arial"/>
              </a:rPr>
              <a:t>AniqTashxis AI</a:t>
            </a:r>
          </a:p>
        </p:txBody>
      </p:sp>
      <p:sp>
        <p:nvSpPr>
          <p:cNvPr id="3" name="06">
            <a:extLst xmlns:a="http://schemas.openxmlformats.org/drawingml/2006/main">
              <a:ext uri="{FF2B5EF4-FFF2-40B4-BE49-F238E27FC236}">
                <a16:creationId xmlns:a16="http://schemas.microsoft.com/office/drawing/2014/main" id="{20467141-4ADF-4750-9F80-ADB386D56929}"/>
              </a:ext>
            </a:extLst>
          </p:cNvPr>
          <p:cNvSpPr>
            <a:spLocks xmlns:a="http://schemas.openxmlformats.org/drawingml/2006/main" noGrp="1"/>
          </p:cNvSpPr>
          <p:nvPr/>
        </p:nvSpPr>
        <p:spPr>
          <a:xfrm xmlns:a="http://schemas.openxmlformats.org/drawingml/2006/main">
            <a:off x="11049000" y="64484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87582"/>
                </a:solidFill>
                <a:latin typeface="Arial"/>
                <a:ea typeface="Arial"/>
                <a:cs typeface="Arial"/>
              </a:defRPr>
            </a:pPr>
            <a:r>
              <a:rPr sz="1200" b="0">
                <a:solidFill>
                  <a:srgbClr val="587582"/>
                </a:solidFill>
                <a:latin typeface="Arial"/>
                <a:ea typeface="Arial"/>
                <a:cs typeface="Arial"/>
              </a:rPr>
              <a:t>06</a:t>
            </a:r>
          </a:p>
        </p:txBody>
      </p:sp>
      <p:graphicFrame>
        <p:nvGraphicFramePr>
          <p:cNvPr id="11" name=""/>
          <p:cNvGraphicFramePr/>
          <p:nvPr/>
        </p:nvGraphicFramePr>
        <p:xfrm>
          <a:off xmlns:a="http://schemas.openxmlformats.org/drawingml/2006/main" x="571500" y="1552575"/>
          <a:ext xmlns:a="http://schemas.openxmlformats.org/drawingml/2006/main" cx="11049000" cy="2819400"/>
        </p:xfrm>
        <a:graphic xmlns:a="http://schemas.openxmlformats.org/drawingml/2006/main">
          <a:graphicData uri="http://schemas.openxmlformats.org/drawingml/2006/table">
            <a:tbl>
              <a:tblPr/>
              <a:tblGrid>
                <a:gridCol w="3524250"/>
                <a:gridCol w="4286250"/>
                <a:gridCol w="3238500"/>
              </a:tblGrid>
              <a:tr h="704850">
                <a:tc>
                  <a:txBody>
                    <a:bodyPr/>
                    <a:lstStyle/>
                    <a:p>
                      <a:r>
                        <a:rPr sz="2250" b="1">
                          <a:solidFill>
                            <a:srgbClr val="FFFFFF"/>
                          </a:solidFill>
                          <a:latin typeface="Arial"/>
                          <a:ea typeface="Arial"/>
                          <a:cs typeface="Arial"/>
                        </a:rPr>
                        <a:t>Tarif</a:t>
                      </a:r>
                    </a:p>
                  </a:txBody>
                  <a:tcPr marL="152400" marR="133350" marT="114300" marB="95250" anchor="ctr">
                    <a:solidFill>
                      <a:srgbClr val="092536"/>
                    </a:solidFill>
                  </a:tcPr>
                </a:tc>
                <a:tc>
                  <a:txBody>
                    <a:bodyPr/>
                    <a:lstStyle/>
                    <a:p>
                      <a:r>
                        <a:rPr sz="2250" b="1">
                          <a:solidFill>
                            <a:srgbClr val="FFFFFF"/>
                          </a:solidFill>
                          <a:latin typeface="Arial"/>
                          <a:ea typeface="Arial"/>
                          <a:cs typeface="Arial"/>
                        </a:rPr>
                        <a:t>Bir oy</a:t>
                      </a:r>
                    </a:p>
                  </a:txBody>
                  <a:tcPr marL="152400" marR="133350" marT="114300" marB="95250" anchor="ctr">
                    <a:solidFill>
                      <a:srgbClr val="092536"/>
                    </a:solidFill>
                  </a:tcPr>
                </a:tc>
                <a:tc>
                  <a:txBody>
                    <a:bodyPr/>
                    <a:lstStyle/>
                    <a:p>
                      <a:r>
                        <a:rPr sz="2250" b="1">
                          <a:solidFill>
                            <a:srgbClr val="FFFFFF"/>
                          </a:solidFill>
                          <a:latin typeface="Arial"/>
                          <a:ea typeface="Arial"/>
                          <a:cs typeface="Arial"/>
                        </a:rPr>
                        <a:t>Shifokorlar</a:t>
                      </a:r>
                    </a:p>
                  </a:txBody>
                  <a:tcPr marL="152400" marR="133350" marT="114300" marB="95250" anchor="ctr">
                    <a:solidFill>
                      <a:srgbClr val="092536"/>
                    </a:solidFill>
                  </a:tcPr>
                </a:tc>
              </a:tr>
              <a:tr h="704850">
                <a:tc>
                  <a:txBody>
                    <a:bodyPr/>
                    <a:lstStyle/>
                    <a:p>
                      <a:r>
                        <a:rPr sz="2250">
                          <a:solidFill>
                            <a:srgbClr val="15394B"/>
                          </a:solidFill>
                          <a:latin typeface="Arial"/>
                          <a:ea typeface="Arial"/>
                          <a:cs typeface="Arial"/>
                        </a:rPr>
                        <a:t>Doctor</a:t>
                      </a:r>
                    </a:p>
                  </a:txBody>
                  <a:tcPr marL="152400" marR="133350" marT="114300" marB="95250" anchor="ctr">
                    <a:solidFill>
                      <a:srgbClr val="FFFFFF"/>
                    </a:solidFill>
                  </a:tcPr>
                </a:tc>
                <a:tc>
                  <a:txBody>
                    <a:bodyPr/>
                    <a:lstStyle/>
                    <a:p>
                      <a:r>
                        <a:rPr sz="2250">
                          <a:solidFill>
                            <a:srgbClr val="15394B"/>
                          </a:solidFill>
                          <a:latin typeface="Arial"/>
                          <a:ea typeface="Arial"/>
                          <a:cs typeface="Arial"/>
                        </a:rPr>
                        <a:t>150 000 so‘m</a:t>
                      </a:r>
                    </a:p>
                  </a:txBody>
                  <a:tcPr marL="152400" marR="133350" marT="114300" marB="95250" anchor="ctr">
                    <a:solidFill>
                      <a:srgbClr val="FFFFFF"/>
                    </a:solidFill>
                  </a:tcPr>
                </a:tc>
                <a:tc>
                  <a:txBody>
                    <a:bodyPr/>
                    <a:lstStyle/>
                    <a:p>
                      <a:r>
                        <a:rPr sz="2250">
                          <a:solidFill>
                            <a:srgbClr val="15394B"/>
                          </a:solidFill>
                          <a:latin typeface="Arial"/>
                          <a:ea typeface="Arial"/>
                          <a:cs typeface="Arial"/>
                        </a:rPr>
                        <a:t>1</a:t>
                      </a:r>
                    </a:p>
                  </a:txBody>
                  <a:tcPr marL="152400" marR="133350" marT="114300" marB="95250" anchor="ctr">
                    <a:solidFill>
                      <a:srgbClr val="FFFFFF"/>
                    </a:solidFill>
                  </a:tcPr>
                </a:tc>
              </a:tr>
              <a:tr h="704850">
                <a:tc>
                  <a:txBody>
                    <a:bodyPr/>
                    <a:lstStyle/>
                    <a:p>
                      <a:r>
                        <a:rPr sz="2250">
                          <a:solidFill>
                            <a:srgbClr val="15394B"/>
                          </a:solidFill>
                          <a:latin typeface="Arial"/>
                          <a:ea typeface="Arial"/>
                          <a:cs typeface="Arial"/>
                        </a:rPr>
                        <a:t>Clinic 10</a:t>
                      </a:r>
                    </a:p>
                  </a:txBody>
                  <a:tcPr marL="152400" marR="133350" marT="114300" marB="95250" anchor="ctr">
                    <a:solidFill>
                      <a:srgbClr val="FFFFFF"/>
                    </a:solidFill>
                  </a:tcPr>
                </a:tc>
                <a:tc>
                  <a:txBody>
                    <a:bodyPr/>
                    <a:lstStyle/>
                    <a:p>
                      <a:r>
                        <a:rPr sz="2250">
                          <a:solidFill>
                            <a:srgbClr val="15394B"/>
                          </a:solidFill>
                          <a:latin typeface="Arial"/>
                          <a:ea typeface="Arial"/>
                          <a:cs typeface="Arial"/>
                        </a:rPr>
                        <a:t>1 390 000 so‘m</a:t>
                      </a:r>
                    </a:p>
                  </a:txBody>
                  <a:tcPr marL="152400" marR="133350" marT="114300" marB="95250" anchor="ctr">
                    <a:solidFill>
                      <a:srgbClr val="FFFFFF"/>
                    </a:solidFill>
                  </a:tcPr>
                </a:tc>
                <a:tc>
                  <a:txBody>
                    <a:bodyPr/>
                    <a:lstStyle/>
                    <a:p>
                      <a:r>
                        <a:rPr sz="2250">
                          <a:solidFill>
                            <a:srgbClr val="15394B"/>
                          </a:solidFill>
                          <a:latin typeface="Arial"/>
                          <a:ea typeface="Arial"/>
                          <a:cs typeface="Arial"/>
                        </a:rPr>
                        <a:t>10 tagacha</a:t>
                      </a:r>
                    </a:p>
                  </a:txBody>
                  <a:tcPr marL="152400" marR="133350" marT="114300" marB="95250" anchor="ctr">
                    <a:solidFill>
                      <a:srgbClr val="FFFFFF"/>
                    </a:solidFill>
                  </a:tcPr>
                </a:tc>
              </a:tr>
              <a:tr h="704850">
                <a:tc>
                  <a:txBody>
                    <a:bodyPr/>
                    <a:lstStyle/>
                    <a:p>
                      <a:r>
                        <a:rPr sz="2250">
                          <a:solidFill>
                            <a:srgbClr val="15394B"/>
                          </a:solidFill>
                          <a:latin typeface="Arial"/>
                          <a:ea typeface="Arial"/>
                          <a:cs typeface="Arial"/>
                        </a:rPr>
                        <a:t>Clinic 25</a:t>
                      </a:r>
                    </a:p>
                  </a:txBody>
                  <a:tcPr marL="152400" marR="133350" marT="114300" marB="95250" anchor="ctr">
                    <a:solidFill>
                      <a:srgbClr val="FFFFFF"/>
                    </a:solidFill>
                  </a:tcPr>
                </a:tc>
                <a:tc>
                  <a:txBody>
                    <a:bodyPr/>
                    <a:lstStyle/>
                    <a:p>
                      <a:r>
                        <a:rPr sz="2250">
                          <a:solidFill>
                            <a:srgbClr val="15394B"/>
                          </a:solidFill>
                          <a:latin typeface="Arial"/>
                          <a:ea typeface="Arial"/>
                          <a:cs typeface="Arial"/>
                        </a:rPr>
                        <a:t>2 390 000 so‘m</a:t>
                      </a:r>
                    </a:p>
                  </a:txBody>
                  <a:tcPr marL="152400" marR="133350" marT="114300" marB="95250" anchor="ctr">
                    <a:solidFill>
                      <a:srgbClr val="FFFFFF"/>
                    </a:solidFill>
                  </a:tcPr>
                </a:tc>
                <a:tc>
                  <a:txBody>
                    <a:bodyPr/>
                    <a:lstStyle/>
                    <a:p>
                      <a:r>
                        <a:rPr sz="2250">
                          <a:solidFill>
                            <a:srgbClr val="15394B"/>
                          </a:solidFill>
                          <a:latin typeface="Arial"/>
                          <a:ea typeface="Arial"/>
                          <a:cs typeface="Arial"/>
                        </a:rPr>
                        <a:t>25 tagacha</a:t>
                      </a:r>
                    </a:p>
                  </a:txBody>
                  <a:tcPr marL="152400" marR="133350" marT="114300" marB="95250" anchor="ctr">
                    <a:solidFill>
                      <a:srgbClr val="FFFFFF"/>
                    </a:solidFill>
                  </a:tcPr>
                </a:tc>
              </a:tr>
            </a:tbl>
          </a:graphicData>
        </a:graphic>
      </p:graphicFrame>
      <p:sp>
        <p:nvSpPr>
          <p:cNvPr id="5" name="Katta klinika">
            <a:extLst xmlns:a="http://schemas.openxmlformats.org/drawingml/2006/main">
              <a:ext uri="{FF2B5EF4-FFF2-40B4-BE49-F238E27FC236}">
                <a16:creationId xmlns:a16="http://schemas.microsoft.com/office/drawing/2014/main" id="{5BD3170E-B96D-45F6-AD6A-28CB8D1D59F2}"/>
              </a:ext>
            </a:extLst>
          </p:cNvPr>
          <p:cNvSpPr>
            <a:spLocks xmlns:a="http://schemas.openxmlformats.org/drawingml/2006/main" noGrp="1"/>
          </p:cNvSpPr>
          <p:nvPr/>
        </p:nvSpPr>
        <p:spPr>
          <a:xfrm xmlns:a="http://schemas.openxmlformats.org/drawingml/2006/main">
            <a:off x="571500" y="4762500"/>
            <a:ext cx="3190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8B8B"/>
                </a:solidFill>
                <a:latin typeface="Arial"/>
                <a:ea typeface="Arial"/>
                <a:cs typeface="Arial"/>
              </a:defRPr>
            </a:pPr>
            <a:r>
              <a:rPr sz="2175" b="1">
                <a:solidFill>
                  <a:srgbClr val="008B8B"/>
                </a:solidFill>
                <a:latin typeface="Arial"/>
                <a:ea typeface="Arial"/>
                <a:cs typeface="Arial"/>
              </a:rPr>
              <a:t>Katta klinika</a:t>
            </a:r>
          </a:p>
        </p:txBody>
      </p:sp>
      <p:sp>
        <p:nvSpPr>
          <p:cNvPr id="6" name="Individual narx: @avilab_uz_support">
            <a:extLst xmlns:a="http://schemas.openxmlformats.org/drawingml/2006/main">
              <a:ext uri="{FF2B5EF4-FFF2-40B4-BE49-F238E27FC236}">
                <a16:creationId xmlns:a16="http://schemas.microsoft.com/office/drawing/2014/main" id="{BAB5DA90-40CD-4153-AF7B-3F2CBAFD445C}"/>
              </a:ext>
            </a:extLst>
          </p:cNvPr>
          <p:cNvSpPr>
            <a:spLocks xmlns:a="http://schemas.openxmlformats.org/drawingml/2006/main" noGrp="1"/>
          </p:cNvSpPr>
          <p:nvPr/>
        </p:nvSpPr>
        <p:spPr>
          <a:xfrm xmlns:a="http://schemas.openxmlformats.org/drawingml/2006/main">
            <a:off x="3905250" y="4781550"/>
            <a:ext cx="7572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5394B"/>
                </a:solidFill>
                <a:latin typeface="Arial"/>
                <a:ea typeface="Arial"/>
                <a:cs typeface="Arial"/>
              </a:defRPr>
            </a:pPr>
            <a:r>
              <a:rPr sz="2100" b="0">
                <a:solidFill>
                  <a:srgbClr val="15394B"/>
                </a:solidFill>
                <a:latin typeface="Arial"/>
                <a:ea typeface="Arial"/>
                <a:cs typeface="Arial"/>
              </a:rPr>
              <a:t>Individual narx: @avilab_uz_support</a:t>
            </a:r>
          </a:p>
        </p:txBody>
      </p:sp>
      <p:sp>
        <p:nvSpPr>
          <p:cNvPr id="7" name="Tarif tanlash   /   Chek yuklash   /   Tekshiruv">
            <a:extLst xmlns:a="http://schemas.openxmlformats.org/drawingml/2006/main">
              <a:ext uri="{FF2B5EF4-FFF2-40B4-BE49-F238E27FC236}">
                <a16:creationId xmlns:a16="http://schemas.microsoft.com/office/drawing/2014/main" id="{DC2E5856-BD8A-44FB-9A06-16C213A6F0C8}"/>
              </a:ext>
            </a:extLst>
          </p:cNvPr>
          <p:cNvSpPr>
            <a:spLocks xmlns:a="http://schemas.openxmlformats.org/drawingml/2006/main" noGrp="1"/>
          </p:cNvSpPr>
          <p:nvPr/>
        </p:nvSpPr>
        <p:spPr>
          <a:xfrm xmlns:a="http://schemas.openxmlformats.org/drawingml/2006/main">
            <a:off x="571500" y="563880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87582"/>
                </a:solidFill>
                <a:latin typeface="Arial"/>
                <a:ea typeface="Arial"/>
                <a:cs typeface="Arial"/>
              </a:defRPr>
            </a:pPr>
            <a:r>
              <a:rPr sz="1875" b="0">
                <a:solidFill>
                  <a:srgbClr val="587582"/>
                </a:solidFill>
                <a:latin typeface="Arial"/>
                <a:ea typeface="Arial"/>
                <a:cs typeface="Arial"/>
              </a:rPr>
              <a:t>Tarif tanlash   /   Chek yuklash   /   Tekshiruv   /   Kirishni faollashtirish</a:t>
            </a:r>
          </a:p>
        </p:txBody>
      </p:sp>
    </p:spTree>
    <p:extLst>
      <p:ext uri="{BB962C8B-B14F-4D97-AF65-F5344CB8AC3E}">
        <p14:creationId xmlns:p14="http://schemas.microsoft.com/office/powerpoint/2010/main" val="2089753930"/>
      </p:ext>
    </p:extLst>
  </p:cSld>
</p:sld>
</file>

<file path=ppt/slides/slide7.xml><?xml version="1.0" encoding="utf-8"?>
<p:sld xmlns:p="http://schemas.openxmlformats.org/presentationml/2006/main">
  <p:cSld>
    <p:bg>
      <p:bgPr>
        <a:solidFill xmlns:a="http://schemas.openxmlformats.org/drawingml/2006/main">
          <a:srgbClr val="F3F8F7"/>
        </a:solidFill>
      </p:bgPr>
    </p:bg>
    <p:spTree>
      <p:nvGrpSpPr>
        <p:cNvPr id="1" name=""/>
        <p:cNvGrpSpPr/>
        <p:nvPr/>
      </p:nvGrpSpPr>
      <p:grpSpPr>
        <a:xfrm xmlns:a="http://schemas.openxmlformats.org/drawingml/2006/main"/>
      </p:grpSpPr>
      <p:sp>
        <p:nvSpPr>
          <p:cNvPr id="15" name="Obuna bo‘yicha daromad ssenariylari">
            <a:extLst xmlns:a="http://schemas.openxmlformats.org/drawingml/2006/main">
              <a:ext uri="{FF2B5EF4-FFF2-40B4-BE49-F238E27FC236}">
                <a16:creationId xmlns:a16="http://schemas.microsoft.com/office/drawing/2014/main" id="{ED926C24-90DB-4A77-93F5-96F928490A88}"/>
              </a:ext>
            </a:extLst>
          </p:cNvPr>
          <p:cNvSpPr>
            <a:spLocks xmlns:a="http://schemas.openxmlformats.org/drawingml/2006/main" noGrp="1"/>
          </p:cNvSpPr>
          <p:nvPr/>
        </p:nvSpPr>
        <p:spPr>
          <a:xfrm xmlns:a="http://schemas.openxmlformats.org/drawingml/2006/main">
            <a:off x="571500" y="4191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92536"/>
                </a:solidFill>
                <a:latin typeface="Arial"/>
                <a:ea typeface="Arial"/>
                <a:cs typeface="Arial"/>
              </a:defRPr>
            </a:pPr>
            <a:r>
              <a:rPr sz="3300" b="1">
                <a:solidFill>
                  <a:srgbClr val="092536"/>
                </a:solidFill>
                <a:latin typeface="Arial"/>
                <a:ea typeface="Arial"/>
                <a:cs typeface="Arial"/>
              </a:rPr>
              <a:t>Obuna bo‘yicha daromad ssenariylari</a:t>
            </a:r>
          </a:p>
        </p:txBody>
      </p:sp>
      <p:sp>
        <p:nvSpPr>
          <p:cNvPr id="2" name="AniqTashxis AI">
            <a:extLst xmlns:a="http://schemas.openxmlformats.org/drawingml/2006/main">
              <a:ext uri="{FF2B5EF4-FFF2-40B4-BE49-F238E27FC236}">
                <a16:creationId xmlns:a16="http://schemas.microsoft.com/office/drawing/2014/main" id="{31678115-77AE-44D3-8C13-1816DD3A1A75}"/>
              </a:ext>
            </a:extLst>
          </p:cNvPr>
          <p:cNvSpPr>
            <a:spLocks xmlns:a="http://schemas.openxmlformats.org/drawingml/2006/main" noGrp="1"/>
          </p:cNvSpPr>
          <p:nvPr/>
        </p:nvSpPr>
        <p:spPr>
          <a:xfrm xmlns:a="http://schemas.openxmlformats.org/drawingml/2006/main">
            <a:off x="571500" y="64674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87582"/>
                </a:solidFill>
                <a:latin typeface="Arial"/>
                <a:ea typeface="Arial"/>
                <a:cs typeface="Arial"/>
              </a:defRPr>
            </a:pPr>
            <a:r>
              <a:rPr sz="1125" b="0">
                <a:solidFill>
                  <a:srgbClr val="587582"/>
                </a:solidFill>
                <a:latin typeface="Arial"/>
                <a:ea typeface="Arial"/>
                <a:cs typeface="Arial"/>
              </a:rPr>
              <a:t>AniqTashxis AI</a:t>
            </a:r>
          </a:p>
        </p:txBody>
      </p:sp>
      <p:sp>
        <p:nvSpPr>
          <p:cNvPr id="3" name="07">
            <a:extLst xmlns:a="http://schemas.openxmlformats.org/drawingml/2006/main">
              <a:ext uri="{FF2B5EF4-FFF2-40B4-BE49-F238E27FC236}">
                <a16:creationId xmlns:a16="http://schemas.microsoft.com/office/drawing/2014/main" id="{C8613AC8-5A3B-424A-A00C-EF6BD71C3170}"/>
              </a:ext>
            </a:extLst>
          </p:cNvPr>
          <p:cNvSpPr>
            <a:spLocks xmlns:a="http://schemas.openxmlformats.org/drawingml/2006/main" noGrp="1"/>
          </p:cNvSpPr>
          <p:nvPr/>
        </p:nvSpPr>
        <p:spPr>
          <a:xfrm xmlns:a="http://schemas.openxmlformats.org/drawingml/2006/main">
            <a:off x="11049000" y="64484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87582"/>
                </a:solidFill>
                <a:latin typeface="Arial"/>
                <a:ea typeface="Arial"/>
                <a:cs typeface="Arial"/>
              </a:defRPr>
            </a:pPr>
            <a:r>
              <a:rPr sz="1200" b="0">
                <a:solidFill>
                  <a:srgbClr val="587582"/>
                </a:solidFill>
                <a:latin typeface="Arial"/>
                <a:ea typeface="Arial"/>
                <a:cs typeface="Arial"/>
              </a:rPr>
              <a:t>07</a:t>
            </a:r>
          </a:p>
        </p:txBody>
      </p:sp>
      <p:sp>
        <p:nvSpPr>
          <p:cNvPr id="4" name="Oylik tushum, mln so‘m">
            <a:extLst xmlns:a="http://schemas.openxmlformats.org/drawingml/2006/main">
              <a:ext uri="{FF2B5EF4-FFF2-40B4-BE49-F238E27FC236}">
                <a16:creationId xmlns:a16="http://schemas.microsoft.com/office/drawing/2014/main" id="{63ECE454-04C5-4D9E-B2A4-36491A80BECA}"/>
              </a:ext>
            </a:extLst>
          </p:cNvPr>
          <p:cNvSpPr>
            <a:spLocks xmlns:a="http://schemas.openxmlformats.org/drawingml/2006/main" noGrp="1"/>
          </p:cNvSpPr>
          <p:nvPr/>
        </p:nvSpPr>
        <p:spPr>
          <a:xfrm xmlns:a="http://schemas.openxmlformats.org/drawingml/2006/main">
            <a:off x="571500" y="1381125"/>
            <a:ext cx="714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87582"/>
                </a:solidFill>
                <a:latin typeface="Arial"/>
                <a:ea typeface="Arial"/>
                <a:cs typeface="Arial"/>
              </a:defRPr>
            </a:pPr>
            <a:r>
              <a:rPr sz="1800" b="0">
                <a:solidFill>
                  <a:srgbClr val="587582"/>
                </a:solidFill>
                <a:latin typeface="Arial"/>
                <a:ea typeface="Arial"/>
                <a:cs typeface="Arial"/>
              </a:rPr>
              <a:t>Oylik tushum, mln so‘m</a:t>
            </a:r>
          </a:p>
        </p:txBody>
      </p:sp>
      <p:graphicFrame>
        <p:nvGraphicFramePr>
          <p:cNvPr id="19" name="Chart"/>
          <p:cNvGraphicFramePr/>
          <p:nvPr/>
        </p:nvGraphicFramePr>
        <p:xfrm>
          <a:off xmlns:a="http://schemas.openxmlformats.org/drawingml/2006/main" x="571500" y="1885950"/>
          <a:ext xmlns:a="http://schemas.openxmlformats.org/drawingml/2006/main" cx="7715250" cy="3962400"/>
        </p:xfrm>
        <a:graphic xmlns:a="http://schemas.openxmlformats.org/drawingml/2006/main">
          <a:graphicData uri="http://schemas.openxmlformats.org/drawingml/2006/chart">
            <c:chart xmlns:r="http://schemas.openxmlformats.org/officeDocument/2006/relationships" xmlns:c="http://schemas.openxmlformats.org/drawingml/2006/chart" r:id="Re249d0c431984da5"/>
          </a:graphicData>
        </a:graphic>
      </p:graphicFrame>
      <p:sp>
        <p:nvSpPr>
          <p:cNvPr id="6" name="Obunalar aralashmasi">
            <a:extLst xmlns:a="http://schemas.openxmlformats.org/drawingml/2006/main">
              <a:ext uri="{FF2B5EF4-FFF2-40B4-BE49-F238E27FC236}">
                <a16:creationId xmlns:a16="http://schemas.microsoft.com/office/drawing/2014/main" id="{D4271833-95E8-42AB-AE25-A325BD7B06D4}"/>
              </a:ext>
            </a:extLst>
          </p:cNvPr>
          <p:cNvSpPr>
            <a:spLocks xmlns:a="http://schemas.openxmlformats.org/drawingml/2006/main" noGrp="1"/>
          </p:cNvSpPr>
          <p:nvPr/>
        </p:nvSpPr>
        <p:spPr>
          <a:xfrm xmlns:a="http://schemas.openxmlformats.org/drawingml/2006/main">
            <a:off x="8715375" y="1885950"/>
            <a:ext cx="2905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394B"/>
                </a:solidFill>
                <a:latin typeface="Arial"/>
                <a:ea typeface="Arial"/>
                <a:cs typeface="Arial"/>
              </a:defRPr>
            </a:pPr>
            <a:r>
              <a:rPr sz="2025" b="1">
                <a:solidFill>
                  <a:srgbClr val="15394B"/>
                </a:solidFill>
                <a:latin typeface="Arial"/>
                <a:ea typeface="Arial"/>
                <a:cs typeface="Arial"/>
              </a:rPr>
              <a:t>Obunalar aralashmasi</a:t>
            </a:r>
          </a:p>
        </p:txBody>
      </p:sp>
      <p:sp>
        <p:nvSpPr>
          <p:cNvPr id="7" name="Boshlang‘ich">
            <a:extLst xmlns:a="http://schemas.openxmlformats.org/drawingml/2006/main">
              <a:ext uri="{FF2B5EF4-FFF2-40B4-BE49-F238E27FC236}">
                <a16:creationId xmlns:a16="http://schemas.microsoft.com/office/drawing/2014/main" id="{C5036670-2353-4EA7-ACA9-731DF68814A1}"/>
              </a:ext>
            </a:extLst>
          </p:cNvPr>
          <p:cNvSpPr>
            <a:spLocks xmlns:a="http://schemas.openxmlformats.org/drawingml/2006/main" noGrp="1"/>
          </p:cNvSpPr>
          <p:nvPr/>
        </p:nvSpPr>
        <p:spPr>
          <a:xfrm xmlns:a="http://schemas.openxmlformats.org/drawingml/2006/main">
            <a:off x="8715375" y="2762250"/>
            <a:ext cx="2905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87582"/>
                </a:solidFill>
                <a:latin typeface="Arial"/>
                <a:ea typeface="Arial"/>
                <a:cs typeface="Arial"/>
              </a:defRPr>
            </a:pPr>
            <a:r>
              <a:rPr sz="1500" b="0">
                <a:solidFill>
                  <a:srgbClr val="587582"/>
                </a:solidFill>
                <a:latin typeface="Arial"/>
                <a:ea typeface="Arial"/>
                <a:cs typeface="Arial"/>
              </a:rPr>
              <a:t>Boshlang‘ich</a:t>
            </a:r>
          </a:p>
        </p:txBody>
      </p:sp>
      <p:sp>
        <p:nvSpPr>
          <p:cNvPr id="8" name="20 / 3 / 1">
            <a:extLst xmlns:a="http://schemas.openxmlformats.org/drawingml/2006/main">
              <a:ext uri="{FF2B5EF4-FFF2-40B4-BE49-F238E27FC236}">
                <a16:creationId xmlns:a16="http://schemas.microsoft.com/office/drawing/2014/main" id="{BE5790DF-8DE3-4689-A036-9DC0FD250050}"/>
              </a:ext>
            </a:extLst>
          </p:cNvPr>
          <p:cNvSpPr>
            <a:spLocks xmlns:a="http://schemas.openxmlformats.org/drawingml/2006/main" noGrp="1"/>
          </p:cNvSpPr>
          <p:nvPr/>
        </p:nvSpPr>
        <p:spPr>
          <a:xfrm xmlns:a="http://schemas.openxmlformats.org/drawingml/2006/main">
            <a:off x="8715375" y="3067050"/>
            <a:ext cx="2905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08B8B"/>
                </a:solidFill>
                <a:latin typeface="Arial"/>
                <a:ea typeface="Arial"/>
                <a:cs typeface="Arial"/>
              </a:defRPr>
            </a:pPr>
            <a:r>
              <a:rPr sz="2025" b="1">
                <a:solidFill>
                  <a:srgbClr val="008B8B"/>
                </a:solidFill>
                <a:latin typeface="Arial"/>
                <a:ea typeface="Arial"/>
                <a:cs typeface="Arial"/>
              </a:rPr>
              <a:t>20 / 3 / 1</a:t>
            </a:r>
          </a:p>
        </p:txBody>
      </p:sp>
      <p:sp>
        <p:nvSpPr>
          <p:cNvPr id="9" name="O‘sish">
            <a:extLst xmlns:a="http://schemas.openxmlformats.org/drawingml/2006/main">
              <a:ext uri="{FF2B5EF4-FFF2-40B4-BE49-F238E27FC236}">
                <a16:creationId xmlns:a16="http://schemas.microsoft.com/office/drawing/2014/main" id="{F286E411-CDF3-4B10-9442-7F32DEB59F1A}"/>
              </a:ext>
            </a:extLst>
          </p:cNvPr>
          <p:cNvSpPr>
            <a:spLocks xmlns:a="http://schemas.openxmlformats.org/drawingml/2006/main" noGrp="1"/>
          </p:cNvSpPr>
          <p:nvPr/>
        </p:nvSpPr>
        <p:spPr>
          <a:xfrm xmlns:a="http://schemas.openxmlformats.org/drawingml/2006/main">
            <a:off x="8715375" y="3657600"/>
            <a:ext cx="2905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87582"/>
                </a:solidFill>
                <a:latin typeface="Arial"/>
                <a:ea typeface="Arial"/>
                <a:cs typeface="Arial"/>
              </a:defRPr>
            </a:pPr>
            <a:r>
              <a:rPr sz="1500" b="0">
                <a:solidFill>
                  <a:srgbClr val="587582"/>
                </a:solidFill>
                <a:latin typeface="Arial"/>
                <a:ea typeface="Arial"/>
                <a:cs typeface="Arial"/>
              </a:rPr>
              <a:t>O‘sish</a:t>
            </a:r>
          </a:p>
        </p:txBody>
      </p:sp>
      <p:sp>
        <p:nvSpPr>
          <p:cNvPr id="10" name="100 / 20 / 10">
            <a:extLst xmlns:a="http://schemas.openxmlformats.org/drawingml/2006/main">
              <a:ext uri="{FF2B5EF4-FFF2-40B4-BE49-F238E27FC236}">
                <a16:creationId xmlns:a16="http://schemas.microsoft.com/office/drawing/2014/main" id="{DC6254E0-8B96-4E17-924F-42815ED98F30}"/>
              </a:ext>
            </a:extLst>
          </p:cNvPr>
          <p:cNvSpPr>
            <a:spLocks xmlns:a="http://schemas.openxmlformats.org/drawingml/2006/main" noGrp="1"/>
          </p:cNvSpPr>
          <p:nvPr/>
        </p:nvSpPr>
        <p:spPr>
          <a:xfrm xmlns:a="http://schemas.openxmlformats.org/drawingml/2006/main">
            <a:off x="8715375" y="3962400"/>
            <a:ext cx="2905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08B8B"/>
                </a:solidFill>
                <a:latin typeface="Arial"/>
                <a:ea typeface="Arial"/>
                <a:cs typeface="Arial"/>
              </a:defRPr>
            </a:pPr>
            <a:r>
              <a:rPr sz="2025" b="1">
                <a:solidFill>
                  <a:srgbClr val="008B8B"/>
                </a:solidFill>
                <a:latin typeface="Arial"/>
                <a:ea typeface="Arial"/>
                <a:cs typeface="Arial"/>
              </a:rPr>
              <a:t>100 / 20 / 10</a:t>
            </a:r>
          </a:p>
        </p:txBody>
      </p:sp>
      <p:sp>
        <p:nvSpPr>
          <p:cNvPr id="11" name="Kengayish">
            <a:extLst xmlns:a="http://schemas.openxmlformats.org/drawingml/2006/main">
              <a:ext uri="{FF2B5EF4-FFF2-40B4-BE49-F238E27FC236}">
                <a16:creationId xmlns:a16="http://schemas.microsoft.com/office/drawing/2014/main" id="{015656CA-94E2-49AD-9577-8002C022AD7C}"/>
              </a:ext>
            </a:extLst>
          </p:cNvPr>
          <p:cNvSpPr>
            <a:spLocks xmlns:a="http://schemas.openxmlformats.org/drawingml/2006/main" noGrp="1"/>
          </p:cNvSpPr>
          <p:nvPr/>
        </p:nvSpPr>
        <p:spPr>
          <a:xfrm xmlns:a="http://schemas.openxmlformats.org/drawingml/2006/main">
            <a:off x="8715375" y="4552950"/>
            <a:ext cx="2905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87582"/>
                </a:solidFill>
                <a:latin typeface="Arial"/>
                <a:ea typeface="Arial"/>
                <a:cs typeface="Arial"/>
              </a:defRPr>
            </a:pPr>
            <a:r>
              <a:rPr sz="1500" b="0">
                <a:solidFill>
                  <a:srgbClr val="587582"/>
                </a:solidFill>
                <a:latin typeface="Arial"/>
                <a:ea typeface="Arial"/>
                <a:cs typeface="Arial"/>
              </a:rPr>
              <a:t>Kengayish</a:t>
            </a:r>
          </a:p>
        </p:txBody>
      </p:sp>
      <p:sp>
        <p:nvSpPr>
          <p:cNvPr id="12" name="300 / 60 / 30">
            <a:extLst xmlns:a="http://schemas.openxmlformats.org/drawingml/2006/main">
              <a:ext uri="{FF2B5EF4-FFF2-40B4-BE49-F238E27FC236}">
                <a16:creationId xmlns:a16="http://schemas.microsoft.com/office/drawing/2014/main" id="{0DD76118-F01B-4897-BB14-3350DD011ABA}"/>
              </a:ext>
            </a:extLst>
          </p:cNvPr>
          <p:cNvSpPr>
            <a:spLocks xmlns:a="http://schemas.openxmlformats.org/drawingml/2006/main" noGrp="1"/>
          </p:cNvSpPr>
          <p:nvPr/>
        </p:nvSpPr>
        <p:spPr>
          <a:xfrm xmlns:a="http://schemas.openxmlformats.org/drawingml/2006/main">
            <a:off x="8715375" y="4857750"/>
            <a:ext cx="2905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08B8B"/>
                </a:solidFill>
                <a:latin typeface="Arial"/>
                <a:ea typeface="Arial"/>
                <a:cs typeface="Arial"/>
              </a:defRPr>
            </a:pPr>
            <a:r>
              <a:rPr sz="2025" b="1">
                <a:solidFill>
                  <a:srgbClr val="008B8B"/>
                </a:solidFill>
                <a:latin typeface="Arial"/>
                <a:ea typeface="Arial"/>
                <a:cs typeface="Arial"/>
              </a:rPr>
              <a:t>300 / 60 / 30</a:t>
            </a:r>
          </a:p>
        </p:txBody>
      </p:sp>
      <p:sp>
        <p:nvSpPr>
          <p:cNvPr id="13" name="Doctor / Clinic 10 / Clinic 25">
            <a:extLst xmlns:a="http://schemas.openxmlformats.org/drawingml/2006/main">
              <a:ext uri="{FF2B5EF4-FFF2-40B4-BE49-F238E27FC236}">
                <a16:creationId xmlns:a16="http://schemas.microsoft.com/office/drawing/2014/main" id="{964C6FD7-3ECD-4A66-A107-433C460AE814}"/>
              </a:ext>
            </a:extLst>
          </p:cNvPr>
          <p:cNvSpPr>
            <a:spLocks xmlns:a="http://schemas.openxmlformats.org/drawingml/2006/main" noGrp="1"/>
          </p:cNvSpPr>
          <p:nvPr/>
        </p:nvSpPr>
        <p:spPr>
          <a:xfrm xmlns:a="http://schemas.openxmlformats.org/drawingml/2006/main">
            <a:off x="8715375" y="5572125"/>
            <a:ext cx="2905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87582"/>
                </a:solidFill>
                <a:latin typeface="Arial"/>
                <a:ea typeface="Arial"/>
                <a:cs typeface="Arial"/>
              </a:defRPr>
            </a:pPr>
            <a:r>
              <a:rPr sz="1350" b="0">
                <a:solidFill>
                  <a:srgbClr val="587582"/>
                </a:solidFill>
                <a:latin typeface="Arial"/>
                <a:ea typeface="Arial"/>
                <a:cs typeface="Arial"/>
              </a:rPr>
              <a:t>Doctor / Clinic 10 / Clinic 25</a:t>
            </a:r>
          </a:p>
        </p:txBody>
      </p:sp>
      <p:sp>
        <p:nvSpPr>
          <p:cNvPr id="14" name="Faraziy hisob. Amaldagi tushum yoki o‘sish progn">
            <a:extLst xmlns:a="http://schemas.openxmlformats.org/drawingml/2006/main">
              <a:ext uri="{FF2B5EF4-FFF2-40B4-BE49-F238E27FC236}">
                <a16:creationId xmlns:a16="http://schemas.microsoft.com/office/drawing/2014/main" id="{D28CA87A-2CA1-413C-BC92-481ABEF0B6C7}"/>
              </a:ext>
            </a:extLst>
          </p:cNvPr>
          <p:cNvSpPr>
            <a:spLocks xmlns:a="http://schemas.openxmlformats.org/drawingml/2006/main" noGrp="1"/>
          </p:cNvSpPr>
          <p:nvPr/>
        </p:nvSpPr>
        <p:spPr>
          <a:xfrm xmlns:a="http://schemas.openxmlformats.org/drawingml/2006/main">
            <a:off x="571500" y="60293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946321"/>
                </a:solidFill>
                <a:latin typeface="Arial"/>
                <a:ea typeface="Arial"/>
                <a:cs typeface="Arial"/>
              </a:defRPr>
            </a:pPr>
            <a:r>
              <a:rPr sz="1500" b="0">
                <a:solidFill>
                  <a:srgbClr val="946321"/>
                </a:solidFill>
                <a:latin typeface="Arial"/>
                <a:ea typeface="Arial"/>
                <a:cs typeface="Arial"/>
              </a:rPr>
              <a:t>Faraziy hisob. Amaldagi tushum yoki o‘sish prognozi emas. Xarajatlar hali ayrilmagan.</a:t>
            </a:r>
          </a:p>
        </p:txBody>
      </p:sp>
    </p:spTree>
    <p:extLst>
      <p:ext uri="{BB962C8B-B14F-4D97-AF65-F5344CB8AC3E}">
        <p14:creationId xmlns:p14="http://schemas.microsoft.com/office/powerpoint/2010/main" val="104368312"/>
      </p:ext>
    </p:extLst>
  </p:cSld>
</p:sld>
</file>

<file path=ppt/slides/slide8.xml><?xml version="1.0" encoding="utf-8"?>
<p:sld xmlns:p="http://schemas.openxmlformats.org/presentationml/2006/main">
  <p:cSld>
    <p:bg>
      <p:bgPr>
        <a:solidFill xmlns:a="http://schemas.openxmlformats.org/drawingml/2006/main">
          <a:srgbClr val="F3F8F7"/>
        </a:solidFill>
      </p:bgPr>
    </p:bg>
    <p:spTree>
      <p:nvGrpSpPr>
        <p:cNvPr id="1" name=""/>
        <p:cNvGrpSpPr/>
        <p:nvPr/>
      </p:nvGrpSpPr>
      <p:grpSpPr>
        <a:xfrm xmlns:a="http://schemas.openxmlformats.org/drawingml/2006/main"/>
      </p:grpSpPr>
      <p:sp>
        <p:nvSpPr>
          <p:cNvPr id="17" name="Keyingi 90 kun: nazoratli pilot">
            <a:extLst xmlns:a="http://schemas.openxmlformats.org/drawingml/2006/main">
              <a:ext uri="{FF2B5EF4-FFF2-40B4-BE49-F238E27FC236}">
                <a16:creationId xmlns:a16="http://schemas.microsoft.com/office/drawing/2014/main" id="{97CD870C-9008-4A85-8703-D630A80772E3}"/>
              </a:ext>
            </a:extLst>
          </p:cNvPr>
          <p:cNvSpPr>
            <a:spLocks xmlns:a="http://schemas.openxmlformats.org/drawingml/2006/main" noGrp="1"/>
          </p:cNvSpPr>
          <p:nvPr/>
        </p:nvSpPr>
        <p:spPr>
          <a:xfrm xmlns:a="http://schemas.openxmlformats.org/drawingml/2006/main">
            <a:off x="571500" y="4191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92536"/>
                </a:solidFill>
                <a:latin typeface="Arial"/>
                <a:ea typeface="Arial"/>
                <a:cs typeface="Arial"/>
              </a:defRPr>
            </a:pPr>
            <a:r>
              <a:rPr sz="3300" b="1">
                <a:solidFill>
                  <a:srgbClr val="092536"/>
                </a:solidFill>
                <a:latin typeface="Arial"/>
                <a:ea typeface="Arial"/>
                <a:cs typeface="Arial"/>
              </a:rPr>
              <a:t>Keyingi 90 kun: nazoratli pilot</a:t>
            </a:r>
          </a:p>
        </p:txBody>
      </p:sp>
      <p:sp>
        <p:nvSpPr>
          <p:cNvPr id="2" name="AniqTashxis AI">
            <a:extLst xmlns:a="http://schemas.openxmlformats.org/drawingml/2006/main">
              <a:ext uri="{FF2B5EF4-FFF2-40B4-BE49-F238E27FC236}">
                <a16:creationId xmlns:a16="http://schemas.microsoft.com/office/drawing/2014/main" id="{0A9D14C4-2600-41CA-911D-3CAF9CA559FD}"/>
              </a:ext>
            </a:extLst>
          </p:cNvPr>
          <p:cNvSpPr>
            <a:spLocks xmlns:a="http://schemas.openxmlformats.org/drawingml/2006/main" noGrp="1"/>
          </p:cNvSpPr>
          <p:nvPr/>
        </p:nvSpPr>
        <p:spPr>
          <a:xfrm xmlns:a="http://schemas.openxmlformats.org/drawingml/2006/main">
            <a:off x="571500" y="64674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87582"/>
                </a:solidFill>
                <a:latin typeface="Arial"/>
                <a:ea typeface="Arial"/>
                <a:cs typeface="Arial"/>
              </a:defRPr>
            </a:pPr>
            <a:r>
              <a:rPr sz="1125" b="0">
                <a:solidFill>
                  <a:srgbClr val="587582"/>
                </a:solidFill>
                <a:latin typeface="Arial"/>
                <a:ea typeface="Arial"/>
                <a:cs typeface="Arial"/>
              </a:rPr>
              <a:t>AniqTashxis AI</a:t>
            </a:r>
          </a:p>
        </p:txBody>
      </p:sp>
      <p:sp>
        <p:nvSpPr>
          <p:cNvPr id="3" name="08">
            <a:extLst xmlns:a="http://schemas.openxmlformats.org/drawingml/2006/main">
              <a:ext uri="{FF2B5EF4-FFF2-40B4-BE49-F238E27FC236}">
                <a16:creationId xmlns:a16="http://schemas.microsoft.com/office/drawing/2014/main" id="{AFE39741-3451-4DFD-B63C-54E465435916}"/>
              </a:ext>
            </a:extLst>
          </p:cNvPr>
          <p:cNvSpPr>
            <a:spLocks xmlns:a="http://schemas.openxmlformats.org/drawingml/2006/main" noGrp="1"/>
          </p:cNvSpPr>
          <p:nvPr/>
        </p:nvSpPr>
        <p:spPr>
          <a:xfrm xmlns:a="http://schemas.openxmlformats.org/drawingml/2006/main">
            <a:off x="11049000" y="64484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87582"/>
                </a:solidFill>
                <a:latin typeface="Arial"/>
                <a:ea typeface="Arial"/>
                <a:cs typeface="Arial"/>
              </a:defRPr>
            </a:pPr>
            <a:r>
              <a:rPr sz="1200" b="0">
                <a:solidFill>
                  <a:srgbClr val="587582"/>
                </a:solidFill>
                <a:latin typeface="Arial"/>
                <a:ea typeface="Arial"/>
                <a:cs typeface="Arial"/>
              </a:rPr>
              <a:t>08</a:t>
            </a:r>
          </a:p>
        </p:txBody>
      </p:sp>
      <p:sp>
        <p:nvSpPr>
          <p:cNvPr id="4" name="1–14 kun">
            <a:extLst xmlns:a="http://schemas.openxmlformats.org/drawingml/2006/main">
              <a:ext uri="{FF2B5EF4-FFF2-40B4-BE49-F238E27FC236}">
                <a16:creationId xmlns:a16="http://schemas.microsoft.com/office/drawing/2014/main" id="{81E9E4CC-8FAB-404D-AD97-599B606593C2}"/>
              </a:ext>
            </a:extLst>
          </p:cNvPr>
          <p:cNvSpPr>
            <a:spLocks xmlns:a="http://schemas.openxmlformats.org/drawingml/2006/main" noGrp="1"/>
          </p:cNvSpPr>
          <p:nvPr/>
        </p:nvSpPr>
        <p:spPr>
          <a:xfrm xmlns:a="http://schemas.openxmlformats.org/drawingml/2006/main">
            <a:off x="571500" y="1609725"/>
            <a:ext cx="347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8B8B"/>
                </a:solidFill>
                <a:latin typeface="Arial"/>
                <a:ea typeface="Arial"/>
                <a:cs typeface="Arial"/>
              </a:defRPr>
            </a:pPr>
            <a:r>
              <a:rPr sz="3600" b="1">
                <a:solidFill>
                  <a:srgbClr val="008B8B"/>
                </a:solidFill>
                <a:latin typeface="Arial"/>
                <a:ea typeface="Arial"/>
                <a:cs typeface="Arial"/>
              </a:rPr>
              <a:t>1–14 kun</a:t>
            </a:r>
          </a:p>
        </p:txBody>
      </p:sp>
      <p:sp>
        <p:nvSpPr>
          <p:cNvPr id="5" name="">
            <a:extLst xmlns:a="http://schemas.openxmlformats.org/drawingml/2006/main">
              <a:ext uri="{FF2B5EF4-FFF2-40B4-BE49-F238E27FC236}">
                <a16:creationId xmlns:a16="http://schemas.microsoft.com/office/drawing/2014/main" id="{6A8F461A-1385-487B-92C0-DD46837634C4}"/>
              </a:ext>
            </a:extLst>
          </p:cNvPr>
          <p:cNvSpPr>
            <a:spLocks xmlns:a="http://schemas.openxmlformats.org/drawingml/2006/main" noGrp="1"/>
          </p:cNvSpPr>
          <p:nvPr/>
        </p:nvSpPr>
        <p:spPr>
          <a:xfrm xmlns:a="http://schemas.openxmlformats.org/drawingml/2006/main">
            <a:off x="571500" y="2543175"/>
            <a:ext cx="3371850" cy="0"/>
          </a:xfrm>
          <a:prstGeom xmlns:a="http://schemas.openxmlformats.org/drawingml/2006/main" prst="line">
            <a:avLst/>
          </a:prstGeom>
          <a:noFill xmlns:a="http://schemas.openxmlformats.org/drawingml/2006/main"/>
          <a:ln xmlns:a="http://schemas.openxmlformats.org/drawingml/2006/main" w="9525">
            <a:solidFill>
              <a:srgbClr val="D4E2E4"/>
            </a:solidFill>
          </a:ln>
        </p:spPr>
      </p:sp>
      <p:sp>
        <p:nvSpPr>
          <p:cNvPr id="6" name="Muammoni tekshirish">
            <a:extLst xmlns:a="http://schemas.openxmlformats.org/drawingml/2006/main">
              <a:ext uri="{FF2B5EF4-FFF2-40B4-BE49-F238E27FC236}">
                <a16:creationId xmlns:a16="http://schemas.microsoft.com/office/drawing/2014/main" id="{D6551783-F1DE-40A7-BB12-656E4F41A02C}"/>
              </a:ext>
            </a:extLst>
          </p:cNvPr>
          <p:cNvSpPr>
            <a:spLocks xmlns:a="http://schemas.openxmlformats.org/drawingml/2006/main" noGrp="1"/>
          </p:cNvSpPr>
          <p:nvPr/>
        </p:nvSpPr>
        <p:spPr>
          <a:xfrm xmlns:a="http://schemas.openxmlformats.org/drawingml/2006/main">
            <a:off x="571500" y="2895600"/>
            <a:ext cx="34004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5394B"/>
                </a:solidFill>
                <a:latin typeface="Arial"/>
                <a:ea typeface="Arial"/>
                <a:cs typeface="Arial"/>
              </a:defRPr>
            </a:pPr>
            <a:r>
              <a:rPr sz="2175" b="1">
                <a:solidFill>
                  <a:srgbClr val="15394B"/>
                </a:solidFill>
                <a:latin typeface="Arial"/>
                <a:ea typeface="Arial"/>
                <a:cs typeface="Arial"/>
              </a:rPr>
              <a:t>Muammoni tekshirish</a:t>
            </a:r>
          </a:p>
        </p:txBody>
      </p:sp>
      <p:sp>
        <p:nvSpPr>
          <p:cNvPr id="7" name="10 ta intervyu&#10;Pilot klinikalarni tanlash">
            <a:extLst xmlns:a="http://schemas.openxmlformats.org/drawingml/2006/main">
              <a:ext uri="{FF2B5EF4-FFF2-40B4-BE49-F238E27FC236}">
                <a16:creationId xmlns:a16="http://schemas.microsoft.com/office/drawing/2014/main" id="{B0B5EA33-EDCE-4227-BE22-21712B32E8E4}"/>
              </a:ext>
            </a:extLst>
          </p:cNvPr>
          <p:cNvSpPr>
            <a:spLocks xmlns:a="http://schemas.openxmlformats.org/drawingml/2006/main" noGrp="1"/>
          </p:cNvSpPr>
          <p:nvPr/>
        </p:nvSpPr>
        <p:spPr>
          <a:xfrm xmlns:a="http://schemas.openxmlformats.org/drawingml/2006/main">
            <a:off x="571500" y="3914775"/>
            <a:ext cx="333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87582"/>
                </a:solidFill>
                <a:latin typeface="Arial"/>
                <a:ea typeface="Arial"/>
                <a:cs typeface="Arial"/>
              </a:defRPr>
            </a:pPr>
            <a:r>
              <a:rPr sz="1875" b="0">
                <a:solidFill>
                  <a:srgbClr val="587582"/>
                </a:solidFill>
                <a:latin typeface="Arial"/>
                <a:ea typeface="Arial"/>
                <a:cs typeface="Arial"/>
              </a:rPr>
              <a:t>10 ta intervyu</a:t>
            </a:r>
          </a:p>
          <a:p xmlns:a="http://schemas.openxmlformats.org/drawingml/2006/main">
            <a:pPr algn="l">
              <a:defRPr sz="1875" b="0">
                <a:solidFill>
                  <a:srgbClr val="587582"/>
                </a:solidFill>
                <a:latin typeface="Arial"/>
                <a:ea typeface="Arial"/>
                <a:cs typeface="Arial"/>
              </a:defRPr>
            </a:pPr>
            <a:r>
              <a:rPr sz="1875" b="0">
                <a:solidFill>
                  <a:srgbClr val="587582"/>
                </a:solidFill>
                <a:latin typeface="Arial"/>
                <a:ea typeface="Arial"/>
                <a:cs typeface="Arial"/>
              </a:rPr>
              <a:t>Pilot klinikalarni tanlash</a:t>
            </a:r>
          </a:p>
        </p:txBody>
      </p:sp>
      <p:sp>
        <p:nvSpPr>
          <p:cNvPr id="8" name="15–60 kun">
            <a:extLst xmlns:a="http://schemas.openxmlformats.org/drawingml/2006/main">
              <a:ext uri="{FF2B5EF4-FFF2-40B4-BE49-F238E27FC236}">
                <a16:creationId xmlns:a16="http://schemas.microsoft.com/office/drawing/2014/main" id="{5B904CA4-AA61-4A4B-AC21-358B2DE8F84F}"/>
              </a:ext>
            </a:extLst>
          </p:cNvPr>
          <p:cNvSpPr>
            <a:spLocks xmlns:a="http://schemas.openxmlformats.org/drawingml/2006/main" noGrp="1"/>
          </p:cNvSpPr>
          <p:nvPr/>
        </p:nvSpPr>
        <p:spPr>
          <a:xfrm xmlns:a="http://schemas.openxmlformats.org/drawingml/2006/main">
            <a:off x="4381500" y="1609725"/>
            <a:ext cx="347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8B8B"/>
                </a:solidFill>
                <a:latin typeface="Arial"/>
                <a:ea typeface="Arial"/>
                <a:cs typeface="Arial"/>
              </a:defRPr>
            </a:pPr>
            <a:r>
              <a:rPr sz="3600" b="1">
                <a:solidFill>
                  <a:srgbClr val="008B8B"/>
                </a:solidFill>
                <a:latin typeface="Arial"/>
                <a:ea typeface="Arial"/>
                <a:cs typeface="Arial"/>
              </a:rPr>
              <a:t>15–60 kun</a:t>
            </a:r>
          </a:p>
        </p:txBody>
      </p:sp>
      <p:sp>
        <p:nvSpPr>
          <p:cNvPr id="9" name="">
            <a:extLst xmlns:a="http://schemas.openxmlformats.org/drawingml/2006/main">
              <a:ext uri="{FF2B5EF4-FFF2-40B4-BE49-F238E27FC236}">
                <a16:creationId xmlns:a16="http://schemas.microsoft.com/office/drawing/2014/main" id="{7E2F591D-9498-4A96-A69F-791AC58963E3}"/>
              </a:ext>
            </a:extLst>
          </p:cNvPr>
          <p:cNvSpPr>
            <a:spLocks xmlns:a="http://schemas.openxmlformats.org/drawingml/2006/main" noGrp="1"/>
          </p:cNvSpPr>
          <p:nvPr/>
        </p:nvSpPr>
        <p:spPr>
          <a:xfrm xmlns:a="http://schemas.openxmlformats.org/drawingml/2006/main">
            <a:off x="4381500" y="2543175"/>
            <a:ext cx="3371850" cy="0"/>
          </a:xfrm>
          <a:prstGeom xmlns:a="http://schemas.openxmlformats.org/drawingml/2006/main" prst="line">
            <a:avLst/>
          </a:prstGeom>
          <a:noFill xmlns:a="http://schemas.openxmlformats.org/drawingml/2006/main"/>
          <a:ln xmlns:a="http://schemas.openxmlformats.org/drawingml/2006/main" w="9525">
            <a:solidFill>
              <a:srgbClr val="D4E2E4"/>
            </a:solidFill>
          </a:ln>
        </p:spPr>
      </p:sp>
      <p:sp>
        <p:nvSpPr>
          <p:cNvPr id="10" name="Ish jarayoni va AI">
            <a:extLst xmlns:a="http://schemas.openxmlformats.org/drawingml/2006/main">
              <a:ext uri="{FF2B5EF4-FFF2-40B4-BE49-F238E27FC236}">
                <a16:creationId xmlns:a16="http://schemas.microsoft.com/office/drawing/2014/main" id="{FB5A15EB-40A7-41F9-94B8-3539A18DE542}"/>
              </a:ext>
            </a:extLst>
          </p:cNvPr>
          <p:cNvSpPr>
            <a:spLocks xmlns:a="http://schemas.openxmlformats.org/drawingml/2006/main" noGrp="1"/>
          </p:cNvSpPr>
          <p:nvPr/>
        </p:nvSpPr>
        <p:spPr>
          <a:xfrm xmlns:a="http://schemas.openxmlformats.org/drawingml/2006/main">
            <a:off x="4381500" y="2895600"/>
            <a:ext cx="34004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5394B"/>
                </a:solidFill>
                <a:latin typeface="Arial"/>
                <a:ea typeface="Arial"/>
                <a:cs typeface="Arial"/>
              </a:defRPr>
            </a:pPr>
            <a:r>
              <a:rPr sz="2175" b="1">
                <a:solidFill>
                  <a:srgbClr val="15394B"/>
                </a:solidFill>
                <a:latin typeface="Arial"/>
                <a:ea typeface="Arial"/>
                <a:cs typeface="Arial"/>
              </a:rPr>
              <a:t>Ish jarayoni va AI</a:t>
            </a:r>
          </a:p>
        </p:txBody>
      </p:sp>
      <p:sp>
        <p:nvSpPr>
          <p:cNvPr id="11" name="2 klinika, 10 shifokor&#10;200 retrospektiv holat">
            <a:extLst xmlns:a="http://schemas.openxmlformats.org/drawingml/2006/main">
              <a:ext uri="{FF2B5EF4-FFF2-40B4-BE49-F238E27FC236}">
                <a16:creationId xmlns:a16="http://schemas.microsoft.com/office/drawing/2014/main" id="{A18ED148-E740-4A55-B43F-F6E2D831EBBE}"/>
              </a:ext>
            </a:extLst>
          </p:cNvPr>
          <p:cNvSpPr>
            <a:spLocks xmlns:a="http://schemas.openxmlformats.org/drawingml/2006/main" noGrp="1"/>
          </p:cNvSpPr>
          <p:nvPr/>
        </p:nvSpPr>
        <p:spPr>
          <a:xfrm xmlns:a="http://schemas.openxmlformats.org/drawingml/2006/main">
            <a:off x="4381500" y="3914775"/>
            <a:ext cx="333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87582"/>
                </a:solidFill>
                <a:latin typeface="Arial"/>
                <a:ea typeface="Arial"/>
                <a:cs typeface="Arial"/>
              </a:defRPr>
            </a:pPr>
            <a:r>
              <a:rPr sz="1875" b="0">
                <a:solidFill>
                  <a:srgbClr val="587582"/>
                </a:solidFill>
                <a:latin typeface="Arial"/>
                <a:ea typeface="Arial"/>
                <a:cs typeface="Arial"/>
              </a:rPr>
              <a:t>2 klinika, 10 shifokor</a:t>
            </a:r>
          </a:p>
          <a:p xmlns:a="http://schemas.openxmlformats.org/drawingml/2006/main">
            <a:pPr algn="l">
              <a:defRPr sz="1875" b="0">
                <a:solidFill>
                  <a:srgbClr val="587582"/>
                </a:solidFill>
                <a:latin typeface="Arial"/>
                <a:ea typeface="Arial"/>
                <a:cs typeface="Arial"/>
              </a:defRPr>
            </a:pPr>
            <a:r>
              <a:rPr sz="1875" b="0">
                <a:solidFill>
                  <a:srgbClr val="587582"/>
                </a:solidFill>
                <a:latin typeface="Arial"/>
                <a:ea typeface="Arial"/>
                <a:cs typeface="Arial"/>
              </a:rPr>
              <a:t>200 retrospektiv holat</a:t>
            </a:r>
          </a:p>
        </p:txBody>
      </p:sp>
      <p:sp>
        <p:nvSpPr>
          <p:cNvPr id="12" name="61–90 kun">
            <a:extLst xmlns:a="http://schemas.openxmlformats.org/drawingml/2006/main">
              <a:ext uri="{FF2B5EF4-FFF2-40B4-BE49-F238E27FC236}">
                <a16:creationId xmlns:a16="http://schemas.microsoft.com/office/drawing/2014/main" id="{6386DB50-1D11-40C7-8311-C8F7EB44F581}"/>
              </a:ext>
            </a:extLst>
          </p:cNvPr>
          <p:cNvSpPr>
            <a:spLocks xmlns:a="http://schemas.openxmlformats.org/drawingml/2006/main" noGrp="1"/>
          </p:cNvSpPr>
          <p:nvPr/>
        </p:nvSpPr>
        <p:spPr>
          <a:xfrm xmlns:a="http://schemas.openxmlformats.org/drawingml/2006/main">
            <a:off x="8191500" y="1609725"/>
            <a:ext cx="347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8B8B"/>
                </a:solidFill>
                <a:latin typeface="Arial"/>
                <a:ea typeface="Arial"/>
                <a:cs typeface="Arial"/>
              </a:defRPr>
            </a:pPr>
            <a:r>
              <a:rPr sz="3600" b="1">
                <a:solidFill>
                  <a:srgbClr val="008B8B"/>
                </a:solidFill>
                <a:latin typeface="Arial"/>
                <a:ea typeface="Arial"/>
                <a:cs typeface="Arial"/>
              </a:rPr>
              <a:t>61–90 kun</a:t>
            </a:r>
          </a:p>
        </p:txBody>
      </p:sp>
      <p:sp>
        <p:nvSpPr>
          <p:cNvPr id="13" name="">
            <a:extLst xmlns:a="http://schemas.openxmlformats.org/drawingml/2006/main">
              <a:ext uri="{FF2B5EF4-FFF2-40B4-BE49-F238E27FC236}">
                <a16:creationId xmlns:a16="http://schemas.microsoft.com/office/drawing/2014/main" id="{E294B2C8-EE5F-4793-B962-9E3124E70528}"/>
              </a:ext>
            </a:extLst>
          </p:cNvPr>
          <p:cNvSpPr>
            <a:spLocks xmlns:a="http://schemas.openxmlformats.org/drawingml/2006/main" noGrp="1"/>
          </p:cNvSpPr>
          <p:nvPr/>
        </p:nvSpPr>
        <p:spPr>
          <a:xfrm xmlns:a="http://schemas.openxmlformats.org/drawingml/2006/main">
            <a:off x="8191500" y="2543175"/>
            <a:ext cx="3371850" cy="0"/>
          </a:xfrm>
          <a:prstGeom xmlns:a="http://schemas.openxmlformats.org/drawingml/2006/main" prst="line">
            <a:avLst/>
          </a:prstGeom>
          <a:noFill xmlns:a="http://schemas.openxmlformats.org/drawingml/2006/main"/>
          <a:ln xmlns:a="http://schemas.openxmlformats.org/drawingml/2006/main" w="9525">
            <a:solidFill>
              <a:srgbClr val="D4E2E4"/>
            </a:solidFill>
          </a:ln>
        </p:spPr>
      </p:sp>
      <p:sp>
        <p:nvSpPr>
          <p:cNvPr id="14" name="Pullik talabni tekshirish">
            <a:extLst xmlns:a="http://schemas.openxmlformats.org/drawingml/2006/main">
              <a:ext uri="{FF2B5EF4-FFF2-40B4-BE49-F238E27FC236}">
                <a16:creationId xmlns:a16="http://schemas.microsoft.com/office/drawing/2014/main" id="{CE4C00EE-6D44-4DA9-B297-4E2B2929BC94}"/>
              </a:ext>
            </a:extLst>
          </p:cNvPr>
          <p:cNvSpPr>
            <a:spLocks xmlns:a="http://schemas.openxmlformats.org/drawingml/2006/main" noGrp="1"/>
          </p:cNvSpPr>
          <p:nvPr/>
        </p:nvSpPr>
        <p:spPr>
          <a:xfrm xmlns:a="http://schemas.openxmlformats.org/drawingml/2006/main">
            <a:off x="8191500" y="2895600"/>
            <a:ext cx="34004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5394B"/>
                </a:solidFill>
                <a:latin typeface="Arial"/>
                <a:ea typeface="Arial"/>
                <a:cs typeface="Arial"/>
              </a:defRPr>
            </a:pPr>
            <a:r>
              <a:rPr sz="2175" b="1">
                <a:solidFill>
                  <a:srgbClr val="15394B"/>
                </a:solidFill>
                <a:latin typeface="Arial"/>
                <a:ea typeface="Arial"/>
                <a:cs typeface="Arial"/>
              </a:rPr>
              <a:t>Pullik talabni tekshirish</a:t>
            </a:r>
          </a:p>
        </p:txBody>
      </p:sp>
      <p:sp>
        <p:nvSpPr>
          <p:cNvPr id="15" name="Tegishli tekshiruvlardan so‘ng&#10;obuna va yangilan">
            <a:extLst xmlns:a="http://schemas.openxmlformats.org/drawingml/2006/main">
              <a:ext uri="{FF2B5EF4-FFF2-40B4-BE49-F238E27FC236}">
                <a16:creationId xmlns:a16="http://schemas.microsoft.com/office/drawing/2014/main" id="{5245F6E1-EB03-4C51-91BD-AEB0FD822B9F}"/>
              </a:ext>
            </a:extLst>
          </p:cNvPr>
          <p:cNvSpPr>
            <a:spLocks xmlns:a="http://schemas.openxmlformats.org/drawingml/2006/main" noGrp="1"/>
          </p:cNvSpPr>
          <p:nvPr/>
        </p:nvSpPr>
        <p:spPr>
          <a:xfrm xmlns:a="http://schemas.openxmlformats.org/drawingml/2006/main">
            <a:off x="8191500" y="3914775"/>
            <a:ext cx="333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87582"/>
                </a:solidFill>
                <a:latin typeface="Arial"/>
                <a:ea typeface="Arial"/>
                <a:cs typeface="Arial"/>
              </a:defRPr>
            </a:pPr>
            <a:r>
              <a:rPr sz="1875" b="0">
                <a:solidFill>
                  <a:srgbClr val="587582"/>
                </a:solidFill>
                <a:latin typeface="Arial"/>
                <a:ea typeface="Arial"/>
                <a:cs typeface="Arial"/>
              </a:rPr>
              <a:t>Tegishli tekshiruvlardan so‘ng</a:t>
            </a:r>
          </a:p>
          <a:p xmlns:a="http://schemas.openxmlformats.org/drawingml/2006/main">
            <a:pPr algn="l">
              <a:defRPr sz="1875" b="0">
                <a:solidFill>
                  <a:srgbClr val="587582"/>
                </a:solidFill>
                <a:latin typeface="Arial"/>
                <a:ea typeface="Arial"/>
                <a:cs typeface="Arial"/>
              </a:defRPr>
            </a:pPr>
            <a:r>
              <a:rPr sz="1875" b="0">
                <a:solidFill>
                  <a:srgbClr val="587582"/>
                </a:solidFill>
                <a:latin typeface="Arial"/>
                <a:ea typeface="Arial"/>
                <a:cs typeface="Arial"/>
              </a:rPr>
              <a:t>obuna va yangilanish</a:t>
            </a:r>
          </a:p>
        </p:txBody>
      </p:sp>
      <p:sp>
        <p:nvSpPr>
          <p:cNvPr id="16" name="O‘lchovlar: tayyorlash vaqti, ekspert bahosi, bi">
            <a:extLst xmlns:a="http://schemas.openxmlformats.org/drawingml/2006/main">
              <a:ext uri="{FF2B5EF4-FFF2-40B4-BE49-F238E27FC236}">
                <a16:creationId xmlns:a16="http://schemas.microsoft.com/office/drawing/2014/main" id="{9601508F-4F39-4DA4-87F8-D1CAF679D699}"/>
              </a:ext>
            </a:extLst>
          </p:cNvPr>
          <p:cNvSpPr>
            <a:spLocks xmlns:a="http://schemas.openxmlformats.org/drawingml/2006/main" noGrp="1"/>
          </p:cNvSpPr>
          <p:nvPr/>
        </p:nvSpPr>
        <p:spPr>
          <a:xfrm xmlns:a="http://schemas.openxmlformats.org/drawingml/2006/main">
            <a:off x="571500" y="5591175"/>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5394B"/>
                </a:solidFill>
                <a:latin typeface="Arial"/>
                <a:ea typeface="Arial"/>
                <a:cs typeface="Arial"/>
              </a:defRPr>
            </a:pPr>
            <a:r>
              <a:rPr sz="1800" b="0">
                <a:solidFill>
                  <a:srgbClr val="15394B"/>
                </a:solidFill>
                <a:latin typeface="Arial"/>
                <a:ea typeface="Arial"/>
                <a:cs typeface="Arial"/>
              </a:rPr>
              <a:t>O‘lchovlar: tayyorlash vaqti, ekspert bahosi, bir tahlil tannarxi, pullik yangilanish</a:t>
            </a:r>
          </a:p>
        </p:txBody>
      </p:sp>
    </p:spTree>
    <p:extLst>
      <p:ext uri="{BB962C8B-B14F-4D97-AF65-F5344CB8AC3E}">
        <p14:creationId xmlns:p14="http://schemas.microsoft.com/office/powerpoint/2010/main" val="552545972"/>
      </p:ext>
    </p:extLst>
  </p:cSld>
</p:sld>
</file>

<file path=ppt/slides/slide9.xml><?xml version="1.0" encoding="utf-8"?>
<p:sld xmlns:p="http://schemas.openxmlformats.org/presentationml/2006/main">
  <p:cSld>
    <p:bg>
      <p:bgPr>
        <a:solidFill xmlns:a="http://schemas.openxmlformats.org/drawingml/2006/main">
          <a:srgbClr val="092536"/>
        </a:solidFill>
      </p:bgPr>
    </p:bg>
    <p:spTree>
      <p:nvGrpSpPr>
        <p:cNvPr id="1" name=""/>
        <p:cNvGrpSpPr/>
        <p:nvPr/>
      </p:nvGrpSpPr>
      <p:grpSpPr>
        <a:xfrm xmlns:a="http://schemas.openxmlformats.org/drawingml/2006/main"/>
      </p:grpSpPr>
      <p:sp>
        <p:nvSpPr>
          <p:cNvPr id="9" name="AniqTashxis AI">
            <a:extLst xmlns:a="http://schemas.openxmlformats.org/drawingml/2006/main">
              <a:ext uri="{FF2B5EF4-FFF2-40B4-BE49-F238E27FC236}">
                <a16:creationId xmlns:a16="http://schemas.microsoft.com/office/drawing/2014/main" id="{4634D214-8C8F-4E99-B77D-F528CCBEAEAC}"/>
              </a:ext>
            </a:extLst>
          </p:cNvPr>
          <p:cNvSpPr>
            <a:spLocks xmlns:a="http://schemas.openxmlformats.org/drawingml/2006/main" noGrp="1"/>
          </p:cNvSpPr>
          <p:nvPr/>
        </p:nvSpPr>
        <p:spPr>
          <a:xfrm xmlns:a="http://schemas.openxmlformats.org/drawingml/2006/main">
            <a:off x="571500" y="64674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A6C0CB"/>
                </a:solidFill>
                <a:latin typeface="Arial"/>
                <a:ea typeface="Arial"/>
                <a:cs typeface="Arial"/>
              </a:defRPr>
            </a:pPr>
            <a:r>
              <a:rPr sz="1125" b="0">
                <a:solidFill>
                  <a:srgbClr val="A6C0CB"/>
                </a:solidFill>
                <a:latin typeface="Arial"/>
                <a:ea typeface="Arial"/>
                <a:cs typeface="Arial"/>
              </a:rPr>
              <a:t>AniqTashxis AI</a:t>
            </a:r>
          </a:p>
        </p:txBody>
      </p:sp>
      <p:sp>
        <p:nvSpPr>
          <p:cNvPr id="2" name="09">
            <a:extLst xmlns:a="http://schemas.openxmlformats.org/drawingml/2006/main">
              <a:ext uri="{FF2B5EF4-FFF2-40B4-BE49-F238E27FC236}">
                <a16:creationId xmlns:a16="http://schemas.microsoft.com/office/drawing/2014/main" id="{E28B2E92-0736-4E0E-B909-E4E3C08E6348}"/>
              </a:ext>
            </a:extLst>
          </p:cNvPr>
          <p:cNvSpPr>
            <a:spLocks xmlns:a="http://schemas.openxmlformats.org/drawingml/2006/main" noGrp="1"/>
          </p:cNvSpPr>
          <p:nvPr/>
        </p:nvSpPr>
        <p:spPr>
          <a:xfrm xmlns:a="http://schemas.openxmlformats.org/drawingml/2006/main">
            <a:off x="11049000" y="64484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6C0CB"/>
                </a:solidFill>
                <a:latin typeface="Arial"/>
                <a:ea typeface="Arial"/>
                <a:cs typeface="Arial"/>
              </a:defRPr>
            </a:pPr>
            <a:r>
              <a:rPr sz="1200" b="0">
                <a:solidFill>
                  <a:srgbClr val="A6C0CB"/>
                </a:solidFill>
                <a:latin typeface="Arial"/>
                <a:ea typeface="Arial"/>
                <a:cs typeface="Arial"/>
              </a:rPr>
              <a:t>09</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c671659b126d492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4" name="Pilot hamkorlikka&#10;taklif">
            <a:extLst xmlns:a="http://schemas.openxmlformats.org/drawingml/2006/main">
              <a:ext uri="{FF2B5EF4-FFF2-40B4-BE49-F238E27FC236}">
                <a16:creationId xmlns:a16="http://schemas.microsoft.com/office/drawing/2014/main" id="{5DEB3DFD-2754-4A45-940D-2889F2BB61F3}"/>
              </a:ext>
            </a:extLst>
          </p:cNvPr>
          <p:cNvSpPr>
            <a:spLocks xmlns:a="http://schemas.openxmlformats.org/drawingml/2006/main" noGrp="1"/>
          </p:cNvSpPr>
          <p:nvPr/>
        </p:nvSpPr>
        <p:spPr>
          <a:xfrm xmlns:a="http://schemas.openxmlformats.org/drawingml/2006/main">
            <a:off x="571500" y="923925"/>
            <a:ext cx="65722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FFFFFF"/>
                </a:solidFill>
                <a:latin typeface="Arial"/>
                <a:ea typeface="Arial"/>
                <a:cs typeface="Arial"/>
              </a:defRPr>
            </a:pPr>
            <a:r>
              <a:rPr sz="4500" b="1">
                <a:solidFill>
                  <a:srgbClr val="FFFFFF"/>
                </a:solidFill>
                <a:latin typeface="Arial"/>
                <a:ea typeface="Arial"/>
                <a:cs typeface="Arial"/>
              </a:rPr>
              <a:t>Pilot hamkorlikka</a:t>
            </a:r>
          </a:p>
          <a:p xmlns:a="http://schemas.openxmlformats.org/drawingml/2006/main">
            <a:pPr algn="l">
              <a:defRPr sz="4500" b="1">
                <a:solidFill>
                  <a:srgbClr val="FFFFFF"/>
                </a:solidFill>
                <a:latin typeface="Arial"/>
                <a:ea typeface="Arial"/>
                <a:cs typeface="Arial"/>
              </a:defRPr>
            </a:pPr>
            <a:r>
              <a:rPr sz="4500" b="1">
                <a:solidFill>
                  <a:srgbClr val="FFFFFF"/>
                </a:solidFill>
                <a:latin typeface="Arial"/>
                <a:ea typeface="Arial"/>
                <a:cs typeface="Arial"/>
              </a:rPr>
              <a:t>taklif</a:t>
            </a:r>
          </a:p>
        </p:txBody>
      </p:sp>
      <p:sp>
        <p:nvSpPr>
          <p:cNvPr id="5" name="2 ta klinika">
            <a:extLst xmlns:a="http://schemas.openxmlformats.org/drawingml/2006/main">
              <a:ext uri="{FF2B5EF4-FFF2-40B4-BE49-F238E27FC236}">
                <a16:creationId xmlns:a16="http://schemas.microsoft.com/office/drawing/2014/main" id="{078EDEF6-0047-4EAD-BF8F-AA06A4E888C9}"/>
              </a:ext>
            </a:extLst>
          </p:cNvPr>
          <p:cNvSpPr>
            <a:spLocks xmlns:a="http://schemas.openxmlformats.org/drawingml/2006/main" noGrp="1"/>
          </p:cNvSpPr>
          <p:nvPr/>
        </p:nvSpPr>
        <p:spPr>
          <a:xfrm xmlns:a="http://schemas.openxmlformats.org/drawingml/2006/main">
            <a:off x="609600" y="2800350"/>
            <a:ext cx="619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6AE5CB"/>
                </a:solidFill>
                <a:latin typeface="Arial"/>
                <a:ea typeface="Arial"/>
                <a:cs typeface="Arial"/>
              </a:defRPr>
            </a:pPr>
            <a:r>
              <a:rPr sz="3600" b="1">
                <a:solidFill>
                  <a:srgbClr val="6AE5CB"/>
                </a:solidFill>
                <a:latin typeface="Arial"/>
                <a:ea typeface="Arial"/>
                <a:cs typeface="Arial"/>
              </a:rPr>
              <a:t>2 ta klinika</a:t>
            </a:r>
          </a:p>
        </p:txBody>
      </p:sp>
      <p:sp>
        <p:nvSpPr>
          <p:cNvPr id="6" name="Mustaqil klinik ekspertlar&#10;Hisoblash infratuzilm">
            <a:extLst xmlns:a="http://schemas.openxmlformats.org/drawingml/2006/main">
              <a:ext uri="{FF2B5EF4-FFF2-40B4-BE49-F238E27FC236}">
                <a16:creationId xmlns:a16="http://schemas.microsoft.com/office/drawing/2014/main" id="{F9EFC786-2A3D-4477-8F6D-390B1082AEF5}"/>
              </a:ext>
            </a:extLst>
          </p:cNvPr>
          <p:cNvSpPr>
            <a:spLocks xmlns:a="http://schemas.openxmlformats.org/drawingml/2006/main" noGrp="1"/>
          </p:cNvSpPr>
          <p:nvPr/>
        </p:nvSpPr>
        <p:spPr>
          <a:xfrm xmlns:a="http://schemas.openxmlformats.org/drawingml/2006/main">
            <a:off x="609600" y="3714750"/>
            <a:ext cx="61912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D4E6E9"/>
                </a:solidFill>
                <a:latin typeface="Arial"/>
                <a:ea typeface="Arial"/>
                <a:cs typeface="Arial"/>
              </a:defRPr>
            </a:pPr>
            <a:r>
              <a:rPr sz="2250" b="0">
                <a:solidFill>
                  <a:srgbClr val="D4E6E9"/>
                </a:solidFill>
                <a:latin typeface="Arial"/>
                <a:ea typeface="Arial"/>
                <a:cs typeface="Arial"/>
              </a:rPr>
              <a:t>Mustaqil klinik ekspertlar</a:t>
            </a:r>
          </a:p>
          <a:p xmlns:a="http://schemas.openxmlformats.org/drawingml/2006/main">
            <a:pPr algn="l">
              <a:defRPr sz="2250" b="0">
                <a:solidFill>
                  <a:srgbClr val="D4E6E9"/>
                </a:solidFill>
                <a:latin typeface="Arial"/>
                <a:ea typeface="Arial"/>
                <a:cs typeface="Arial"/>
              </a:defRPr>
            </a:pPr>
            <a:r>
              <a:rPr sz="2250" b="0">
                <a:solidFill>
                  <a:srgbClr val="D4E6E9"/>
                </a:solidFill>
                <a:latin typeface="Arial"/>
                <a:ea typeface="Arial"/>
                <a:cs typeface="Arial"/>
              </a:rPr>
              <a:t>Hisoblash infratuzilmasi hamkori</a:t>
            </a:r>
          </a:p>
        </p:txBody>
      </p:sp>
      <p:sp>
        <p:nvSpPr>
          <p:cNvPr id="7" name="AniqTashxis AI / AVI Lab">
            <a:extLst xmlns:a="http://schemas.openxmlformats.org/drawingml/2006/main">
              <a:ext uri="{FF2B5EF4-FFF2-40B4-BE49-F238E27FC236}">
                <a16:creationId xmlns:a16="http://schemas.microsoft.com/office/drawing/2014/main" id="{4DF67859-0BAC-487A-9E82-7B2AF4A56505}"/>
              </a:ext>
            </a:extLst>
          </p:cNvPr>
          <p:cNvSpPr>
            <a:spLocks xmlns:a="http://schemas.openxmlformats.org/drawingml/2006/main" noGrp="1"/>
          </p:cNvSpPr>
          <p:nvPr/>
        </p:nvSpPr>
        <p:spPr>
          <a:xfrm xmlns:a="http://schemas.openxmlformats.org/drawingml/2006/main">
            <a:off x="609600" y="5438775"/>
            <a:ext cx="6096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AniqTashxis AI / AVI Lab</a:t>
            </a:r>
          </a:p>
        </p:txBody>
      </p:sp>
      <p:sp>
        <p:nvSpPr>
          <p:cNvPr id="8" name="@avilab_uz_support">
            <a:extLst xmlns:a="http://schemas.openxmlformats.org/drawingml/2006/main">
              <a:ext uri="{FF2B5EF4-FFF2-40B4-BE49-F238E27FC236}">
                <a16:creationId xmlns:a16="http://schemas.microsoft.com/office/drawing/2014/main" id="{861DF7EC-C67E-4925-85C6-283903F81C94}"/>
              </a:ext>
            </a:extLst>
          </p:cNvPr>
          <p:cNvSpPr>
            <a:spLocks xmlns:a="http://schemas.openxmlformats.org/drawingml/2006/main" noGrp="1"/>
          </p:cNvSpPr>
          <p:nvPr/>
        </p:nvSpPr>
        <p:spPr>
          <a:xfrm xmlns:a="http://schemas.openxmlformats.org/drawingml/2006/main">
            <a:off x="609600" y="5962650"/>
            <a:ext cx="5810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6AE5CB"/>
                </a:solidFill>
                <a:latin typeface="Arial"/>
                <a:ea typeface="Arial"/>
                <a:cs typeface="Arial"/>
              </a:defRPr>
            </a:pPr>
            <a:r>
              <a:rPr sz="2025" b="0">
                <a:solidFill>
                  <a:srgbClr val="6AE5CB"/>
                </a:solidFill>
                <a:latin typeface="Arial"/>
                <a:ea typeface="Arial"/>
                <a:cs typeface="Arial"/>
                <a:hlinkClick xmlns:r="http://schemas.openxmlformats.org/officeDocument/2006/relationships" r:id="R2d14eb80d6504b72"/>
              </a:rPr>
              <a:t>@avilab_uz_support</a:t>
            </a:r>
          </a:p>
        </p:txBody>
      </p:sp>
    </p:spTree>
    <p:extLst>
      <p:ext uri="{BB962C8B-B14F-4D97-AF65-F5344CB8AC3E}">
        <p14:creationId xmlns:p14="http://schemas.microsoft.com/office/powerpoint/2010/main" val="581817864"/>
      </p:ext>
    </p:extLst>
  </p:cSld>
</p:sld>
</file>

<file path=ppt/slides/slide10.xml><?xml version="1.0" encoding="utf-8"?>
<p:sld xmlns:p="http://schemas.openxmlformats.org/presentationml/2006/main">
  <p:cSld>
    <p:bg>
      <p:bgPr>
        <a:solidFill xmlns:a="http://schemas.openxmlformats.org/drawingml/2006/main">
          <a:srgbClr val="F3F8F7"/>
        </a:solidFill>
      </p:bgPr>
    </p:bg>
    <p:spTree>
      <p:nvGrpSpPr>
        <p:cNvPr id="1" name=""/>
        <p:cNvGrpSpPr/>
        <p:nvPr/>
      </p:nvGrpSpPr>
      <p:grpSpPr>
        <a:xfrm xmlns:a="http://schemas.openxmlformats.org/drawingml/2006/main"/>
      </p:grpSpPr>
      <p:sp>
        <p:nvSpPr>
          <p:cNvPr id="6" name="Mahsulotning hozirgi holati">
            <a:extLst xmlns:a="http://schemas.openxmlformats.org/drawingml/2006/main">
              <a:ext uri="{FF2B5EF4-FFF2-40B4-BE49-F238E27FC236}">
                <a16:creationId xmlns:a16="http://schemas.microsoft.com/office/drawing/2014/main" id="{5F8D71CE-63E5-4514-89FC-85CBCEC63F30}"/>
              </a:ext>
            </a:extLst>
          </p:cNvPr>
          <p:cNvSpPr>
            <a:spLocks xmlns:a="http://schemas.openxmlformats.org/drawingml/2006/main" noGrp="1"/>
          </p:cNvSpPr>
          <p:nvPr/>
        </p:nvSpPr>
        <p:spPr>
          <a:xfrm xmlns:a="http://schemas.openxmlformats.org/drawingml/2006/main">
            <a:off x="571500" y="4191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92536"/>
                </a:solidFill>
                <a:latin typeface="Arial"/>
                <a:ea typeface="Arial"/>
                <a:cs typeface="Arial"/>
              </a:defRPr>
            </a:pPr>
            <a:r>
              <a:rPr sz="3300" b="1">
                <a:solidFill>
                  <a:srgbClr val="092536"/>
                </a:solidFill>
                <a:latin typeface="Arial"/>
                <a:ea typeface="Arial"/>
                <a:cs typeface="Arial"/>
              </a:rPr>
              <a:t>Mahsulotning hozirgi holati</a:t>
            </a:r>
          </a:p>
        </p:txBody>
      </p:sp>
      <p:sp>
        <p:nvSpPr>
          <p:cNvPr id="2" name="Qo‘shimcha material">
            <a:extLst xmlns:a="http://schemas.openxmlformats.org/drawingml/2006/main">
              <a:ext uri="{FF2B5EF4-FFF2-40B4-BE49-F238E27FC236}">
                <a16:creationId xmlns:a16="http://schemas.microsoft.com/office/drawing/2014/main" id="{5171934D-CBB3-4E8B-9073-9594E363992C}"/>
              </a:ext>
            </a:extLst>
          </p:cNvPr>
          <p:cNvSpPr>
            <a:spLocks xmlns:a="http://schemas.openxmlformats.org/drawingml/2006/main" noGrp="1"/>
          </p:cNvSpPr>
          <p:nvPr/>
        </p:nvSpPr>
        <p:spPr>
          <a:xfrm xmlns:a="http://schemas.openxmlformats.org/drawingml/2006/main">
            <a:off x="571500" y="64674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87582"/>
                </a:solidFill>
                <a:latin typeface="Arial"/>
                <a:ea typeface="Arial"/>
                <a:cs typeface="Arial"/>
              </a:defRPr>
            </a:pPr>
            <a:r>
              <a:rPr sz="1125" b="0">
                <a:solidFill>
                  <a:srgbClr val="587582"/>
                </a:solidFill>
                <a:latin typeface="Arial"/>
                <a:ea typeface="Arial"/>
                <a:cs typeface="Arial"/>
              </a:rPr>
              <a:t>Qo‘shimcha material</a:t>
            </a:r>
          </a:p>
        </p:txBody>
      </p:sp>
      <p:sp>
        <p:nvSpPr>
          <p:cNvPr id="3" name="10">
            <a:extLst xmlns:a="http://schemas.openxmlformats.org/drawingml/2006/main">
              <a:ext uri="{FF2B5EF4-FFF2-40B4-BE49-F238E27FC236}">
                <a16:creationId xmlns:a16="http://schemas.microsoft.com/office/drawing/2014/main" id="{CA5B141E-83DB-475A-9D02-60BCD6BC659A}"/>
              </a:ext>
            </a:extLst>
          </p:cNvPr>
          <p:cNvSpPr>
            <a:spLocks xmlns:a="http://schemas.openxmlformats.org/drawingml/2006/main" noGrp="1"/>
          </p:cNvSpPr>
          <p:nvPr/>
        </p:nvSpPr>
        <p:spPr>
          <a:xfrm xmlns:a="http://schemas.openxmlformats.org/drawingml/2006/main">
            <a:off x="11049000" y="64484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87582"/>
                </a:solidFill>
                <a:latin typeface="Arial"/>
                <a:ea typeface="Arial"/>
                <a:cs typeface="Arial"/>
              </a:defRPr>
            </a:pPr>
            <a:r>
              <a:rPr sz="1200" b="0">
                <a:solidFill>
                  <a:srgbClr val="587582"/>
                </a:solidFill>
                <a:latin typeface="Arial"/>
                <a:ea typeface="Arial"/>
                <a:cs typeface="Arial"/>
              </a:rPr>
              <a:t>10</a:t>
            </a:r>
          </a:p>
        </p:txBody>
      </p:sp>
      <p:graphicFrame>
        <p:nvGraphicFramePr>
          <p:cNvPr id="9" name=""/>
          <p:cNvGraphicFramePr/>
          <p:nvPr/>
        </p:nvGraphicFramePr>
        <p:xfrm>
          <a:off xmlns:a="http://schemas.openxmlformats.org/drawingml/2006/main" x="571500" y="1581150"/>
          <a:ext xmlns:a="http://schemas.openxmlformats.org/drawingml/2006/main" cx="11049000" cy="3981450"/>
        </p:xfrm>
        <a:graphic xmlns:a="http://schemas.openxmlformats.org/drawingml/2006/main">
          <a:graphicData uri="http://schemas.openxmlformats.org/drawingml/2006/table">
            <a:tbl>
              <a:tblPr/>
              <a:tblGrid>
                <a:gridCol w="2619375"/>
                <a:gridCol w="4857750"/>
                <a:gridCol w="3571875"/>
              </a:tblGrid>
              <a:tr h="663575">
                <a:tc>
                  <a:txBody>
                    <a:bodyPr/>
                    <a:lstStyle/>
                    <a:p>
                      <a:r>
                        <a:rPr sz="1725" b="1">
                          <a:solidFill>
                            <a:srgbClr val="FFFFFF"/>
                          </a:solidFill>
                          <a:latin typeface="Arial"/>
                          <a:ea typeface="Arial"/>
                          <a:cs typeface="Arial"/>
                        </a:rPr>
                        <a:t>Yo‘nalish</a:t>
                      </a:r>
                    </a:p>
                  </a:txBody>
                  <a:tcPr marL="152400" marR="133350" marT="114300" marB="95250" anchor="ctr">
                    <a:solidFill>
                      <a:srgbClr val="092536"/>
                    </a:solidFill>
                  </a:tcPr>
                </a:tc>
                <a:tc>
                  <a:txBody>
                    <a:bodyPr/>
                    <a:lstStyle/>
                    <a:p>
                      <a:r>
                        <a:rPr sz="1725" b="1">
                          <a:solidFill>
                            <a:srgbClr val="FFFFFF"/>
                          </a:solidFill>
                          <a:latin typeface="Arial"/>
                          <a:ea typeface="Arial"/>
                          <a:cs typeface="Arial"/>
                        </a:rPr>
                        <a:t>Hozir mavjud</a:t>
                      </a:r>
                    </a:p>
                  </a:txBody>
                  <a:tcPr marL="152400" marR="133350" marT="114300" marB="95250" anchor="ctr">
                    <a:solidFill>
                      <a:srgbClr val="092536"/>
                    </a:solidFill>
                  </a:tcPr>
                </a:tc>
                <a:tc>
                  <a:txBody>
                    <a:bodyPr/>
                    <a:lstStyle/>
                    <a:p>
                      <a:r>
                        <a:rPr sz="1725" b="1">
                          <a:solidFill>
                            <a:srgbClr val="FFFFFF"/>
                          </a:solidFill>
                          <a:latin typeface="Arial"/>
                          <a:ea typeface="Arial"/>
                          <a:cs typeface="Arial"/>
                        </a:rPr>
                        <a:t>Chegara</a:t>
                      </a:r>
                    </a:p>
                  </a:txBody>
                  <a:tcPr marL="152400" marR="133350" marT="114300" marB="95250" anchor="ctr">
                    <a:solidFill>
                      <a:srgbClr val="092536"/>
                    </a:solidFill>
                  </a:tcPr>
                </a:tc>
              </a:tr>
              <a:tr h="663575">
                <a:tc>
                  <a:txBody>
                    <a:bodyPr/>
                    <a:lstStyle/>
                    <a:p>
                      <a:r>
                        <a:rPr sz="1725">
                          <a:solidFill>
                            <a:srgbClr val="15394B"/>
                          </a:solidFill>
                          <a:latin typeface="Arial"/>
                          <a:ea typeface="Arial"/>
                          <a:cs typeface="Arial"/>
                        </a:rPr>
                        <a:t>Bemor ish maydoni</a:t>
                      </a:r>
                    </a:p>
                  </a:txBody>
                  <a:tcPr marL="152400" marR="133350" marT="114300" marB="95250" anchor="ctr">
                    <a:solidFill>
                      <a:srgbClr val="FFFFFF"/>
                    </a:solidFill>
                  </a:tcPr>
                </a:tc>
                <a:tc>
                  <a:txBody>
                    <a:bodyPr/>
                    <a:lstStyle/>
                    <a:p>
                      <a:r>
                        <a:rPr sz="1725">
                          <a:solidFill>
                            <a:srgbClr val="15394B"/>
                          </a:solidFill>
                          <a:latin typeface="Arial"/>
                          <a:ea typeface="Arial"/>
                          <a:cs typeface="Arial"/>
                        </a:rPr>
                        <a:t>4 toifa, hujjatlar va xulosa</a:t>
                      </a:r>
                    </a:p>
                  </a:txBody>
                  <a:tcPr marL="152400" marR="133350" marT="114300" marB="95250" anchor="ctr">
                    <a:solidFill>
                      <a:srgbClr val="FFFFFF"/>
                    </a:solidFill>
                  </a:tcPr>
                </a:tc>
                <a:tc>
                  <a:txBody>
                    <a:bodyPr/>
                    <a:lstStyle/>
                    <a:p>
                      <a:r>
                        <a:rPr sz="1725">
                          <a:solidFill>
                            <a:srgbClr val="15394B"/>
                          </a:solidFill>
                          <a:latin typeface="Arial"/>
                          <a:ea typeface="Arial"/>
                          <a:cs typeface="Arial"/>
                        </a:rPr>
                        <a:t>Shifokor tekshiruvi kerak</a:t>
                      </a:r>
                    </a:p>
                  </a:txBody>
                  <a:tcPr marL="152400" marR="133350" marT="114300" marB="95250" anchor="ctr">
                    <a:solidFill>
                      <a:srgbClr val="FFFFFF"/>
                    </a:solidFill>
                  </a:tcPr>
                </a:tc>
              </a:tr>
              <a:tr h="663575">
                <a:tc>
                  <a:txBody>
                    <a:bodyPr/>
                    <a:lstStyle/>
                    <a:p>
                      <a:r>
                        <a:rPr sz="1725">
                          <a:solidFill>
                            <a:srgbClr val="15394B"/>
                          </a:solidFill>
                          <a:latin typeface="Arial"/>
                          <a:ea typeface="Arial"/>
                          <a:cs typeface="Arial"/>
                        </a:rPr>
                        <a:t>AI solishtirish</a:t>
                      </a:r>
                    </a:p>
                  </a:txBody>
                  <a:tcPr marL="152400" marR="133350" marT="114300" marB="95250" anchor="ctr">
                    <a:solidFill>
                      <a:srgbClr val="FFFFFF"/>
                    </a:solidFill>
                  </a:tcPr>
                </a:tc>
                <a:tc>
                  <a:txBody>
                    <a:bodyPr/>
                    <a:lstStyle/>
                    <a:p>
                      <a:r>
                        <a:rPr sz="1725">
                          <a:solidFill>
                            <a:srgbClr val="15394B"/>
                          </a:solidFill>
                          <a:latin typeface="Arial"/>
                          <a:ea typeface="Arial"/>
                          <a:cs typeface="Arial"/>
                        </a:rPr>
                        <a:t>Dalil, savol va tekshiruvlar</a:t>
                      </a:r>
                    </a:p>
                  </a:txBody>
                  <a:tcPr marL="152400" marR="133350" marT="114300" marB="95250" anchor="ctr">
                    <a:solidFill>
                      <a:srgbClr val="FFFFFF"/>
                    </a:solidFill>
                  </a:tcPr>
                </a:tc>
                <a:tc>
                  <a:txBody>
                    <a:bodyPr/>
                    <a:lstStyle/>
                    <a:p>
                      <a:r>
                        <a:rPr sz="1725">
                          <a:solidFill>
                            <a:srgbClr val="15394B"/>
                          </a:solidFill>
                          <a:latin typeface="Arial"/>
                          <a:ea typeface="Arial"/>
                          <a:cs typeface="Arial"/>
                        </a:rPr>
                        <a:t>Klinik validatsiya yo‘q</a:t>
                      </a:r>
                    </a:p>
                  </a:txBody>
                  <a:tcPr marL="152400" marR="133350" marT="114300" marB="95250" anchor="ctr">
                    <a:solidFill>
                      <a:srgbClr val="FFFFFF"/>
                    </a:solidFill>
                  </a:tcPr>
                </a:tc>
              </a:tr>
              <a:tr h="663575">
                <a:tc>
                  <a:txBody>
                    <a:bodyPr/>
                    <a:lstStyle/>
                    <a:p>
                      <a:r>
                        <a:rPr sz="1725">
                          <a:solidFill>
                            <a:srgbClr val="15394B"/>
                          </a:solidFill>
                          <a:latin typeface="Arial"/>
                          <a:ea typeface="Arial"/>
                          <a:cs typeface="Arial"/>
                        </a:rPr>
                        <a:t>Radiologiya</a:t>
                      </a:r>
                    </a:p>
                  </a:txBody>
                  <a:tcPr marL="152400" marR="133350" marT="114300" marB="95250" anchor="ctr">
                    <a:solidFill>
                      <a:srgbClr val="FFFFFF"/>
                    </a:solidFill>
                  </a:tcPr>
                </a:tc>
                <a:tc>
                  <a:txBody>
                    <a:bodyPr/>
                    <a:lstStyle/>
                    <a:p>
                      <a:r>
                        <a:rPr sz="1725">
                          <a:solidFill>
                            <a:srgbClr val="15394B"/>
                          </a:solidFill>
                          <a:latin typeface="Arial"/>
                          <a:ea typeface="Arial"/>
                          <a:cs typeface="Arial"/>
                        </a:rPr>
                        <a:t>DICOM ZIP va hisobot tahlili</a:t>
                      </a:r>
                    </a:p>
                  </a:txBody>
                  <a:tcPr marL="152400" marR="133350" marT="114300" marB="95250" anchor="ctr">
                    <a:solidFill>
                      <a:srgbClr val="FFFFFF"/>
                    </a:solidFill>
                  </a:tcPr>
                </a:tc>
                <a:tc>
                  <a:txBody>
                    <a:bodyPr/>
                    <a:lstStyle/>
                    <a:p>
                      <a:r>
                        <a:rPr sz="1725">
                          <a:solidFill>
                            <a:srgbClr val="15394B"/>
                          </a:solidFill>
                          <a:latin typeface="Arial"/>
                          <a:ea typeface="Arial"/>
                          <a:cs typeface="Arial"/>
                        </a:rPr>
                        <a:t>AI: 4 kadrgacha</a:t>
                      </a:r>
                    </a:p>
                  </a:txBody>
                  <a:tcPr marL="152400" marR="133350" marT="114300" marB="95250" anchor="ctr">
                    <a:solidFill>
                      <a:srgbClr val="FFFFFF"/>
                    </a:solidFill>
                  </a:tcPr>
                </a:tc>
              </a:tr>
              <a:tr h="663575">
                <a:tc>
                  <a:txBody>
                    <a:bodyPr/>
                    <a:lstStyle/>
                    <a:p>
                      <a:r>
                        <a:rPr sz="1725">
                          <a:solidFill>
                            <a:srgbClr val="15394B"/>
                          </a:solidFill>
                          <a:latin typeface="Arial"/>
                          <a:ea typeface="Arial"/>
                          <a:cs typeface="Arial"/>
                        </a:rPr>
                        <a:t>Klinika va obuna</a:t>
                      </a:r>
                    </a:p>
                  </a:txBody>
                  <a:tcPr marL="152400" marR="133350" marT="114300" marB="95250" anchor="ctr">
                    <a:solidFill>
                      <a:srgbClr val="FFFFFF"/>
                    </a:solidFill>
                  </a:tcPr>
                </a:tc>
                <a:tc>
                  <a:txBody>
                    <a:bodyPr/>
                    <a:lstStyle/>
                    <a:p>
                      <a:r>
                        <a:rPr sz="1725">
                          <a:solidFill>
                            <a:srgbClr val="15394B"/>
                          </a:solidFill>
                          <a:latin typeface="Arial"/>
                          <a:ea typeface="Arial"/>
                          <a:cs typeface="Arial"/>
                        </a:rPr>
                        <a:t>Rollar, limitlar, chek tasdig‘i</a:t>
                      </a:r>
                    </a:p>
                  </a:txBody>
                  <a:tcPr marL="152400" marR="133350" marT="114300" marB="95250" anchor="ctr">
                    <a:solidFill>
                      <a:srgbClr val="FFFFFF"/>
                    </a:solidFill>
                  </a:tcPr>
                </a:tc>
                <a:tc>
                  <a:txBody>
                    <a:bodyPr/>
                    <a:lstStyle/>
                    <a:p>
                      <a:r>
                        <a:rPr sz="1725">
                          <a:solidFill>
                            <a:srgbClr val="15394B"/>
                          </a:solidFill>
                          <a:latin typeface="Arial"/>
                          <a:ea typeface="Arial"/>
                          <a:cs typeface="Arial"/>
                        </a:rPr>
                        <a:t>To‘lov qo‘lda tekshiriladi</a:t>
                      </a:r>
                    </a:p>
                  </a:txBody>
                  <a:tcPr marL="152400" marR="133350" marT="114300" marB="95250" anchor="ctr">
                    <a:solidFill>
                      <a:srgbClr val="FFFFFF"/>
                    </a:solidFill>
                  </a:tcPr>
                </a:tc>
              </a:tr>
              <a:tr h="663575">
                <a:tc>
                  <a:txBody>
                    <a:bodyPr/>
                    <a:lstStyle/>
                    <a:p>
                      <a:r>
                        <a:rPr sz="1725">
                          <a:solidFill>
                            <a:srgbClr val="15394B"/>
                          </a:solidFill>
                          <a:latin typeface="Arial"/>
                          <a:ea typeface="Arial"/>
                          <a:cs typeface="Arial"/>
                        </a:rPr>
                        <a:t>DMED</a:t>
                      </a:r>
                    </a:p>
                  </a:txBody>
                  <a:tcPr marL="152400" marR="133350" marT="114300" marB="95250" anchor="ctr">
                    <a:solidFill>
                      <a:srgbClr val="FFFFFF"/>
                    </a:solidFill>
                  </a:tcPr>
                </a:tc>
                <a:tc>
                  <a:txBody>
                    <a:bodyPr/>
                    <a:lstStyle/>
                    <a:p>
                      <a:r>
                        <a:rPr sz="1725">
                          <a:solidFill>
                            <a:srgbClr val="15394B"/>
                          </a:solidFill>
                          <a:latin typeface="Arial"/>
                          <a:ea typeface="Arial"/>
                          <a:cs typeface="Arial"/>
                        </a:rPr>
                        <a:t>Sintetik import namoyishi</a:t>
                      </a:r>
                    </a:p>
                  </a:txBody>
                  <a:tcPr marL="152400" marR="133350" marT="114300" marB="95250" anchor="ctr">
                    <a:solidFill>
                      <a:srgbClr val="FFFFFF"/>
                    </a:solidFill>
                  </a:tcPr>
                </a:tc>
                <a:tc>
                  <a:txBody>
                    <a:bodyPr/>
                    <a:lstStyle/>
                    <a:p>
                      <a:r>
                        <a:rPr sz="1725">
                          <a:solidFill>
                            <a:srgbClr val="15394B"/>
                          </a:solidFill>
                          <a:latin typeface="Arial"/>
                          <a:ea typeface="Arial"/>
                          <a:cs typeface="Arial"/>
                        </a:rPr>
                        <a:t>Haqiqiy ulanish: reja</a:t>
                      </a:r>
                    </a:p>
                  </a:txBody>
                  <a:tcPr marL="152400" marR="133350" marT="114300" marB="95250" anchor="ctr">
                    <a:solidFill>
                      <a:srgbClr val="FFFFFF"/>
                    </a:solidFill>
                  </a:tcPr>
                </a:tc>
              </a:tr>
            </a:tbl>
          </a:graphicData>
        </a:graphic>
      </p:graphicFrame>
      <p:sp>
        <p:nvSpPr>
          <p:cNvPr id="5" name="O‘zbek, rus va ingliz tillari. Sozlamalar, bildi">
            <a:extLst xmlns:a="http://schemas.openxmlformats.org/drawingml/2006/main">
              <a:ext uri="{FF2B5EF4-FFF2-40B4-BE49-F238E27FC236}">
                <a16:creationId xmlns:a16="http://schemas.microsoft.com/office/drawing/2014/main" id="{223DBC2B-FB1F-435A-9711-520FC9C71FBE}"/>
              </a:ext>
            </a:extLst>
          </p:cNvPr>
          <p:cNvSpPr>
            <a:spLocks xmlns:a="http://schemas.openxmlformats.org/drawingml/2006/main" noGrp="1"/>
          </p:cNvSpPr>
          <p:nvPr/>
        </p:nvSpPr>
        <p:spPr>
          <a:xfrm xmlns:a="http://schemas.openxmlformats.org/drawingml/2006/main">
            <a:off x="571500" y="5876925"/>
            <a:ext cx="11049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08B8B"/>
                </a:solidFill>
                <a:latin typeface="Arial"/>
                <a:ea typeface="Arial"/>
                <a:cs typeface="Arial"/>
              </a:defRPr>
            </a:pPr>
            <a:r>
              <a:rPr sz="1800" b="1">
                <a:solidFill>
                  <a:srgbClr val="008B8B"/>
                </a:solidFill>
                <a:latin typeface="Arial"/>
                <a:ea typeface="Arial"/>
                <a:cs typeface="Arial"/>
              </a:rPr>
              <a:t>O‘zbek, rus va ingliz tillari. Sozlamalar, bildirishnomalar va audit tarixi.</a:t>
            </a:r>
          </a:p>
        </p:txBody>
      </p:sp>
    </p:spTree>
    <p:extLst>
      <p:ext uri="{BB962C8B-B14F-4D97-AF65-F5344CB8AC3E}">
        <p14:creationId xmlns:p14="http://schemas.microsoft.com/office/powerpoint/2010/main" val="654828362"/>
      </p:ext>
    </p:extLst>
  </p:cSld>
</p:sld>
</file>

<file path=ppt/slides/slide11.xml><?xml version="1.0" encoding="utf-8"?>
<p:sld xmlns:p="http://schemas.openxmlformats.org/presentationml/2006/main">
  <p:cSld>
    <p:bg>
      <p:bgPr>
        <a:solidFill xmlns:a="http://schemas.openxmlformats.org/drawingml/2006/main">
          <a:srgbClr val="F3F8F7"/>
        </a:solidFill>
      </p:bgPr>
    </p:bg>
    <p:spTree>
      <p:nvGrpSpPr>
        <p:cNvPr id="1" name=""/>
        <p:cNvGrpSpPr/>
        <p:nvPr/>
      </p:nvGrpSpPr>
      <p:grpSpPr>
        <a:xfrm xmlns:a="http://schemas.openxmlformats.org/drawingml/2006/main"/>
      </p:grpSpPr>
      <p:sp>
        <p:nvSpPr>
          <p:cNvPr id="18" name="Texnik arxitektura va rollar">
            <a:extLst xmlns:a="http://schemas.openxmlformats.org/drawingml/2006/main">
              <a:ext uri="{FF2B5EF4-FFF2-40B4-BE49-F238E27FC236}">
                <a16:creationId xmlns:a16="http://schemas.microsoft.com/office/drawing/2014/main" id="{EB09735F-F148-40DE-B633-B600E9EB6B53}"/>
              </a:ext>
            </a:extLst>
          </p:cNvPr>
          <p:cNvSpPr>
            <a:spLocks xmlns:a="http://schemas.openxmlformats.org/drawingml/2006/main" noGrp="1"/>
          </p:cNvSpPr>
          <p:nvPr/>
        </p:nvSpPr>
        <p:spPr>
          <a:xfrm xmlns:a="http://schemas.openxmlformats.org/drawingml/2006/main">
            <a:off x="571500" y="4191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92536"/>
                </a:solidFill>
                <a:latin typeface="Arial"/>
                <a:ea typeface="Arial"/>
                <a:cs typeface="Arial"/>
              </a:defRPr>
            </a:pPr>
            <a:r>
              <a:rPr sz="3300" b="1">
                <a:solidFill>
                  <a:srgbClr val="092536"/>
                </a:solidFill>
                <a:latin typeface="Arial"/>
                <a:ea typeface="Arial"/>
                <a:cs typeface="Arial"/>
              </a:rPr>
              <a:t>Texnik arxitektura va rollar</a:t>
            </a:r>
          </a:p>
        </p:txBody>
      </p:sp>
      <p:sp>
        <p:nvSpPr>
          <p:cNvPr id="2" name="Qo‘shimcha material">
            <a:extLst xmlns:a="http://schemas.openxmlformats.org/drawingml/2006/main">
              <a:ext uri="{FF2B5EF4-FFF2-40B4-BE49-F238E27FC236}">
                <a16:creationId xmlns:a16="http://schemas.microsoft.com/office/drawing/2014/main" id="{EB20873F-4A65-470D-9CFD-F3FDFF819E40}"/>
              </a:ext>
            </a:extLst>
          </p:cNvPr>
          <p:cNvSpPr>
            <a:spLocks xmlns:a="http://schemas.openxmlformats.org/drawingml/2006/main" noGrp="1"/>
          </p:cNvSpPr>
          <p:nvPr/>
        </p:nvSpPr>
        <p:spPr>
          <a:xfrm xmlns:a="http://schemas.openxmlformats.org/drawingml/2006/main">
            <a:off x="571500" y="64674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87582"/>
                </a:solidFill>
                <a:latin typeface="Arial"/>
                <a:ea typeface="Arial"/>
                <a:cs typeface="Arial"/>
              </a:defRPr>
            </a:pPr>
            <a:r>
              <a:rPr sz="1125" b="0">
                <a:solidFill>
                  <a:srgbClr val="587582"/>
                </a:solidFill>
                <a:latin typeface="Arial"/>
                <a:ea typeface="Arial"/>
                <a:cs typeface="Arial"/>
              </a:rPr>
              <a:t>Qo‘shimcha material</a:t>
            </a:r>
          </a:p>
        </p:txBody>
      </p:sp>
      <p:sp>
        <p:nvSpPr>
          <p:cNvPr id="3" name="11">
            <a:extLst xmlns:a="http://schemas.openxmlformats.org/drawingml/2006/main">
              <a:ext uri="{FF2B5EF4-FFF2-40B4-BE49-F238E27FC236}">
                <a16:creationId xmlns:a16="http://schemas.microsoft.com/office/drawing/2014/main" id="{F6D099C9-8444-4160-844C-E18C303091FF}"/>
              </a:ext>
            </a:extLst>
          </p:cNvPr>
          <p:cNvSpPr>
            <a:spLocks xmlns:a="http://schemas.openxmlformats.org/drawingml/2006/main" noGrp="1"/>
          </p:cNvSpPr>
          <p:nvPr/>
        </p:nvSpPr>
        <p:spPr>
          <a:xfrm xmlns:a="http://schemas.openxmlformats.org/drawingml/2006/main">
            <a:off x="11049000" y="64484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87582"/>
                </a:solidFill>
                <a:latin typeface="Arial"/>
                <a:ea typeface="Arial"/>
                <a:cs typeface="Arial"/>
              </a:defRPr>
            </a:pPr>
            <a:r>
              <a:rPr sz="1200" b="0">
                <a:solidFill>
                  <a:srgbClr val="587582"/>
                </a:solidFill>
                <a:latin typeface="Arial"/>
                <a:ea typeface="Arial"/>
                <a:cs typeface="Arial"/>
              </a:rPr>
              <a:t>11</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7f16028eca0f4c23">
            <a:extLst>
              <a:ext uri="{96DAC541-7B7A-43D3-8B79-37D633B846F1}">
                <asvg:svgBlip xmlns:asvg="http://schemas.microsoft.com/office/drawing/2016/SVG/main" r:embed="Rb44c6b6b46c54f61"/>
              </a:ext>
            </a:extLst>
          </a:blip>
          <a:stretch xmlns:a="http://schemas.openxmlformats.org/drawingml/2006/main"/>
        </p:blipFill>
        <p:spPr>
          <a:xfrm xmlns:a="http://schemas.openxmlformats.org/drawingml/2006/main">
            <a:off x="666750" y="1657350"/>
            <a:ext cx="447675" cy="447675"/>
          </a:xfrm>
          <a:prstGeom xmlns:a="http://schemas.openxmlformats.org/drawingml/2006/main" prst="rect">
            <a:avLst/>
          </a:prstGeom>
        </p:spPr>
      </p:pic>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8a09544ef0fd4522">
            <a:extLst>
              <a:ext uri="{96DAC541-7B7A-43D3-8B79-37D633B846F1}">
                <asvg:svgBlip xmlns:asvg="http://schemas.microsoft.com/office/drawing/2016/SVG/main" r:embed="Rc8b92b14a2bc490c"/>
              </a:ext>
            </a:extLst>
          </a:blip>
          <a:stretch xmlns:a="http://schemas.openxmlformats.org/drawingml/2006/main"/>
        </p:blipFill>
        <p:spPr>
          <a:xfrm xmlns:a="http://schemas.openxmlformats.org/drawingml/2006/main">
            <a:off x="4476750" y="1657350"/>
            <a:ext cx="447675" cy="447675"/>
          </a:xfrm>
          <a:prstGeom xmlns:a="http://schemas.openxmlformats.org/drawingml/2006/main" prst="rect">
            <a:avLst/>
          </a:prstGeom>
        </p:spPr>
      </p:pic>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3e617d9ee0a740a4">
            <a:extLst>
              <a:ext uri="{96DAC541-7B7A-43D3-8B79-37D633B846F1}">
                <asvg:svgBlip xmlns:asvg="http://schemas.microsoft.com/office/drawing/2016/SVG/main" r:embed="R633d51aacd474281"/>
              </a:ext>
            </a:extLst>
          </a:blip>
          <a:stretch xmlns:a="http://schemas.openxmlformats.org/drawingml/2006/main"/>
        </p:blipFill>
        <p:spPr>
          <a:xfrm xmlns:a="http://schemas.openxmlformats.org/drawingml/2006/main">
            <a:off x="8286750" y="1657350"/>
            <a:ext cx="447675" cy="447675"/>
          </a:xfrm>
          <a:prstGeom xmlns:a="http://schemas.openxmlformats.org/drawingml/2006/main" prst="rect">
            <a:avLst/>
          </a:prstGeom>
        </p:spPr>
      </p:pic>
      <p:sp>
        <p:nvSpPr>
          <p:cNvPr id="7" name="React ish maydoni">
            <a:extLst xmlns:a="http://schemas.openxmlformats.org/drawingml/2006/main">
              <a:ext uri="{FF2B5EF4-FFF2-40B4-BE49-F238E27FC236}">
                <a16:creationId xmlns:a16="http://schemas.microsoft.com/office/drawing/2014/main" id="{C31237C3-6A46-409B-AF16-14A84FE66934}"/>
              </a:ext>
            </a:extLst>
          </p:cNvPr>
          <p:cNvSpPr>
            <a:spLocks xmlns:a="http://schemas.openxmlformats.org/drawingml/2006/main" noGrp="1"/>
          </p:cNvSpPr>
          <p:nvPr/>
        </p:nvSpPr>
        <p:spPr>
          <a:xfrm xmlns:a="http://schemas.openxmlformats.org/drawingml/2006/main">
            <a:off x="571500" y="2324100"/>
            <a:ext cx="3476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5394B"/>
                </a:solidFill>
                <a:latin typeface="Arial"/>
                <a:ea typeface="Arial"/>
                <a:cs typeface="Arial"/>
              </a:defRPr>
            </a:pPr>
            <a:r>
              <a:rPr sz="2175" b="1">
                <a:solidFill>
                  <a:srgbClr val="15394B"/>
                </a:solidFill>
                <a:latin typeface="Arial"/>
                <a:ea typeface="Arial"/>
                <a:cs typeface="Arial"/>
              </a:rPr>
              <a:t>React ish maydoni</a:t>
            </a:r>
          </a:p>
        </p:txBody>
      </p:sp>
      <p:sp>
        <p:nvSpPr>
          <p:cNvPr id="8" name="Vite, TypeScript, Ant Design&#10;Axios va React Quer">
            <a:extLst xmlns:a="http://schemas.openxmlformats.org/drawingml/2006/main">
              <a:ext uri="{FF2B5EF4-FFF2-40B4-BE49-F238E27FC236}">
                <a16:creationId xmlns:a16="http://schemas.microsoft.com/office/drawing/2014/main" id="{742D4874-8F66-40EC-9498-B6B2A00FF2A6}"/>
              </a:ext>
            </a:extLst>
          </p:cNvPr>
          <p:cNvSpPr>
            <a:spLocks xmlns:a="http://schemas.openxmlformats.org/drawingml/2006/main" noGrp="1"/>
          </p:cNvSpPr>
          <p:nvPr/>
        </p:nvSpPr>
        <p:spPr>
          <a:xfrm xmlns:a="http://schemas.openxmlformats.org/drawingml/2006/main">
            <a:off x="571500" y="3067050"/>
            <a:ext cx="323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87582"/>
                </a:solidFill>
                <a:latin typeface="Arial"/>
                <a:ea typeface="Arial"/>
                <a:cs typeface="Arial"/>
              </a:defRPr>
            </a:pPr>
            <a:r>
              <a:rPr sz="1875" b="0">
                <a:solidFill>
                  <a:srgbClr val="587582"/>
                </a:solidFill>
                <a:latin typeface="Arial"/>
                <a:ea typeface="Arial"/>
                <a:cs typeface="Arial"/>
              </a:rPr>
              <a:t>Vite, TypeScript, Ant Design</a:t>
            </a:r>
          </a:p>
          <a:p xmlns:a="http://schemas.openxmlformats.org/drawingml/2006/main">
            <a:pPr algn="l">
              <a:defRPr sz="1875" b="0">
                <a:solidFill>
                  <a:srgbClr val="587582"/>
                </a:solidFill>
                <a:latin typeface="Arial"/>
                <a:ea typeface="Arial"/>
                <a:cs typeface="Arial"/>
              </a:defRPr>
            </a:pPr>
            <a:r>
              <a:rPr sz="1875" b="0">
                <a:solidFill>
                  <a:srgbClr val="587582"/>
                </a:solidFill>
                <a:latin typeface="Arial"/>
                <a:ea typeface="Arial"/>
                <a:cs typeface="Arial"/>
              </a:rPr>
              <a:t>Axios va React Query</a:t>
            </a:r>
          </a:p>
        </p:txBody>
      </p:sp>
      <p:sp>
        <p:nvSpPr>
          <p:cNvPr id="9" name="Python REST API">
            <a:extLst xmlns:a="http://schemas.openxmlformats.org/drawingml/2006/main">
              <a:ext uri="{FF2B5EF4-FFF2-40B4-BE49-F238E27FC236}">
                <a16:creationId xmlns:a16="http://schemas.microsoft.com/office/drawing/2014/main" id="{1405FFA5-BBBB-4881-A58F-A20AA2A55FED}"/>
              </a:ext>
            </a:extLst>
          </p:cNvPr>
          <p:cNvSpPr>
            <a:spLocks xmlns:a="http://schemas.openxmlformats.org/drawingml/2006/main" noGrp="1"/>
          </p:cNvSpPr>
          <p:nvPr/>
        </p:nvSpPr>
        <p:spPr>
          <a:xfrm xmlns:a="http://schemas.openxmlformats.org/drawingml/2006/main">
            <a:off x="4381500" y="2324100"/>
            <a:ext cx="3476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5394B"/>
                </a:solidFill>
                <a:latin typeface="Arial"/>
                <a:ea typeface="Arial"/>
                <a:cs typeface="Arial"/>
              </a:defRPr>
            </a:pPr>
            <a:r>
              <a:rPr sz="2175" b="1">
                <a:solidFill>
                  <a:srgbClr val="15394B"/>
                </a:solidFill>
                <a:latin typeface="Arial"/>
                <a:ea typeface="Arial"/>
                <a:cs typeface="Arial"/>
              </a:rPr>
              <a:t>Python REST API</a:t>
            </a:r>
          </a:p>
        </p:txBody>
      </p:sp>
      <p:sp>
        <p:nvSpPr>
          <p:cNvPr id="10" name="FastAPI, ma’lumotlar bazasi&#10;Hujjat, DICOM va fon">
            <a:extLst xmlns:a="http://schemas.openxmlformats.org/drawingml/2006/main">
              <a:ext uri="{FF2B5EF4-FFF2-40B4-BE49-F238E27FC236}">
                <a16:creationId xmlns:a16="http://schemas.microsoft.com/office/drawing/2014/main" id="{041DE819-1DEB-4EC7-A346-8C0507D75E9A}"/>
              </a:ext>
            </a:extLst>
          </p:cNvPr>
          <p:cNvSpPr>
            <a:spLocks xmlns:a="http://schemas.openxmlformats.org/drawingml/2006/main" noGrp="1"/>
          </p:cNvSpPr>
          <p:nvPr/>
        </p:nvSpPr>
        <p:spPr>
          <a:xfrm xmlns:a="http://schemas.openxmlformats.org/drawingml/2006/main">
            <a:off x="4381500" y="3067050"/>
            <a:ext cx="323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87582"/>
                </a:solidFill>
                <a:latin typeface="Arial"/>
                <a:ea typeface="Arial"/>
                <a:cs typeface="Arial"/>
              </a:defRPr>
            </a:pPr>
            <a:r>
              <a:rPr sz="1875" b="0">
                <a:solidFill>
                  <a:srgbClr val="587582"/>
                </a:solidFill>
                <a:latin typeface="Arial"/>
                <a:ea typeface="Arial"/>
                <a:cs typeface="Arial"/>
              </a:rPr>
              <a:t>FastAPI, ma’lumotlar bazasi</a:t>
            </a:r>
          </a:p>
          <a:p xmlns:a="http://schemas.openxmlformats.org/drawingml/2006/main">
            <a:pPr algn="l">
              <a:defRPr sz="1875" b="0">
                <a:solidFill>
                  <a:srgbClr val="587582"/>
                </a:solidFill>
                <a:latin typeface="Arial"/>
                <a:ea typeface="Arial"/>
                <a:cs typeface="Arial"/>
              </a:defRPr>
            </a:pPr>
            <a:r>
              <a:rPr sz="1875" b="0">
                <a:solidFill>
                  <a:srgbClr val="587582"/>
                </a:solidFill>
                <a:latin typeface="Arial"/>
                <a:ea typeface="Arial"/>
                <a:cs typeface="Arial"/>
              </a:rPr>
              <a:t>Hujjat, DICOM va fon vazifalari</a:t>
            </a:r>
          </a:p>
        </p:txBody>
      </p:sp>
      <p:sp>
        <p:nvSpPr>
          <p:cNvPr id="11" name="Lokal MedGemma 4B">
            <a:extLst xmlns:a="http://schemas.openxmlformats.org/drawingml/2006/main">
              <a:ext uri="{FF2B5EF4-FFF2-40B4-BE49-F238E27FC236}">
                <a16:creationId xmlns:a16="http://schemas.microsoft.com/office/drawing/2014/main" id="{C179682A-26A0-47B1-8749-D0C2696E77BB}"/>
              </a:ext>
            </a:extLst>
          </p:cNvPr>
          <p:cNvSpPr>
            <a:spLocks xmlns:a="http://schemas.openxmlformats.org/drawingml/2006/main" noGrp="1"/>
          </p:cNvSpPr>
          <p:nvPr/>
        </p:nvSpPr>
        <p:spPr>
          <a:xfrm xmlns:a="http://schemas.openxmlformats.org/drawingml/2006/main">
            <a:off x="8191500" y="2324100"/>
            <a:ext cx="3476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5394B"/>
                </a:solidFill>
                <a:latin typeface="Arial"/>
                <a:ea typeface="Arial"/>
                <a:cs typeface="Arial"/>
              </a:defRPr>
            </a:pPr>
            <a:r>
              <a:rPr sz="2175" b="1">
                <a:solidFill>
                  <a:srgbClr val="15394B"/>
                </a:solidFill>
                <a:latin typeface="Arial"/>
                <a:ea typeface="Arial"/>
                <a:cs typeface="Arial"/>
              </a:rPr>
              <a:t>Lokal MedGemma 4B</a:t>
            </a:r>
          </a:p>
        </p:txBody>
      </p:sp>
      <p:sp>
        <p:nvSpPr>
          <p:cNvPr id="12" name="llama.cpp orqali inferens&#10;Javob sxemasi va dalil">
            <a:extLst xmlns:a="http://schemas.openxmlformats.org/drawingml/2006/main">
              <a:ext uri="{FF2B5EF4-FFF2-40B4-BE49-F238E27FC236}">
                <a16:creationId xmlns:a16="http://schemas.microsoft.com/office/drawing/2014/main" id="{9B4ED370-154F-4FB5-8738-5CFDDEADCFE2}"/>
              </a:ext>
            </a:extLst>
          </p:cNvPr>
          <p:cNvSpPr>
            <a:spLocks xmlns:a="http://schemas.openxmlformats.org/drawingml/2006/main" noGrp="1"/>
          </p:cNvSpPr>
          <p:nvPr/>
        </p:nvSpPr>
        <p:spPr>
          <a:xfrm xmlns:a="http://schemas.openxmlformats.org/drawingml/2006/main">
            <a:off x="8191500" y="3067050"/>
            <a:ext cx="323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87582"/>
                </a:solidFill>
                <a:latin typeface="Arial"/>
                <a:ea typeface="Arial"/>
                <a:cs typeface="Arial"/>
              </a:defRPr>
            </a:pPr>
            <a:r>
              <a:rPr sz="1875" b="0">
                <a:solidFill>
                  <a:srgbClr val="587582"/>
                </a:solidFill>
                <a:latin typeface="Arial"/>
                <a:ea typeface="Arial"/>
                <a:cs typeface="Arial"/>
              </a:rPr>
              <a:t>llama.cpp orqali inferens</a:t>
            </a:r>
          </a:p>
          <a:p xmlns:a="http://schemas.openxmlformats.org/drawingml/2006/main">
            <a:pPr algn="l">
              <a:defRPr sz="1875" b="0">
                <a:solidFill>
                  <a:srgbClr val="587582"/>
                </a:solidFill>
                <a:latin typeface="Arial"/>
                <a:ea typeface="Arial"/>
                <a:cs typeface="Arial"/>
              </a:defRPr>
            </a:pPr>
            <a:r>
              <a:rPr sz="1875" b="0">
                <a:solidFill>
                  <a:srgbClr val="587582"/>
                </a:solidFill>
                <a:latin typeface="Arial"/>
                <a:ea typeface="Arial"/>
                <a:cs typeface="Arial"/>
              </a:rPr>
              <a:t>Javob sxemasi va dalil nazorati</a:t>
            </a:r>
          </a:p>
        </p:txBody>
      </p:sp>
      <p:sp>
        <p:nvSpPr>
          <p:cNvPr id="13" name="">
            <a:extLst xmlns:a="http://schemas.openxmlformats.org/drawingml/2006/main">
              <a:ext uri="{FF2B5EF4-FFF2-40B4-BE49-F238E27FC236}">
                <a16:creationId xmlns:a16="http://schemas.microsoft.com/office/drawing/2014/main" id="{CA0951C5-BA54-41DB-B9BD-BDCDE98A6469}"/>
              </a:ext>
            </a:extLst>
          </p:cNvPr>
          <p:cNvSpPr>
            <a:spLocks xmlns:a="http://schemas.openxmlformats.org/drawingml/2006/main" noGrp="1"/>
          </p:cNvSpPr>
          <p:nvPr/>
        </p:nvSpPr>
        <p:spPr>
          <a:xfrm xmlns:a="http://schemas.openxmlformats.org/drawingml/2006/main">
            <a:off x="571500" y="4591050"/>
            <a:ext cx="11049000" cy="0"/>
          </a:xfrm>
          <a:prstGeom xmlns:a="http://schemas.openxmlformats.org/drawingml/2006/main" prst="line">
            <a:avLst/>
          </a:prstGeom>
          <a:noFill xmlns:a="http://schemas.openxmlformats.org/drawingml/2006/main"/>
          <a:ln xmlns:a="http://schemas.openxmlformats.org/drawingml/2006/main" w="9525">
            <a:solidFill>
              <a:srgbClr val="D4E2E4"/>
            </a:solidFill>
          </a:ln>
        </p:spPr>
      </p:sp>
      <p:sp>
        <p:nvSpPr>
          <p:cNvPr id="14" name="Shifokor / Radiolog / Ekspert">
            <a:extLst xmlns:a="http://schemas.openxmlformats.org/drawingml/2006/main">
              <a:ext uri="{FF2B5EF4-FFF2-40B4-BE49-F238E27FC236}">
                <a16:creationId xmlns:a16="http://schemas.microsoft.com/office/drawing/2014/main" id="{395FF3EA-9A36-45E7-B0D7-1ECD14F00539}"/>
              </a:ext>
            </a:extLst>
          </p:cNvPr>
          <p:cNvSpPr>
            <a:spLocks xmlns:a="http://schemas.openxmlformats.org/drawingml/2006/main" noGrp="1"/>
          </p:cNvSpPr>
          <p:nvPr/>
        </p:nvSpPr>
        <p:spPr>
          <a:xfrm xmlns:a="http://schemas.openxmlformats.org/drawingml/2006/main">
            <a:off x="571500" y="4981575"/>
            <a:ext cx="5334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08B8B"/>
                </a:solidFill>
                <a:latin typeface="Arial"/>
                <a:ea typeface="Arial"/>
                <a:cs typeface="Arial"/>
              </a:defRPr>
            </a:pPr>
            <a:r>
              <a:rPr sz="2025" b="1">
                <a:solidFill>
                  <a:srgbClr val="008B8B"/>
                </a:solidFill>
                <a:latin typeface="Arial"/>
                <a:ea typeface="Arial"/>
                <a:cs typeface="Arial"/>
              </a:rPr>
              <a:t>Shifokor / Radiolog / Ekspert</a:t>
            </a:r>
          </a:p>
        </p:txBody>
      </p:sp>
      <p:sp>
        <p:nvSpPr>
          <p:cNvPr id="15" name="Klinika egasi / Developer">
            <a:extLst xmlns:a="http://schemas.openxmlformats.org/drawingml/2006/main">
              <a:ext uri="{FF2B5EF4-FFF2-40B4-BE49-F238E27FC236}">
                <a16:creationId xmlns:a16="http://schemas.microsoft.com/office/drawing/2014/main" id="{F51240C8-7A39-4EB4-802A-40003F355402}"/>
              </a:ext>
            </a:extLst>
          </p:cNvPr>
          <p:cNvSpPr>
            <a:spLocks xmlns:a="http://schemas.openxmlformats.org/drawingml/2006/main" noGrp="1"/>
          </p:cNvSpPr>
          <p:nvPr/>
        </p:nvSpPr>
        <p:spPr>
          <a:xfrm xmlns:a="http://schemas.openxmlformats.org/drawingml/2006/main">
            <a:off x="6286500" y="4981575"/>
            <a:ext cx="5334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08B8B"/>
                </a:solidFill>
                <a:latin typeface="Arial"/>
                <a:ea typeface="Arial"/>
                <a:cs typeface="Arial"/>
              </a:defRPr>
            </a:pPr>
            <a:r>
              <a:rPr sz="2025" b="1">
                <a:solidFill>
                  <a:srgbClr val="008B8B"/>
                </a:solidFill>
                <a:latin typeface="Arial"/>
                <a:ea typeface="Arial"/>
                <a:cs typeface="Arial"/>
              </a:rPr>
              <a:t>Klinika egasi / Developer</a:t>
            </a:r>
          </a:p>
        </p:txBody>
      </p:sp>
      <p:sp>
        <p:nvSpPr>
          <p:cNvPr id="16" name="Bemor va xulosa bilan ishlash">
            <a:extLst xmlns:a="http://schemas.openxmlformats.org/drawingml/2006/main">
              <a:ext uri="{FF2B5EF4-FFF2-40B4-BE49-F238E27FC236}">
                <a16:creationId xmlns:a16="http://schemas.microsoft.com/office/drawing/2014/main" id="{84CBE250-58F2-40A4-857E-24201A7E22A7}"/>
              </a:ext>
            </a:extLst>
          </p:cNvPr>
          <p:cNvSpPr>
            <a:spLocks xmlns:a="http://schemas.openxmlformats.org/drawingml/2006/main" noGrp="1"/>
          </p:cNvSpPr>
          <p:nvPr/>
        </p:nvSpPr>
        <p:spPr>
          <a:xfrm xmlns:a="http://schemas.openxmlformats.org/drawingml/2006/main">
            <a:off x="571500" y="5543550"/>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87582"/>
                </a:solidFill>
                <a:latin typeface="Arial"/>
                <a:ea typeface="Arial"/>
                <a:cs typeface="Arial"/>
              </a:defRPr>
            </a:pPr>
            <a:r>
              <a:rPr sz="1800" b="0">
                <a:solidFill>
                  <a:srgbClr val="587582"/>
                </a:solidFill>
                <a:latin typeface="Arial"/>
                <a:ea typeface="Arial"/>
                <a:cs typeface="Arial"/>
              </a:rPr>
              <a:t>Bemor va xulosa bilan ishlash</a:t>
            </a:r>
          </a:p>
        </p:txBody>
      </p:sp>
      <p:sp>
        <p:nvSpPr>
          <p:cNvPr id="17" name="Jamoa, obuna va platforma boshqaruvi">
            <a:extLst xmlns:a="http://schemas.openxmlformats.org/drawingml/2006/main">
              <a:ext uri="{FF2B5EF4-FFF2-40B4-BE49-F238E27FC236}">
                <a16:creationId xmlns:a16="http://schemas.microsoft.com/office/drawing/2014/main" id="{557EF1DF-A9F9-4F0B-8DAE-BCC08A575BF3}"/>
              </a:ext>
            </a:extLst>
          </p:cNvPr>
          <p:cNvSpPr>
            <a:spLocks xmlns:a="http://schemas.openxmlformats.org/drawingml/2006/main" noGrp="1"/>
          </p:cNvSpPr>
          <p:nvPr/>
        </p:nvSpPr>
        <p:spPr>
          <a:xfrm xmlns:a="http://schemas.openxmlformats.org/drawingml/2006/main">
            <a:off x="6286500" y="5543550"/>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87582"/>
                </a:solidFill>
                <a:latin typeface="Arial"/>
                <a:ea typeface="Arial"/>
                <a:cs typeface="Arial"/>
              </a:defRPr>
            </a:pPr>
            <a:r>
              <a:rPr sz="1800" b="0">
                <a:solidFill>
                  <a:srgbClr val="587582"/>
                </a:solidFill>
                <a:latin typeface="Arial"/>
                <a:ea typeface="Arial"/>
                <a:cs typeface="Arial"/>
              </a:rPr>
              <a:t>Jamoa, obuna va platforma boshqaruvi</a:t>
            </a:r>
          </a:p>
        </p:txBody>
      </p:sp>
    </p:spTree>
    <p:extLst>
      <p:ext uri="{BB962C8B-B14F-4D97-AF65-F5344CB8AC3E}">
        <p14:creationId xmlns:p14="http://schemas.microsoft.com/office/powerpoint/2010/main" val="1988802021"/>
      </p:ext>
    </p:extLst>
  </p:cSld>
</p:sld>
</file>

<file path=ppt/slides/slide12.xml><?xml version="1.0" encoding="utf-8"?>
<p:sld xmlns:p="http://schemas.openxmlformats.org/presentationml/2006/main">
  <p:cSld>
    <p:bg>
      <p:bgPr>
        <a:solidFill xmlns:a="http://schemas.openxmlformats.org/drawingml/2006/main">
          <a:srgbClr val="F3F8F7"/>
        </a:solidFill>
      </p:bgPr>
    </p:bg>
    <p:spTree>
      <p:nvGrpSpPr>
        <p:cNvPr id="1" name=""/>
        <p:cNvGrpSpPr/>
        <p:nvPr/>
      </p:nvGrpSpPr>
      <p:grpSpPr>
        <a:xfrm xmlns:a="http://schemas.openxmlformats.org/drawingml/2006/main"/>
      </p:grpSpPr>
      <p:sp>
        <p:nvSpPr>
          <p:cNvPr id="15" name="Klinika xarajati va sotuv yo‘li">
            <a:extLst xmlns:a="http://schemas.openxmlformats.org/drawingml/2006/main">
              <a:ext uri="{FF2B5EF4-FFF2-40B4-BE49-F238E27FC236}">
                <a16:creationId xmlns:a16="http://schemas.microsoft.com/office/drawing/2014/main" id="{91768EFF-E0B5-49C4-B6CA-1996BA609748}"/>
              </a:ext>
            </a:extLst>
          </p:cNvPr>
          <p:cNvSpPr>
            <a:spLocks xmlns:a="http://schemas.openxmlformats.org/drawingml/2006/main" noGrp="1"/>
          </p:cNvSpPr>
          <p:nvPr/>
        </p:nvSpPr>
        <p:spPr>
          <a:xfrm xmlns:a="http://schemas.openxmlformats.org/drawingml/2006/main">
            <a:off x="571500" y="4191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92536"/>
                </a:solidFill>
                <a:latin typeface="Arial"/>
                <a:ea typeface="Arial"/>
                <a:cs typeface="Arial"/>
              </a:defRPr>
            </a:pPr>
            <a:r>
              <a:rPr sz="3300" b="1">
                <a:solidFill>
                  <a:srgbClr val="092536"/>
                </a:solidFill>
                <a:latin typeface="Arial"/>
                <a:ea typeface="Arial"/>
                <a:cs typeface="Arial"/>
              </a:rPr>
              <a:t>Klinika xarajati va sotuv yo‘li</a:t>
            </a:r>
          </a:p>
        </p:txBody>
      </p:sp>
      <p:sp>
        <p:nvSpPr>
          <p:cNvPr id="2" name="Qo‘shimcha material">
            <a:extLst xmlns:a="http://schemas.openxmlformats.org/drawingml/2006/main">
              <a:ext uri="{FF2B5EF4-FFF2-40B4-BE49-F238E27FC236}">
                <a16:creationId xmlns:a16="http://schemas.microsoft.com/office/drawing/2014/main" id="{0FC5C2D4-C881-4CA7-9322-358BE7DA0D46}"/>
              </a:ext>
            </a:extLst>
          </p:cNvPr>
          <p:cNvSpPr>
            <a:spLocks xmlns:a="http://schemas.openxmlformats.org/drawingml/2006/main" noGrp="1"/>
          </p:cNvSpPr>
          <p:nvPr/>
        </p:nvSpPr>
        <p:spPr>
          <a:xfrm xmlns:a="http://schemas.openxmlformats.org/drawingml/2006/main">
            <a:off x="571500" y="64674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87582"/>
                </a:solidFill>
                <a:latin typeface="Arial"/>
                <a:ea typeface="Arial"/>
                <a:cs typeface="Arial"/>
              </a:defRPr>
            </a:pPr>
            <a:r>
              <a:rPr sz="1125" b="0">
                <a:solidFill>
                  <a:srgbClr val="587582"/>
                </a:solidFill>
                <a:latin typeface="Arial"/>
                <a:ea typeface="Arial"/>
                <a:cs typeface="Arial"/>
              </a:rPr>
              <a:t>Qo‘shimcha material</a:t>
            </a:r>
          </a:p>
        </p:txBody>
      </p:sp>
      <p:sp>
        <p:nvSpPr>
          <p:cNvPr id="3" name="12">
            <a:extLst xmlns:a="http://schemas.openxmlformats.org/drawingml/2006/main">
              <a:ext uri="{FF2B5EF4-FFF2-40B4-BE49-F238E27FC236}">
                <a16:creationId xmlns:a16="http://schemas.microsoft.com/office/drawing/2014/main" id="{88A37405-8172-426A-995A-EFBE97575DC9}"/>
              </a:ext>
            </a:extLst>
          </p:cNvPr>
          <p:cNvSpPr>
            <a:spLocks xmlns:a="http://schemas.openxmlformats.org/drawingml/2006/main" noGrp="1"/>
          </p:cNvSpPr>
          <p:nvPr/>
        </p:nvSpPr>
        <p:spPr>
          <a:xfrm xmlns:a="http://schemas.openxmlformats.org/drawingml/2006/main">
            <a:off x="11049000" y="64484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87582"/>
                </a:solidFill>
                <a:latin typeface="Arial"/>
                <a:ea typeface="Arial"/>
                <a:cs typeface="Arial"/>
              </a:defRPr>
            </a:pPr>
            <a:r>
              <a:rPr sz="1200" b="0">
                <a:solidFill>
                  <a:srgbClr val="587582"/>
                </a:solidFill>
                <a:latin typeface="Arial"/>
                <a:ea typeface="Arial"/>
                <a:cs typeface="Arial"/>
              </a:rPr>
              <a:t>12</a:t>
            </a:r>
          </a:p>
        </p:txBody>
      </p:sp>
      <p:sp>
        <p:nvSpPr>
          <p:cNvPr id="4" name="139 000">
            <a:extLst xmlns:a="http://schemas.openxmlformats.org/drawingml/2006/main">
              <a:ext uri="{FF2B5EF4-FFF2-40B4-BE49-F238E27FC236}">
                <a16:creationId xmlns:a16="http://schemas.microsoft.com/office/drawing/2014/main" id="{D6E1D473-7978-40CD-B5F9-C1FBF0F0DA5B}"/>
              </a:ext>
            </a:extLst>
          </p:cNvPr>
          <p:cNvSpPr>
            <a:spLocks xmlns:a="http://schemas.openxmlformats.org/drawingml/2006/main" noGrp="1"/>
          </p:cNvSpPr>
          <p:nvPr/>
        </p:nvSpPr>
        <p:spPr>
          <a:xfrm xmlns:a="http://schemas.openxmlformats.org/drawingml/2006/main">
            <a:off x="571500" y="1600200"/>
            <a:ext cx="5191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625" b="1">
                <a:solidFill>
                  <a:srgbClr val="008B8B"/>
                </a:solidFill>
                <a:latin typeface="Arial"/>
                <a:ea typeface="Arial"/>
                <a:cs typeface="Arial"/>
              </a:defRPr>
            </a:pPr>
            <a:r>
              <a:rPr sz="5625" b="1">
                <a:solidFill>
                  <a:srgbClr val="008B8B"/>
                </a:solidFill>
                <a:latin typeface="Arial"/>
                <a:ea typeface="Arial"/>
                <a:cs typeface="Arial"/>
              </a:rPr>
              <a:t>139 000</a:t>
            </a:r>
          </a:p>
        </p:txBody>
      </p:sp>
      <p:sp>
        <p:nvSpPr>
          <p:cNvPr id="5" name="so‘m / shifokor / oy">
            <a:extLst xmlns:a="http://schemas.openxmlformats.org/drawingml/2006/main">
              <a:ext uri="{FF2B5EF4-FFF2-40B4-BE49-F238E27FC236}">
                <a16:creationId xmlns:a16="http://schemas.microsoft.com/office/drawing/2014/main" id="{D91626F2-ABE4-4F2D-AC3E-A5B68554E535}"/>
              </a:ext>
            </a:extLst>
          </p:cNvPr>
          <p:cNvSpPr>
            <a:spLocks xmlns:a="http://schemas.openxmlformats.org/drawingml/2006/main" noGrp="1"/>
          </p:cNvSpPr>
          <p:nvPr/>
        </p:nvSpPr>
        <p:spPr>
          <a:xfrm xmlns:a="http://schemas.openxmlformats.org/drawingml/2006/main">
            <a:off x="571500" y="2667000"/>
            <a:ext cx="5191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5394B"/>
                </a:solidFill>
                <a:latin typeface="Arial"/>
                <a:ea typeface="Arial"/>
                <a:cs typeface="Arial"/>
              </a:defRPr>
            </a:pPr>
            <a:r>
              <a:rPr sz="2100" b="0">
                <a:solidFill>
                  <a:srgbClr val="15394B"/>
                </a:solidFill>
                <a:latin typeface="Arial"/>
                <a:ea typeface="Arial"/>
                <a:cs typeface="Arial"/>
              </a:rPr>
              <a:t>so‘m / shifokor / oy</a:t>
            </a:r>
          </a:p>
        </p:txBody>
      </p:sp>
      <p:sp>
        <p:nvSpPr>
          <p:cNvPr id="6" name="Clinic 10: 10 o‘rin to‘liq ishlatilganda">
            <a:extLst xmlns:a="http://schemas.openxmlformats.org/drawingml/2006/main">
              <a:ext uri="{FF2B5EF4-FFF2-40B4-BE49-F238E27FC236}">
                <a16:creationId xmlns:a16="http://schemas.microsoft.com/office/drawing/2014/main" id="{0007C230-6096-454D-9EAA-C0DEC7491C9D}"/>
              </a:ext>
            </a:extLst>
          </p:cNvPr>
          <p:cNvSpPr>
            <a:spLocks xmlns:a="http://schemas.openxmlformats.org/drawingml/2006/main" noGrp="1"/>
          </p:cNvSpPr>
          <p:nvPr/>
        </p:nvSpPr>
        <p:spPr>
          <a:xfrm xmlns:a="http://schemas.openxmlformats.org/drawingml/2006/main">
            <a:off x="571500" y="3343275"/>
            <a:ext cx="51911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87582"/>
                </a:solidFill>
                <a:latin typeface="Arial"/>
                <a:ea typeface="Arial"/>
                <a:cs typeface="Arial"/>
              </a:defRPr>
            </a:pPr>
            <a:r>
              <a:rPr sz="1875" b="0">
                <a:solidFill>
                  <a:srgbClr val="587582"/>
                </a:solidFill>
                <a:latin typeface="Arial"/>
                <a:ea typeface="Arial"/>
                <a:cs typeface="Arial"/>
              </a:rPr>
              <a:t>Clinic 10: 10 o‘rin to‘liq ishlatilganda</a:t>
            </a:r>
          </a:p>
        </p:txBody>
      </p:sp>
      <p:sp>
        <p:nvSpPr>
          <p:cNvPr id="7" name="95 600">
            <a:extLst xmlns:a="http://schemas.openxmlformats.org/drawingml/2006/main">
              <a:ext uri="{FF2B5EF4-FFF2-40B4-BE49-F238E27FC236}">
                <a16:creationId xmlns:a16="http://schemas.microsoft.com/office/drawing/2014/main" id="{E7F56051-1DBA-4F52-A8FE-175234CE4A5E}"/>
              </a:ext>
            </a:extLst>
          </p:cNvPr>
          <p:cNvSpPr>
            <a:spLocks xmlns:a="http://schemas.openxmlformats.org/drawingml/2006/main" noGrp="1"/>
          </p:cNvSpPr>
          <p:nvPr/>
        </p:nvSpPr>
        <p:spPr>
          <a:xfrm xmlns:a="http://schemas.openxmlformats.org/drawingml/2006/main">
            <a:off x="6381750" y="1600200"/>
            <a:ext cx="5191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625" b="1">
                <a:solidFill>
                  <a:srgbClr val="092536"/>
                </a:solidFill>
                <a:latin typeface="Arial"/>
                <a:ea typeface="Arial"/>
                <a:cs typeface="Arial"/>
              </a:defRPr>
            </a:pPr>
            <a:r>
              <a:rPr sz="5625" b="1">
                <a:solidFill>
                  <a:srgbClr val="092536"/>
                </a:solidFill>
                <a:latin typeface="Arial"/>
                <a:ea typeface="Arial"/>
                <a:cs typeface="Arial"/>
              </a:rPr>
              <a:t>95 600</a:t>
            </a:r>
          </a:p>
        </p:txBody>
      </p:sp>
      <p:sp>
        <p:nvSpPr>
          <p:cNvPr id="8" name="so‘m / shifokor / oy">
            <a:extLst xmlns:a="http://schemas.openxmlformats.org/drawingml/2006/main">
              <a:ext uri="{FF2B5EF4-FFF2-40B4-BE49-F238E27FC236}">
                <a16:creationId xmlns:a16="http://schemas.microsoft.com/office/drawing/2014/main" id="{C8E80560-BE9B-44F4-969C-E98B177B26B0}"/>
              </a:ext>
            </a:extLst>
          </p:cNvPr>
          <p:cNvSpPr>
            <a:spLocks xmlns:a="http://schemas.openxmlformats.org/drawingml/2006/main" noGrp="1"/>
          </p:cNvSpPr>
          <p:nvPr/>
        </p:nvSpPr>
        <p:spPr>
          <a:xfrm xmlns:a="http://schemas.openxmlformats.org/drawingml/2006/main">
            <a:off x="6381750" y="2667000"/>
            <a:ext cx="5191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5394B"/>
                </a:solidFill>
                <a:latin typeface="Arial"/>
                <a:ea typeface="Arial"/>
                <a:cs typeface="Arial"/>
              </a:defRPr>
            </a:pPr>
            <a:r>
              <a:rPr sz="2100" b="0">
                <a:solidFill>
                  <a:srgbClr val="15394B"/>
                </a:solidFill>
                <a:latin typeface="Arial"/>
                <a:ea typeface="Arial"/>
                <a:cs typeface="Arial"/>
              </a:rPr>
              <a:t>so‘m / shifokor / oy</a:t>
            </a:r>
          </a:p>
        </p:txBody>
      </p:sp>
      <p:sp>
        <p:nvSpPr>
          <p:cNvPr id="9" name="Clinic 25: 25 o‘rin to‘liq ishlatilganda">
            <a:extLst xmlns:a="http://schemas.openxmlformats.org/drawingml/2006/main">
              <a:ext uri="{FF2B5EF4-FFF2-40B4-BE49-F238E27FC236}">
                <a16:creationId xmlns:a16="http://schemas.microsoft.com/office/drawing/2014/main" id="{652CB68C-DCB1-47A4-9B42-F09A77130AF7}"/>
              </a:ext>
            </a:extLst>
          </p:cNvPr>
          <p:cNvSpPr>
            <a:spLocks xmlns:a="http://schemas.openxmlformats.org/drawingml/2006/main" noGrp="1"/>
          </p:cNvSpPr>
          <p:nvPr/>
        </p:nvSpPr>
        <p:spPr>
          <a:xfrm xmlns:a="http://schemas.openxmlformats.org/drawingml/2006/main">
            <a:off x="6381750" y="3343275"/>
            <a:ext cx="51911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87582"/>
                </a:solidFill>
                <a:latin typeface="Arial"/>
                <a:ea typeface="Arial"/>
                <a:cs typeface="Arial"/>
              </a:defRPr>
            </a:pPr>
            <a:r>
              <a:rPr sz="1875" b="0">
                <a:solidFill>
                  <a:srgbClr val="587582"/>
                </a:solidFill>
                <a:latin typeface="Arial"/>
                <a:ea typeface="Arial"/>
                <a:cs typeface="Arial"/>
              </a:rPr>
              <a:t>Clinic 25: 25 o‘rin to‘liq ishlatilganda</a:t>
            </a:r>
          </a:p>
        </p:txBody>
      </p:sp>
      <p:sp>
        <p:nvSpPr>
          <p:cNvPr id="10" name="">
            <a:extLst xmlns:a="http://schemas.openxmlformats.org/drawingml/2006/main">
              <a:ext uri="{FF2B5EF4-FFF2-40B4-BE49-F238E27FC236}">
                <a16:creationId xmlns:a16="http://schemas.microsoft.com/office/drawing/2014/main" id="{6F66EBA4-88C4-4846-BE30-C72DC602B805}"/>
              </a:ext>
            </a:extLst>
          </p:cNvPr>
          <p:cNvSpPr>
            <a:spLocks xmlns:a="http://schemas.openxmlformats.org/drawingml/2006/main" noGrp="1"/>
          </p:cNvSpPr>
          <p:nvPr/>
        </p:nvSpPr>
        <p:spPr>
          <a:xfrm xmlns:a="http://schemas.openxmlformats.org/drawingml/2006/main">
            <a:off x="571500" y="4476750"/>
            <a:ext cx="11049000" cy="0"/>
          </a:xfrm>
          <a:prstGeom xmlns:a="http://schemas.openxmlformats.org/drawingml/2006/main" prst="line">
            <a:avLst/>
          </a:prstGeom>
          <a:noFill xmlns:a="http://schemas.openxmlformats.org/drawingml/2006/main"/>
          <a:ln xmlns:a="http://schemas.openxmlformats.org/drawingml/2006/main" w="9525">
            <a:solidFill>
              <a:srgbClr val="D4E2E4"/>
            </a:solidFill>
          </a:ln>
        </p:spPr>
      </p:sp>
      <p:sp>
        <p:nvSpPr>
          <p:cNvPr id="11" name="Bevosita demo va tavsiya">
            <a:extLst xmlns:a="http://schemas.openxmlformats.org/drawingml/2006/main">
              <a:ext uri="{FF2B5EF4-FFF2-40B4-BE49-F238E27FC236}">
                <a16:creationId xmlns:a16="http://schemas.microsoft.com/office/drawing/2014/main" id="{4FC557C1-7E82-4F0D-881F-E4DA3C43D5D3}"/>
              </a:ext>
            </a:extLst>
          </p:cNvPr>
          <p:cNvSpPr>
            <a:spLocks xmlns:a="http://schemas.openxmlformats.org/drawingml/2006/main" noGrp="1"/>
          </p:cNvSpPr>
          <p:nvPr/>
        </p:nvSpPr>
        <p:spPr>
          <a:xfrm xmlns:a="http://schemas.openxmlformats.org/drawingml/2006/main">
            <a:off x="571500" y="4848225"/>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394B"/>
                </a:solidFill>
                <a:latin typeface="Arial"/>
                <a:ea typeface="Arial"/>
                <a:cs typeface="Arial"/>
              </a:defRPr>
            </a:pPr>
            <a:r>
              <a:rPr sz="2100" b="1">
                <a:solidFill>
                  <a:srgbClr val="15394B"/>
                </a:solidFill>
                <a:latin typeface="Arial"/>
                <a:ea typeface="Arial"/>
                <a:cs typeface="Arial"/>
              </a:rPr>
              <a:t>Bevosita demo va tavsiya</a:t>
            </a:r>
          </a:p>
        </p:txBody>
      </p:sp>
      <p:sp>
        <p:nvSpPr>
          <p:cNvPr id="12" name="Pilot natijasi asosida obuna taklifi">
            <a:extLst xmlns:a="http://schemas.openxmlformats.org/drawingml/2006/main">
              <a:ext uri="{FF2B5EF4-FFF2-40B4-BE49-F238E27FC236}">
                <a16:creationId xmlns:a16="http://schemas.microsoft.com/office/drawing/2014/main" id="{8BD80F14-F4D9-4BD9-B588-D728A01D79CC}"/>
              </a:ext>
            </a:extLst>
          </p:cNvPr>
          <p:cNvSpPr>
            <a:spLocks xmlns:a="http://schemas.openxmlformats.org/drawingml/2006/main" noGrp="1"/>
          </p:cNvSpPr>
          <p:nvPr/>
        </p:nvSpPr>
        <p:spPr>
          <a:xfrm xmlns:a="http://schemas.openxmlformats.org/drawingml/2006/main">
            <a:off x="571500" y="5362575"/>
            <a:ext cx="495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87582"/>
                </a:solidFill>
                <a:latin typeface="Arial"/>
                <a:ea typeface="Arial"/>
                <a:cs typeface="Arial"/>
              </a:defRPr>
            </a:pPr>
            <a:r>
              <a:rPr sz="1800" b="0">
                <a:solidFill>
                  <a:srgbClr val="587582"/>
                </a:solidFill>
                <a:latin typeface="Arial"/>
                <a:ea typeface="Arial"/>
                <a:cs typeface="Arial"/>
              </a:rPr>
              <a:t>Pilot natijasi asosida obuna taklifi</a:t>
            </a:r>
          </a:p>
        </p:txBody>
      </p:sp>
      <p:sp>
        <p:nvSpPr>
          <p:cNvPr id="13" name="Qayta xaridni o‘lchash">
            <a:extLst xmlns:a="http://schemas.openxmlformats.org/drawingml/2006/main">
              <a:ext uri="{FF2B5EF4-FFF2-40B4-BE49-F238E27FC236}">
                <a16:creationId xmlns:a16="http://schemas.microsoft.com/office/drawing/2014/main" id="{D0C66020-4264-4623-8097-5EF42EBBB4D0}"/>
              </a:ext>
            </a:extLst>
          </p:cNvPr>
          <p:cNvSpPr>
            <a:spLocks xmlns:a="http://schemas.openxmlformats.org/drawingml/2006/main" noGrp="1"/>
          </p:cNvSpPr>
          <p:nvPr/>
        </p:nvSpPr>
        <p:spPr>
          <a:xfrm xmlns:a="http://schemas.openxmlformats.org/drawingml/2006/main">
            <a:off x="6381750" y="4848225"/>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394B"/>
                </a:solidFill>
                <a:latin typeface="Arial"/>
                <a:ea typeface="Arial"/>
                <a:cs typeface="Arial"/>
              </a:defRPr>
            </a:pPr>
            <a:r>
              <a:rPr sz="2100" b="1">
                <a:solidFill>
                  <a:srgbClr val="15394B"/>
                </a:solidFill>
                <a:latin typeface="Arial"/>
                <a:ea typeface="Arial"/>
                <a:cs typeface="Arial"/>
              </a:rPr>
              <a:t>Qayta xaridni o‘lchash</a:t>
            </a:r>
          </a:p>
        </p:txBody>
      </p:sp>
      <p:sp>
        <p:nvSpPr>
          <p:cNvPr id="14" name="Faol foydalanish, yordam sarfi va yangilanish">
            <a:extLst xmlns:a="http://schemas.openxmlformats.org/drawingml/2006/main">
              <a:ext uri="{FF2B5EF4-FFF2-40B4-BE49-F238E27FC236}">
                <a16:creationId xmlns:a16="http://schemas.microsoft.com/office/drawing/2014/main" id="{3158CD1D-8CE4-44E4-95A6-7E44A979015A}"/>
              </a:ext>
            </a:extLst>
          </p:cNvPr>
          <p:cNvSpPr>
            <a:spLocks xmlns:a="http://schemas.openxmlformats.org/drawingml/2006/main" noGrp="1"/>
          </p:cNvSpPr>
          <p:nvPr/>
        </p:nvSpPr>
        <p:spPr>
          <a:xfrm xmlns:a="http://schemas.openxmlformats.org/drawingml/2006/main">
            <a:off x="6381750" y="5362575"/>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87582"/>
                </a:solidFill>
                <a:latin typeface="Arial"/>
                <a:ea typeface="Arial"/>
                <a:cs typeface="Arial"/>
              </a:defRPr>
            </a:pPr>
            <a:r>
              <a:rPr sz="1800" b="0">
                <a:solidFill>
                  <a:srgbClr val="587582"/>
                </a:solidFill>
                <a:latin typeface="Arial"/>
                <a:ea typeface="Arial"/>
                <a:cs typeface="Arial"/>
              </a:rPr>
              <a:t>Faol foydalanish, yordam sarfi va yangilanish</a:t>
            </a:r>
          </a:p>
        </p:txBody>
      </p:sp>
    </p:spTree>
    <p:extLst>
      <p:ext uri="{BB962C8B-B14F-4D97-AF65-F5344CB8AC3E}">
        <p14:creationId xmlns:p14="http://schemas.microsoft.com/office/powerpoint/2010/main" val="489164185"/>
      </p:ext>
    </p:extLst>
  </p:cSld>
</p:sld>
</file>

<file path=ppt/slides/slide13.xml><?xml version="1.0" encoding="utf-8"?>
<p:sld xmlns:p="http://schemas.openxmlformats.org/presentationml/2006/main">
  <p:cSld>
    <p:bg>
      <p:bgPr>
        <a:solidFill xmlns:a="http://schemas.openxmlformats.org/drawingml/2006/main">
          <a:srgbClr val="F3F8F7"/>
        </a:solidFill>
      </p:bgPr>
    </p:bg>
    <p:spTree>
      <p:nvGrpSpPr>
        <p:cNvPr id="1" name=""/>
        <p:cNvGrpSpPr/>
        <p:nvPr/>
      </p:nvGrpSpPr>
      <p:grpSpPr>
        <a:xfrm xmlns:a="http://schemas.openxmlformats.org/drawingml/2006/main"/>
      </p:grpSpPr>
      <p:sp>
        <p:nvSpPr>
          <p:cNvPr id="10" name="Foyda hisoblash xarajatiga bog‘liq">
            <a:extLst xmlns:a="http://schemas.openxmlformats.org/drawingml/2006/main">
              <a:ext uri="{FF2B5EF4-FFF2-40B4-BE49-F238E27FC236}">
                <a16:creationId xmlns:a16="http://schemas.microsoft.com/office/drawing/2014/main" id="{01E93BD2-2271-4487-A3E3-21D17B0DA0F7}"/>
              </a:ext>
            </a:extLst>
          </p:cNvPr>
          <p:cNvSpPr>
            <a:spLocks xmlns:a="http://schemas.openxmlformats.org/drawingml/2006/main" noGrp="1"/>
          </p:cNvSpPr>
          <p:nvPr/>
        </p:nvSpPr>
        <p:spPr>
          <a:xfrm xmlns:a="http://schemas.openxmlformats.org/drawingml/2006/main">
            <a:off x="571500" y="4191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92536"/>
                </a:solidFill>
                <a:latin typeface="Arial"/>
                <a:ea typeface="Arial"/>
                <a:cs typeface="Arial"/>
              </a:defRPr>
            </a:pPr>
            <a:r>
              <a:rPr sz="3300" b="1">
                <a:solidFill>
                  <a:srgbClr val="092536"/>
                </a:solidFill>
                <a:latin typeface="Arial"/>
                <a:ea typeface="Arial"/>
                <a:cs typeface="Arial"/>
              </a:rPr>
              <a:t>Foyda hisoblash xarajatiga bog‘liq</a:t>
            </a:r>
          </a:p>
        </p:txBody>
      </p:sp>
      <p:sp>
        <p:nvSpPr>
          <p:cNvPr id="2" name="Qo‘shimcha material">
            <a:extLst xmlns:a="http://schemas.openxmlformats.org/drawingml/2006/main">
              <a:ext uri="{FF2B5EF4-FFF2-40B4-BE49-F238E27FC236}">
                <a16:creationId xmlns:a16="http://schemas.microsoft.com/office/drawing/2014/main" id="{0DE7F6DA-78D4-4E26-B1F0-0C7A1242C7FA}"/>
              </a:ext>
            </a:extLst>
          </p:cNvPr>
          <p:cNvSpPr>
            <a:spLocks xmlns:a="http://schemas.openxmlformats.org/drawingml/2006/main" noGrp="1"/>
          </p:cNvSpPr>
          <p:nvPr/>
        </p:nvSpPr>
        <p:spPr>
          <a:xfrm xmlns:a="http://schemas.openxmlformats.org/drawingml/2006/main">
            <a:off x="571500" y="64674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87582"/>
                </a:solidFill>
                <a:latin typeface="Arial"/>
                <a:ea typeface="Arial"/>
                <a:cs typeface="Arial"/>
              </a:defRPr>
            </a:pPr>
            <a:r>
              <a:rPr sz="1125" b="0">
                <a:solidFill>
                  <a:srgbClr val="587582"/>
                </a:solidFill>
                <a:latin typeface="Arial"/>
                <a:ea typeface="Arial"/>
                <a:cs typeface="Arial"/>
              </a:rPr>
              <a:t>Qo‘shimcha material</a:t>
            </a:r>
          </a:p>
        </p:txBody>
      </p:sp>
      <p:sp>
        <p:nvSpPr>
          <p:cNvPr id="3" name="13">
            <a:extLst xmlns:a="http://schemas.openxmlformats.org/drawingml/2006/main">
              <a:ext uri="{FF2B5EF4-FFF2-40B4-BE49-F238E27FC236}">
                <a16:creationId xmlns:a16="http://schemas.microsoft.com/office/drawing/2014/main" id="{9FC0C926-9799-4BFA-9AEA-6ADDF1DF5E54}"/>
              </a:ext>
            </a:extLst>
          </p:cNvPr>
          <p:cNvSpPr>
            <a:spLocks xmlns:a="http://schemas.openxmlformats.org/drawingml/2006/main" noGrp="1"/>
          </p:cNvSpPr>
          <p:nvPr/>
        </p:nvSpPr>
        <p:spPr>
          <a:xfrm xmlns:a="http://schemas.openxmlformats.org/drawingml/2006/main">
            <a:off x="11049000" y="64484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87582"/>
                </a:solidFill>
                <a:latin typeface="Arial"/>
                <a:ea typeface="Arial"/>
                <a:cs typeface="Arial"/>
              </a:defRPr>
            </a:pPr>
            <a:r>
              <a:rPr sz="1200" b="0">
                <a:solidFill>
                  <a:srgbClr val="587582"/>
                </a:solidFill>
                <a:latin typeface="Arial"/>
                <a:ea typeface="Arial"/>
                <a:cs typeface="Arial"/>
              </a:rPr>
              <a:t>13</a:t>
            </a:r>
          </a:p>
        </p:txBody>
      </p:sp>
      <p:sp>
        <p:nvSpPr>
          <p:cNvPr id="4" name="Xarajatlardan keyingi shartli qoldiq, mln so‘m /">
            <a:extLst xmlns:a="http://schemas.openxmlformats.org/drawingml/2006/main">
              <a:ext uri="{FF2B5EF4-FFF2-40B4-BE49-F238E27FC236}">
                <a16:creationId xmlns:a16="http://schemas.microsoft.com/office/drawing/2014/main" id="{EFDAC035-2DEF-4EAF-8B1B-E628B3BD2E5E}"/>
              </a:ext>
            </a:extLst>
          </p:cNvPr>
          <p:cNvSpPr>
            <a:spLocks xmlns:a="http://schemas.openxmlformats.org/drawingml/2006/main" noGrp="1"/>
          </p:cNvSpPr>
          <p:nvPr/>
        </p:nvSpPr>
        <p:spPr>
          <a:xfrm xmlns:a="http://schemas.openxmlformats.org/drawingml/2006/main">
            <a:off x="571500" y="142875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87582"/>
                </a:solidFill>
                <a:latin typeface="Arial"/>
                <a:ea typeface="Arial"/>
                <a:cs typeface="Arial"/>
              </a:defRPr>
            </a:pPr>
            <a:r>
              <a:rPr sz="1800" b="0">
                <a:solidFill>
                  <a:srgbClr val="587582"/>
                </a:solidFill>
                <a:latin typeface="Arial"/>
                <a:ea typeface="Arial"/>
                <a:cs typeface="Arial"/>
              </a:rPr>
              <a:t>Xarajatlardan keyingi shartli qoldiq, mln so‘m / oy</a:t>
            </a:r>
          </a:p>
        </p:txBody>
      </p:sp>
      <p:graphicFrame>
        <p:nvGraphicFramePr>
          <p:cNvPr id="14" name="Chart"/>
          <p:cNvGraphicFramePr/>
          <p:nvPr/>
        </p:nvGraphicFramePr>
        <p:xfrm>
          <a:off xmlns:a="http://schemas.openxmlformats.org/drawingml/2006/main" x="571500" y="2038350"/>
          <a:ext xmlns:a="http://schemas.openxmlformats.org/drawingml/2006/main" cx="6858000" cy="3638550"/>
        </p:xfrm>
        <a:graphic xmlns:a="http://schemas.openxmlformats.org/drawingml/2006/main">
          <a:graphicData uri="http://schemas.openxmlformats.org/drawingml/2006/chart">
            <c:chart xmlns:r="http://schemas.openxmlformats.org/officeDocument/2006/relationships" xmlns:c="http://schemas.openxmlformats.org/drawingml/2006/chart" r:id="R89f0aa7990ab497e"/>
          </a:graphicData>
        </a:graphic>
      </p:graphicFrame>
      <p:sp>
        <p:nvSpPr>
          <p:cNvPr id="6" name="Bir AI tahliliga faraziy xarajat, so‘m">
            <a:extLst xmlns:a="http://schemas.openxmlformats.org/drawingml/2006/main">
              <a:ext uri="{FF2B5EF4-FFF2-40B4-BE49-F238E27FC236}">
                <a16:creationId xmlns:a16="http://schemas.microsoft.com/office/drawing/2014/main" id="{8EC5B6EB-AD3A-4C0D-9D00-09BB15149B6C}"/>
              </a:ext>
            </a:extLst>
          </p:cNvPr>
          <p:cNvSpPr>
            <a:spLocks xmlns:a="http://schemas.openxmlformats.org/drawingml/2006/main" noGrp="1"/>
          </p:cNvSpPr>
          <p:nvPr/>
        </p:nvSpPr>
        <p:spPr>
          <a:xfrm xmlns:a="http://schemas.openxmlformats.org/drawingml/2006/main">
            <a:off x="1047750" y="5715000"/>
            <a:ext cx="6429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87582"/>
                </a:solidFill>
                <a:latin typeface="Arial"/>
                <a:ea typeface="Arial"/>
                <a:cs typeface="Arial"/>
              </a:defRPr>
            </a:pPr>
            <a:r>
              <a:rPr sz="1425" b="0">
                <a:solidFill>
                  <a:srgbClr val="587582"/>
                </a:solidFill>
                <a:latin typeface="Arial"/>
                <a:ea typeface="Arial"/>
                <a:cs typeface="Arial"/>
              </a:rPr>
              <a:t>Bir AI tahliliga faraziy xarajat, so‘m</a:t>
            </a:r>
          </a:p>
        </p:txBody>
      </p:sp>
      <p:sp>
        <p:nvSpPr>
          <p:cNvPr id="7" name="Hisob farazlari">
            <a:extLst xmlns:a="http://schemas.openxmlformats.org/drawingml/2006/main">
              <a:ext uri="{FF2B5EF4-FFF2-40B4-BE49-F238E27FC236}">
                <a16:creationId xmlns:a16="http://schemas.microsoft.com/office/drawing/2014/main" id="{F36DEF0E-6733-4096-8AB9-B5EC7448CBEA}"/>
              </a:ext>
            </a:extLst>
          </p:cNvPr>
          <p:cNvSpPr>
            <a:spLocks xmlns:a="http://schemas.openxmlformats.org/drawingml/2006/main" noGrp="1"/>
          </p:cNvSpPr>
          <p:nvPr/>
        </p:nvSpPr>
        <p:spPr>
          <a:xfrm xmlns:a="http://schemas.openxmlformats.org/drawingml/2006/main">
            <a:off x="7905750" y="2066925"/>
            <a:ext cx="3714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5394B"/>
                </a:solidFill>
                <a:latin typeface="Arial"/>
                <a:ea typeface="Arial"/>
                <a:cs typeface="Arial"/>
              </a:defRPr>
            </a:pPr>
            <a:r>
              <a:rPr sz="2175" b="1">
                <a:solidFill>
                  <a:srgbClr val="15394B"/>
                </a:solidFill>
                <a:latin typeface="Arial"/>
                <a:ea typeface="Arial"/>
                <a:cs typeface="Arial"/>
              </a:rPr>
              <a:t>Hisob farazlari</a:t>
            </a:r>
          </a:p>
        </p:txBody>
      </p:sp>
      <p:sp>
        <p:nvSpPr>
          <p:cNvPr id="8" name="66,7 mln so‘m tushum&#10;330 faol shifokor&#10;13 200 ta">
            <a:extLst xmlns:a="http://schemas.openxmlformats.org/drawingml/2006/main">
              <a:ext uri="{FF2B5EF4-FFF2-40B4-BE49-F238E27FC236}">
                <a16:creationId xmlns:a16="http://schemas.microsoft.com/office/drawing/2014/main" id="{A08D3A57-52EA-49A7-8E34-4EE5384DD376}"/>
              </a:ext>
            </a:extLst>
          </p:cNvPr>
          <p:cNvSpPr>
            <a:spLocks xmlns:a="http://schemas.openxmlformats.org/drawingml/2006/main" noGrp="1"/>
          </p:cNvSpPr>
          <p:nvPr/>
        </p:nvSpPr>
        <p:spPr>
          <a:xfrm xmlns:a="http://schemas.openxmlformats.org/drawingml/2006/main">
            <a:off x="7905750" y="2733675"/>
            <a:ext cx="3714750"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87582"/>
                </a:solidFill>
                <a:latin typeface="Arial"/>
                <a:ea typeface="Arial"/>
                <a:cs typeface="Arial"/>
              </a:defRPr>
            </a:pPr>
            <a:r>
              <a:rPr sz="1800" b="0">
                <a:solidFill>
                  <a:srgbClr val="587582"/>
                </a:solidFill>
                <a:latin typeface="Arial"/>
                <a:ea typeface="Arial"/>
                <a:cs typeface="Arial"/>
              </a:rPr>
              <a:t>66,7 mln so‘m tushum</a:t>
            </a:r>
          </a:p>
          <a:p xmlns:a="http://schemas.openxmlformats.org/drawingml/2006/main">
            <a:pPr algn="l">
              <a:defRPr sz="1800" b="0">
                <a:solidFill>
                  <a:srgbClr val="587582"/>
                </a:solidFill>
                <a:latin typeface="Arial"/>
                <a:ea typeface="Arial"/>
                <a:cs typeface="Arial"/>
              </a:defRPr>
            </a:pPr>
            <a:r>
              <a:rPr sz="1800" b="0">
                <a:solidFill>
                  <a:srgbClr val="587582"/>
                </a:solidFill>
                <a:latin typeface="Arial"/>
                <a:ea typeface="Arial"/>
                <a:cs typeface="Arial"/>
              </a:rPr>
              <a:t>330 faol shifokor</a:t>
            </a:r>
          </a:p>
          <a:p xmlns:a="http://schemas.openxmlformats.org/drawingml/2006/main">
            <a:pPr algn="l">
              <a:defRPr sz="1800" b="0">
                <a:solidFill>
                  <a:srgbClr val="587582"/>
                </a:solidFill>
                <a:latin typeface="Arial"/>
                <a:ea typeface="Arial"/>
                <a:cs typeface="Arial"/>
              </a:defRPr>
            </a:pPr>
            <a:r>
              <a:rPr sz="1800" b="0">
                <a:solidFill>
                  <a:srgbClr val="587582"/>
                </a:solidFill>
                <a:latin typeface="Arial"/>
                <a:ea typeface="Arial"/>
                <a:cs typeface="Arial"/>
              </a:rPr>
              <a:t>13 200 tahlil / oy</a:t>
            </a:r>
          </a:p>
          <a:p xmlns:a="http://schemas.openxmlformats.org/drawingml/2006/main">
            <a:pPr algn="l">
              <a:defRPr sz="1800" b="0">
                <a:solidFill>
                  <a:srgbClr val="587582"/>
                </a:solidFill>
                <a:latin typeface="Arial"/>
                <a:ea typeface="Arial"/>
                <a:cs typeface="Arial"/>
              </a:defRPr>
            </a:pPr>
            <a:r>
              <a:rPr sz="1800" b="0">
                <a:solidFill>
                  <a:srgbClr val="587582"/>
                </a:solidFill>
                <a:latin typeface="Arial"/>
                <a:ea typeface="Arial"/>
                <a:cs typeface="Arial"/>
              </a:rPr>
              <a:t>25 mln doimiy xarajat</a:t>
            </a:r>
          </a:p>
          <a:p xmlns:a="http://schemas.openxmlformats.org/drawingml/2006/main">
            <a:pPr algn="l">
              <a:defRPr sz="1800" b="0">
                <a:solidFill>
                  <a:srgbClr val="587582"/>
                </a:solidFill>
                <a:latin typeface="Arial"/>
                <a:ea typeface="Arial"/>
                <a:cs typeface="Arial"/>
              </a:defRPr>
            </a:pPr>
            <a:r>
              <a:rPr sz="1800" b="0">
                <a:solidFill>
                  <a:srgbClr val="587582"/>
                </a:solidFill>
                <a:latin typeface="Arial"/>
                <a:ea typeface="Arial"/>
                <a:cs typeface="Arial"/>
              </a:rPr>
              <a:t>3,967 mln boshqa xarajat</a:t>
            </a:r>
          </a:p>
        </p:txBody>
      </p:sp>
      <p:sp>
        <p:nvSpPr>
          <p:cNvPr id="9" name="Sof foyda emas. Soliq, klinik validatsiya va ayr">
            <a:extLst xmlns:a="http://schemas.openxmlformats.org/drawingml/2006/main">
              <a:ext uri="{FF2B5EF4-FFF2-40B4-BE49-F238E27FC236}">
                <a16:creationId xmlns:a16="http://schemas.microsoft.com/office/drawing/2014/main" id="{6E0BD831-4757-495B-969F-D82F4B23E194}"/>
              </a:ext>
            </a:extLst>
          </p:cNvPr>
          <p:cNvSpPr>
            <a:spLocks xmlns:a="http://schemas.openxmlformats.org/drawingml/2006/main" noGrp="1"/>
          </p:cNvSpPr>
          <p:nvPr/>
        </p:nvSpPr>
        <p:spPr>
          <a:xfrm xmlns:a="http://schemas.openxmlformats.org/drawingml/2006/main">
            <a:off x="571500" y="609600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946321"/>
                </a:solidFill>
                <a:latin typeface="Arial"/>
                <a:ea typeface="Arial"/>
                <a:cs typeface="Arial"/>
              </a:defRPr>
            </a:pPr>
            <a:r>
              <a:rPr sz="1425" b="0">
                <a:solidFill>
                  <a:srgbClr val="946321"/>
                </a:solidFill>
                <a:latin typeface="Arial"/>
                <a:ea typeface="Arial"/>
                <a:cs typeface="Arial"/>
              </a:rPr>
              <a:t>Sof foyda emas. Soliq, klinik validatsiya va ayrim boshlang‘ich xarajatlar kiritilmagan.</a:t>
            </a:r>
          </a:p>
        </p:txBody>
      </p:sp>
    </p:spTree>
    <p:extLst>
      <p:ext uri="{BB962C8B-B14F-4D97-AF65-F5344CB8AC3E}">
        <p14:creationId xmlns:p14="http://schemas.microsoft.com/office/powerpoint/2010/main" val="225441741"/>
      </p:ext>
    </p:extLst>
  </p:cSld>
</p:sld>
</file>

<file path=ppt/slides/slide14.xml><?xml version="1.0" encoding="utf-8"?>
<p:sld xmlns:p="http://schemas.openxmlformats.org/presentationml/2006/main">
  <p:cSld>
    <p:bg>
      <p:bgPr>
        <a:solidFill xmlns:a="http://schemas.openxmlformats.org/drawingml/2006/main">
          <a:srgbClr val="F3F8F7"/>
        </a:solidFill>
      </p:bgPr>
    </p:bg>
    <p:spTree>
      <p:nvGrpSpPr>
        <p:cNvPr id="1" name=""/>
        <p:cNvGrpSpPr/>
        <p:nvPr/>
      </p:nvGrpSpPr>
      <p:grpSpPr>
        <a:xfrm xmlns:a="http://schemas.openxmlformats.org/drawingml/2006/main"/>
      </p:grpSpPr>
      <p:sp>
        <p:nvSpPr>
          <p:cNvPr id="10" name="Tibbiy natijani qanday talqin qilamiz">
            <a:extLst xmlns:a="http://schemas.openxmlformats.org/drawingml/2006/main">
              <a:ext uri="{FF2B5EF4-FFF2-40B4-BE49-F238E27FC236}">
                <a16:creationId xmlns:a16="http://schemas.microsoft.com/office/drawing/2014/main" id="{9728107C-2D67-40AC-8950-BB65E008E21B}"/>
              </a:ext>
            </a:extLst>
          </p:cNvPr>
          <p:cNvSpPr>
            <a:spLocks xmlns:a="http://schemas.openxmlformats.org/drawingml/2006/main" noGrp="1"/>
          </p:cNvSpPr>
          <p:nvPr/>
        </p:nvSpPr>
        <p:spPr>
          <a:xfrm xmlns:a="http://schemas.openxmlformats.org/drawingml/2006/main">
            <a:off x="571500" y="4191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92536"/>
                </a:solidFill>
                <a:latin typeface="Arial"/>
                <a:ea typeface="Arial"/>
                <a:cs typeface="Arial"/>
              </a:defRPr>
            </a:pPr>
            <a:r>
              <a:rPr sz="3300" b="1">
                <a:solidFill>
                  <a:srgbClr val="092536"/>
                </a:solidFill>
                <a:latin typeface="Arial"/>
                <a:ea typeface="Arial"/>
                <a:cs typeface="Arial"/>
              </a:rPr>
              <a:t>Tibbiy natijani qanday talqin qilamiz</a:t>
            </a:r>
          </a:p>
        </p:txBody>
      </p:sp>
      <p:sp>
        <p:nvSpPr>
          <p:cNvPr id="2" name="Qo‘shimcha material">
            <a:extLst xmlns:a="http://schemas.openxmlformats.org/drawingml/2006/main">
              <a:ext uri="{FF2B5EF4-FFF2-40B4-BE49-F238E27FC236}">
                <a16:creationId xmlns:a16="http://schemas.microsoft.com/office/drawing/2014/main" id="{B31B8B1B-2DB3-44C2-826F-D163E3B04B23}"/>
              </a:ext>
            </a:extLst>
          </p:cNvPr>
          <p:cNvSpPr>
            <a:spLocks xmlns:a="http://schemas.openxmlformats.org/drawingml/2006/main" noGrp="1"/>
          </p:cNvSpPr>
          <p:nvPr/>
        </p:nvSpPr>
        <p:spPr>
          <a:xfrm xmlns:a="http://schemas.openxmlformats.org/drawingml/2006/main">
            <a:off x="571500" y="64674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87582"/>
                </a:solidFill>
                <a:latin typeface="Arial"/>
                <a:ea typeface="Arial"/>
                <a:cs typeface="Arial"/>
              </a:defRPr>
            </a:pPr>
            <a:r>
              <a:rPr sz="1125" b="0">
                <a:solidFill>
                  <a:srgbClr val="587582"/>
                </a:solidFill>
                <a:latin typeface="Arial"/>
                <a:ea typeface="Arial"/>
                <a:cs typeface="Arial"/>
              </a:rPr>
              <a:t>Qo‘shimcha material</a:t>
            </a:r>
          </a:p>
        </p:txBody>
      </p:sp>
      <p:sp>
        <p:nvSpPr>
          <p:cNvPr id="3" name="14">
            <a:extLst xmlns:a="http://schemas.openxmlformats.org/drawingml/2006/main">
              <a:ext uri="{FF2B5EF4-FFF2-40B4-BE49-F238E27FC236}">
                <a16:creationId xmlns:a16="http://schemas.microsoft.com/office/drawing/2014/main" id="{CFC9B72C-1DA0-47BD-8B1A-A5240DD4DD4F}"/>
              </a:ext>
            </a:extLst>
          </p:cNvPr>
          <p:cNvSpPr>
            <a:spLocks xmlns:a="http://schemas.openxmlformats.org/drawingml/2006/main" noGrp="1"/>
          </p:cNvSpPr>
          <p:nvPr/>
        </p:nvSpPr>
        <p:spPr>
          <a:xfrm xmlns:a="http://schemas.openxmlformats.org/drawingml/2006/main">
            <a:off x="11049000" y="64484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87582"/>
                </a:solidFill>
                <a:latin typeface="Arial"/>
                <a:ea typeface="Arial"/>
                <a:cs typeface="Arial"/>
              </a:defRPr>
            </a:pPr>
            <a:r>
              <a:rPr sz="1200" b="0">
                <a:solidFill>
                  <a:srgbClr val="587582"/>
                </a:solidFill>
                <a:latin typeface="Arial"/>
                <a:ea typeface="Arial"/>
                <a:cs typeface="Arial"/>
              </a:rPr>
              <a:t>14</a:t>
            </a:r>
          </a:p>
        </p:txBody>
      </p:sp>
      <p:sp>
        <p:nvSpPr>
          <p:cNvPr id="4" name="5 yillik kuzatuv ssenariysi">
            <a:extLst xmlns:a="http://schemas.openxmlformats.org/drawingml/2006/main">
              <a:ext uri="{FF2B5EF4-FFF2-40B4-BE49-F238E27FC236}">
                <a16:creationId xmlns:a16="http://schemas.microsoft.com/office/drawing/2014/main" id="{6FB9C970-997E-41A0-A85E-3B454B16D55E}"/>
              </a:ext>
            </a:extLst>
          </p:cNvPr>
          <p:cNvSpPr>
            <a:spLocks xmlns:a="http://schemas.openxmlformats.org/drawingml/2006/main" noGrp="1"/>
          </p:cNvSpPr>
          <p:nvPr/>
        </p:nvSpPr>
        <p:spPr>
          <a:xfrm xmlns:a="http://schemas.openxmlformats.org/drawingml/2006/main">
            <a:off x="571500" y="1600200"/>
            <a:ext cx="6048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8B8B"/>
                </a:solidFill>
                <a:latin typeface="Arial"/>
                <a:ea typeface="Arial"/>
                <a:cs typeface="Arial"/>
              </a:defRPr>
            </a:pPr>
            <a:r>
              <a:rPr sz="2475" b="1">
                <a:solidFill>
                  <a:srgbClr val="008B8B"/>
                </a:solidFill>
                <a:latin typeface="Arial"/>
                <a:ea typeface="Arial"/>
                <a:cs typeface="Arial"/>
              </a:rPr>
              <a:t>5 yillik kuzatuv ssenariysi</a:t>
            </a:r>
          </a:p>
        </p:txBody>
      </p:sp>
      <p:sp>
        <p:nvSpPr>
          <p:cNvPr id="5" name="Individual kasallik ehtimoli&#10;klinik tasdiqlanmag">
            <a:extLst xmlns:a="http://schemas.openxmlformats.org/drawingml/2006/main">
              <a:ext uri="{FF2B5EF4-FFF2-40B4-BE49-F238E27FC236}">
                <a16:creationId xmlns:a16="http://schemas.microsoft.com/office/drawing/2014/main" id="{13823FE8-48C6-42C6-AAE9-2324036336FC}"/>
              </a:ext>
            </a:extLst>
          </p:cNvPr>
          <p:cNvSpPr>
            <a:spLocks xmlns:a="http://schemas.openxmlformats.org/drawingml/2006/main" noGrp="1"/>
          </p:cNvSpPr>
          <p:nvPr/>
        </p:nvSpPr>
        <p:spPr>
          <a:xfrm xmlns:a="http://schemas.openxmlformats.org/drawingml/2006/main">
            <a:off x="571500" y="2324100"/>
            <a:ext cx="5762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5394B"/>
                </a:solidFill>
                <a:latin typeface="Arial"/>
                <a:ea typeface="Arial"/>
                <a:cs typeface="Arial"/>
              </a:defRPr>
            </a:pPr>
            <a:r>
              <a:rPr sz="2175" b="0">
                <a:solidFill>
                  <a:srgbClr val="15394B"/>
                </a:solidFill>
                <a:latin typeface="Arial"/>
                <a:ea typeface="Arial"/>
                <a:cs typeface="Arial"/>
              </a:rPr>
              <a:t>Individual kasallik ehtimoli</a:t>
            </a:r>
          </a:p>
          <a:p xmlns:a="http://schemas.openxmlformats.org/drawingml/2006/main">
            <a:pPr algn="l">
              <a:defRPr sz="2175" b="0">
                <a:solidFill>
                  <a:srgbClr val="15394B"/>
                </a:solidFill>
                <a:latin typeface="Arial"/>
                <a:ea typeface="Arial"/>
                <a:cs typeface="Arial"/>
              </a:defRPr>
            </a:pPr>
            <a:r>
              <a:rPr sz="2175" b="0">
                <a:solidFill>
                  <a:srgbClr val="15394B"/>
                </a:solidFill>
                <a:latin typeface="Arial"/>
                <a:ea typeface="Arial"/>
                <a:cs typeface="Arial"/>
              </a:rPr>
              <a:t>klinik tasdiqlanmagan.</a:t>
            </a:r>
          </a:p>
        </p:txBody>
      </p:sp>
      <p:sp>
        <p:nvSpPr>
          <p:cNvPr id="6" name="Ma’lumot yetmasa, platforma&#10;prognoz uchun cheklo">
            <a:extLst xmlns:a="http://schemas.openxmlformats.org/drawingml/2006/main">
              <a:ext uri="{FF2B5EF4-FFF2-40B4-BE49-F238E27FC236}">
                <a16:creationId xmlns:a16="http://schemas.microsoft.com/office/drawing/2014/main" id="{B8E09A0E-F6D4-4C69-8238-46B811B32847}"/>
              </a:ext>
            </a:extLst>
          </p:cNvPr>
          <p:cNvSpPr>
            <a:spLocks xmlns:a="http://schemas.openxmlformats.org/drawingml/2006/main" noGrp="1"/>
          </p:cNvSpPr>
          <p:nvPr/>
        </p:nvSpPr>
        <p:spPr>
          <a:xfrm xmlns:a="http://schemas.openxmlformats.org/drawingml/2006/main">
            <a:off x="571500" y="3648075"/>
            <a:ext cx="5810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87582"/>
                </a:solidFill>
                <a:latin typeface="Arial"/>
                <a:ea typeface="Arial"/>
                <a:cs typeface="Arial"/>
              </a:defRPr>
            </a:pPr>
            <a:r>
              <a:rPr sz="2025" b="0">
                <a:solidFill>
                  <a:srgbClr val="587582"/>
                </a:solidFill>
                <a:latin typeface="Arial"/>
                <a:ea typeface="Arial"/>
                <a:cs typeface="Arial"/>
              </a:rPr>
              <a:t>Ma’lumot yetmasa, platforma</a:t>
            </a:r>
          </a:p>
          <a:p xmlns:a="http://schemas.openxmlformats.org/drawingml/2006/main">
            <a:pPr algn="l">
              <a:defRPr sz="2025" b="0">
                <a:solidFill>
                  <a:srgbClr val="587582"/>
                </a:solidFill>
                <a:latin typeface="Arial"/>
                <a:ea typeface="Arial"/>
                <a:cs typeface="Arial"/>
              </a:defRPr>
            </a:pPr>
            <a:r>
              <a:rPr sz="2025" b="0">
                <a:solidFill>
                  <a:srgbClr val="587582"/>
                </a:solidFill>
                <a:latin typeface="Arial"/>
                <a:ea typeface="Arial"/>
                <a:cs typeface="Arial"/>
              </a:rPr>
              <a:t>prognoz uchun cheklovni ko‘rsatadi.</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23fa267299b4867"/>
          <a:stretch xmlns:a="http://schemas.openxmlformats.org/drawingml/2006/main"/>
        </p:blipFill>
        <p:spPr>
          <a:xfrm xmlns:a="http://schemas.openxmlformats.org/drawingml/2006/main">
            <a:off x="6905625" y="1637040"/>
            <a:ext cx="4714875" cy="3393421"/>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C59DB15-12DE-4C6A-B843-9C8051854912}"/>
              </a:ext>
            </a:extLst>
          </p:cNvPr>
          <p:cNvSpPr>
            <a:spLocks xmlns:a="http://schemas.openxmlformats.org/drawingml/2006/main" noGrp="1"/>
          </p:cNvSpPr>
          <p:nvPr/>
        </p:nvSpPr>
        <p:spPr>
          <a:xfrm xmlns:a="http://schemas.openxmlformats.org/drawingml/2006/main">
            <a:off x="571500" y="5143500"/>
            <a:ext cx="11049000" cy="0"/>
          </a:xfrm>
          <a:prstGeom xmlns:a="http://schemas.openxmlformats.org/drawingml/2006/main" prst="line">
            <a:avLst/>
          </a:prstGeom>
          <a:noFill xmlns:a="http://schemas.openxmlformats.org/drawingml/2006/main"/>
          <a:ln xmlns:a="http://schemas.openxmlformats.org/drawingml/2006/main" w="9525">
            <a:solidFill>
              <a:srgbClr val="D4E2E4"/>
            </a:solidFill>
          </a:ln>
        </p:spPr>
      </p:sp>
      <p:sp>
        <p:nvSpPr>
          <p:cNvPr id="9" name="Kuzatilgan xato: model manbada bor davolash bosh">
            <a:extLst xmlns:a="http://schemas.openxmlformats.org/drawingml/2006/main">
              <a:ext uri="{FF2B5EF4-FFF2-40B4-BE49-F238E27FC236}">
                <a16:creationId xmlns:a16="http://schemas.microsoft.com/office/drawing/2014/main" id="{01504CE1-35D5-4795-88A9-B59EE8751F23}"/>
              </a:ext>
            </a:extLst>
          </p:cNvPr>
          <p:cNvSpPr>
            <a:spLocks xmlns:a="http://schemas.openxmlformats.org/drawingml/2006/main" noGrp="1"/>
          </p:cNvSpPr>
          <p:nvPr/>
        </p:nvSpPr>
        <p:spPr>
          <a:xfrm xmlns:a="http://schemas.openxmlformats.org/drawingml/2006/main">
            <a:off x="571500" y="5505450"/>
            <a:ext cx="11049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946321"/>
                </a:solidFill>
                <a:latin typeface="Arial"/>
                <a:ea typeface="Arial"/>
                <a:cs typeface="Arial"/>
              </a:defRPr>
            </a:pPr>
            <a:r>
              <a:rPr sz="1725" b="0">
                <a:solidFill>
                  <a:srgbClr val="946321"/>
                </a:solidFill>
                <a:latin typeface="Arial"/>
                <a:ea typeface="Arial"/>
                <a:cs typeface="Arial"/>
              </a:rPr>
              <a:t>Kuzatilgan xato: model manbada bor davolash boshlanish vaqtini qayta so‘radi.</a:t>
            </a:r>
          </a:p>
          <a:p xmlns:a="http://schemas.openxmlformats.org/drawingml/2006/main">
            <a:pPr algn="l">
              <a:defRPr sz="1725" b="0">
                <a:solidFill>
                  <a:srgbClr val="946321"/>
                </a:solidFill>
                <a:latin typeface="Arial"/>
                <a:ea typeface="Arial"/>
                <a:cs typeface="Arial"/>
              </a:defRPr>
            </a:pPr>
            <a:r>
              <a:rPr sz="1725" b="0">
                <a:solidFill>
                  <a:srgbClr val="946321"/>
                </a:solidFill>
                <a:latin typeface="Arial"/>
                <a:ea typeface="Arial"/>
                <a:cs typeface="Arial"/>
              </a:rPr>
              <a:t>Dalilga havola borligi mazmunning to‘g‘riligini kafolatlamaydi.</a:t>
            </a:r>
          </a:p>
        </p:txBody>
      </p:sp>
    </p:spTree>
    <p:extLst>
      <p:ext uri="{BB962C8B-B14F-4D97-AF65-F5344CB8AC3E}">
        <p14:creationId xmlns:p14="http://schemas.microsoft.com/office/powerpoint/2010/main" val="503150619"/>
      </p:ext>
    </p:extLst>
  </p:cSld>
</p:sld>
</file>

<file path=ppt/slides/slide15.xml><?xml version="1.0" encoding="utf-8"?>
<p:sld xmlns:p="http://schemas.openxmlformats.org/presentationml/2006/main">
  <p:cSld>
    <p:bg>
      <p:bgPr>
        <a:solidFill xmlns:a="http://schemas.openxmlformats.org/drawingml/2006/main">
          <a:srgbClr val="F3F8F7"/>
        </a:solidFill>
      </p:bgPr>
    </p:bg>
    <p:spTree>
      <p:nvGrpSpPr>
        <p:cNvPr id="1" name=""/>
        <p:cNvGrpSpPr/>
        <p:nvPr/>
      </p:nvGrpSpPr>
      <p:grpSpPr>
        <a:xfrm xmlns:a="http://schemas.openxmlformats.org/drawingml/2006/main"/>
      </p:grpSpPr>
      <p:sp>
        <p:nvSpPr>
          <p:cNvPr id="6" name="Pilotda qanday dalil yig‘amiz">
            <a:extLst xmlns:a="http://schemas.openxmlformats.org/drawingml/2006/main">
              <a:ext uri="{FF2B5EF4-FFF2-40B4-BE49-F238E27FC236}">
                <a16:creationId xmlns:a16="http://schemas.microsoft.com/office/drawing/2014/main" id="{779ADDBB-379C-4326-9DA7-F8C9AF2019AA}"/>
              </a:ext>
            </a:extLst>
          </p:cNvPr>
          <p:cNvSpPr>
            <a:spLocks xmlns:a="http://schemas.openxmlformats.org/drawingml/2006/main" noGrp="1"/>
          </p:cNvSpPr>
          <p:nvPr/>
        </p:nvSpPr>
        <p:spPr>
          <a:xfrm xmlns:a="http://schemas.openxmlformats.org/drawingml/2006/main">
            <a:off x="571500" y="4191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92536"/>
                </a:solidFill>
                <a:latin typeface="Arial"/>
                <a:ea typeface="Arial"/>
                <a:cs typeface="Arial"/>
              </a:defRPr>
            </a:pPr>
            <a:r>
              <a:rPr sz="3300" b="1">
                <a:solidFill>
                  <a:srgbClr val="092536"/>
                </a:solidFill>
                <a:latin typeface="Arial"/>
                <a:ea typeface="Arial"/>
                <a:cs typeface="Arial"/>
              </a:rPr>
              <a:t>Pilotda qanday dalil yig‘amiz</a:t>
            </a:r>
          </a:p>
        </p:txBody>
      </p:sp>
      <p:sp>
        <p:nvSpPr>
          <p:cNvPr id="2" name="Qo‘shimcha material">
            <a:extLst xmlns:a="http://schemas.openxmlformats.org/drawingml/2006/main">
              <a:ext uri="{FF2B5EF4-FFF2-40B4-BE49-F238E27FC236}">
                <a16:creationId xmlns:a16="http://schemas.microsoft.com/office/drawing/2014/main" id="{573C9002-1299-47E4-BDAA-18FC338A0600}"/>
              </a:ext>
            </a:extLst>
          </p:cNvPr>
          <p:cNvSpPr>
            <a:spLocks xmlns:a="http://schemas.openxmlformats.org/drawingml/2006/main" noGrp="1"/>
          </p:cNvSpPr>
          <p:nvPr/>
        </p:nvSpPr>
        <p:spPr>
          <a:xfrm xmlns:a="http://schemas.openxmlformats.org/drawingml/2006/main">
            <a:off x="571500" y="64674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87582"/>
                </a:solidFill>
                <a:latin typeface="Arial"/>
                <a:ea typeface="Arial"/>
                <a:cs typeface="Arial"/>
              </a:defRPr>
            </a:pPr>
            <a:r>
              <a:rPr sz="1125" b="0">
                <a:solidFill>
                  <a:srgbClr val="587582"/>
                </a:solidFill>
                <a:latin typeface="Arial"/>
                <a:ea typeface="Arial"/>
                <a:cs typeface="Arial"/>
              </a:rPr>
              <a:t>Qo‘shimcha material</a:t>
            </a:r>
          </a:p>
        </p:txBody>
      </p:sp>
      <p:sp>
        <p:nvSpPr>
          <p:cNvPr id="3" name="15">
            <a:extLst xmlns:a="http://schemas.openxmlformats.org/drawingml/2006/main">
              <a:ext uri="{FF2B5EF4-FFF2-40B4-BE49-F238E27FC236}">
                <a16:creationId xmlns:a16="http://schemas.microsoft.com/office/drawing/2014/main" id="{04F211F6-A458-4331-9AFF-D7C65B6F6BC8}"/>
              </a:ext>
            </a:extLst>
          </p:cNvPr>
          <p:cNvSpPr>
            <a:spLocks xmlns:a="http://schemas.openxmlformats.org/drawingml/2006/main" noGrp="1"/>
          </p:cNvSpPr>
          <p:nvPr/>
        </p:nvSpPr>
        <p:spPr>
          <a:xfrm xmlns:a="http://schemas.openxmlformats.org/drawingml/2006/main">
            <a:off x="11049000" y="64484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87582"/>
                </a:solidFill>
                <a:latin typeface="Arial"/>
                <a:ea typeface="Arial"/>
                <a:cs typeface="Arial"/>
              </a:defRPr>
            </a:pPr>
            <a:r>
              <a:rPr sz="1200" b="0">
                <a:solidFill>
                  <a:srgbClr val="587582"/>
                </a:solidFill>
                <a:latin typeface="Arial"/>
                <a:ea typeface="Arial"/>
                <a:cs typeface="Arial"/>
              </a:rPr>
              <a:t>15</a:t>
            </a:r>
          </a:p>
        </p:txBody>
      </p:sp>
      <p:graphicFrame>
        <p:nvGraphicFramePr>
          <p:cNvPr id="9" name=""/>
          <p:cNvGraphicFramePr/>
          <p:nvPr/>
        </p:nvGraphicFramePr>
        <p:xfrm>
          <a:off xmlns:a="http://schemas.openxmlformats.org/drawingml/2006/main" x="571500" y="1600200"/>
          <a:ext xmlns:a="http://schemas.openxmlformats.org/drawingml/2006/main" cx="11049000" cy="4048125"/>
        </p:xfrm>
        <a:graphic xmlns:a="http://schemas.openxmlformats.org/drawingml/2006/main">
          <a:graphicData uri="http://schemas.openxmlformats.org/drawingml/2006/table">
            <a:tbl>
              <a:tblPr/>
              <a:tblGrid>
                <a:gridCol w="2476500"/>
                <a:gridCol w="4524375"/>
                <a:gridCol w="4048125"/>
              </a:tblGrid>
              <a:tr h="674688">
                <a:tc>
                  <a:txBody>
                    <a:bodyPr/>
                    <a:lstStyle/>
                    <a:p>
                      <a:r>
                        <a:rPr sz="1725" b="1">
                          <a:solidFill>
                            <a:srgbClr val="FFFFFF"/>
                          </a:solidFill>
                          <a:latin typeface="Arial"/>
                          <a:ea typeface="Arial"/>
                          <a:cs typeface="Arial"/>
                        </a:rPr>
                        <a:t>O‘lchov</a:t>
                      </a:r>
                    </a:p>
                  </a:txBody>
                  <a:tcPr marL="152400" marR="133350" marT="114300" marB="95250" anchor="ctr">
                    <a:solidFill>
                      <a:srgbClr val="092536"/>
                    </a:solidFill>
                  </a:tcPr>
                </a:tc>
                <a:tc>
                  <a:txBody>
                    <a:bodyPr/>
                    <a:lstStyle/>
                    <a:p>
                      <a:r>
                        <a:rPr sz="1725" b="1">
                          <a:solidFill>
                            <a:srgbClr val="FFFFFF"/>
                          </a:solidFill>
                          <a:latin typeface="Arial"/>
                          <a:ea typeface="Arial"/>
                          <a:cs typeface="Arial"/>
                        </a:rPr>
                        <a:t>Usul</a:t>
                      </a:r>
                    </a:p>
                  </a:txBody>
                  <a:tcPr marL="152400" marR="133350" marT="114300" marB="95250" anchor="ctr">
                    <a:solidFill>
                      <a:srgbClr val="092536"/>
                    </a:solidFill>
                  </a:tcPr>
                </a:tc>
                <a:tc>
                  <a:txBody>
                    <a:bodyPr/>
                    <a:lstStyle/>
                    <a:p>
                      <a:r>
                        <a:rPr sz="1725" b="1">
                          <a:solidFill>
                            <a:srgbClr val="FFFFFF"/>
                          </a:solidFill>
                          <a:latin typeface="Arial"/>
                          <a:ea typeface="Arial"/>
                          <a:cs typeface="Arial"/>
                        </a:rPr>
                        <a:t>Natija nimani bildiradi?</a:t>
                      </a:r>
                    </a:p>
                  </a:txBody>
                  <a:tcPr marL="152400" marR="133350" marT="114300" marB="95250" anchor="ctr">
                    <a:solidFill>
                      <a:srgbClr val="092536"/>
                    </a:solidFill>
                  </a:tcPr>
                </a:tc>
              </a:tr>
              <a:tr h="674688">
                <a:tc>
                  <a:txBody>
                    <a:bodyPr/>
                    <a:lstStyle/>
                    <a:p>
                      <a:r>
                        <a:rPr sz="1725">
                          <a:solidFill>
                            <a:srgbClr val="15394B"/>
                          </a:solidFill>
                          <a:latin typeface="Arial"/>
                          <a:ea typeface="Arial"/>
                          <a:cs typeface="Arial"/>
                        </a:rPr>
                        <a:t>Ish jarayoni</a:t>
                      </a:r>
                    </a:p>
                  </a:txBody>
                  <a:tcPr marL="152400" marR="133350" marT="114300" marB="95250" anchor="ctr">
                    <a:solidFill>
                      <a:srgbClr val="FFFFFF"/>
                    </a:solidFill>
                  </a:tcPr>
                </a:tc>
                <a:tc>
                  <a:txBody>
                    <a:bodyPr/>
                    <a:lstStyle/>
                    <a:p>
                      <a:r>
                        <a:rPr sz="1725">
                          <a:solidFill>
                            <a:srgbClr val="15394B"/>
                          </a:solidFill>
                          <a:latin typeface="Arial"/>
                          <a:ea typeface="Arial"/>
                          <a:cs typeface="Arial"/>
                        </a:rPr>
                        <a:t>AI bilan va AIsiz tayyorlash vaqti</a:t>
                      </a:r>
                    </a:p>
                  </a:txBody>
                  <a:tcPr marL="152400" marR="133350" marT="114300" marB="95250" anchor="ctr">
                    <a:solidFill>
                      <a:srgbClr val="FFFFFF"/>
                    </a:solidFill>
                  </a:tcPr>
                </a:tc>
                <a:tc>
                  <a:txBody>
                    <a:bodyPr/>
                    <a:lstStyle/>
                    <a:p>
                      <a:r>
                        <a:rPr sz="1725">
                          <a:solidFill>
                            <a:srgbClr val="15394B"/>
                          </a:solidFill>
                          <a:latin typeface="Arial"/>
                          <a:ea typeface="Arial"/>
                          <a:cs typeface="Arial"/>
                        </a:rPr>
                        <a:t>Shifokor uchun qulaylik</a:t>
                      </a:r>
                    </a:p>
                  </a:txBody>
                  <a:tcPr marL="152400" marR="133350" marT="114300" marB="95250" anchor="ctr">
                    <a:solidFill>
                      <a:srgbClr val="FFFFFF"/>
                    </a:solidFill>
                  </a:tcPr>
                </a:tc>
              </a:tr>
              <a:tr h="674688">
                <a:tc>
                  <a:txBody>
                    <a:bodyPr/>
                    <a:lstStyle/>
                    <a:p>
                      <a:r>
                        <a:rPr sz="1725">
                          <a:solidFill>
                            <a:srgbClr val="15394B"/>
                          </a:solidFill>
                          <a:latin typeface="Arial"/>
                          <a:ea typeface="Arial"/>
                          <a:cs typeface="Arial"/>
                        </a:rPr>
                        <a:t>Klinik mazmun</a:t>
                      </a:r>
                    </a:p>
                  </a:txBody>
                  <a:tcPr marL="152400" marR="133350" marT="114300" marB="95250" anchor="ctr">
                    <a:solidFill>
                      <a:srgbClr val="FFFFFF"/>
                    </a:solidFill>
                  </a:tcPr>
                </a:tc>
                <a:tc>
                  <a:txBody>
                    <a:bodyPr/>
                    <a:lstStyle/>
                    <a:p>
                      <a:r>
                        <a:rPr sz="1725">
                          <a:solidFill>
                            <a:srgbClr val="15394B"/>
                          </a:solidFill>
                          <a:latin typeface="Arial"/>
                          <a:ea typeface="Arial"/>
                          <a:cs typeface="Arial"/>
                        </a:rPr>
                        <a:t>Mustaqil ekspertning etalon javobi</a:t>
                      </a:r>
                    </a:p>
                  </a:txBody>
                  <a:tcPr marL="152400" marR="133350" marT="114300" marB="95250" anchor="ctr">
                    <a:solidFill>
                      <a:srgbClr val="FFFFFF"/>
                    </a:solidFill>
                  </a:tcPr>
                </a:tc>
                <a:tc>
                  <a:txBody>
                    <a:bodyPr/>
                    <a:lstStyle/>
                    <a:p>
                      <a:r>
                        <a:rPr sz="1725">
                          <a:solidFill>
                            <a:srgbClr val="15394B"/>
                          </a:solidFill>
                          <a:latin typeface="Arial"/>
                          <a:ea typeface="Arial"/>
                          <a:cs typeface="Arial"/>
                        </a:rPr>
                        <a:t>Xato va cheklovlar</a:t>
                      </a:r>
                    </a:p>
                  </a:txBody>
                  <a:tcPr marL="152400" marR="133350" marT="114300" marB="95250" anchor="ctr">
                    <a:solidFill>
                      <a:srgbClr val="FFFFFF"/>
                    </a:solidFill>
                  </a:tcPr>
                </a:tc>
              </a:tr>
              <a:tr h="674688">
                <a:tc>
                  <a:txBody>
                    <a:bodyPr/>
                    <a:lstStyle/>
                    <a:p>
                      <a:r>
                        <a:rPr sz="1725">
                          <a:solidFill>
                            <a:srgbClr val="15394B"/>
                          </a:solidFill>
                          <a:latin typeface="Arial"/>
                          <a:ea typeface="Arial"/>
                          <a:cs typeface="Arial"/>
                        </a:rPr>
                        <a:t>Radiologiya</a:t>
                      </a:r>
                    </a:p>
                  </a:txBody>
                  <a:tcPr marL="152400" marR="133350" marT="114300" marB="95250" anchor="ctr">
                    <a:solidFill>
                      <a:srgbClr val="FFFFFF"/>
                    </a:solidFill>
                  </a:tcPr>
                </a:tc>
                <a:tc>
                  <a:txBody>
                    <a:bodyPr/>
                    <a:lstStyle/>
                    <a:p>
                      <a:r>
                        <a:rPr sz="1725">
                          <a:solidFill>
                            <a:srgbClr val="15394B"/>
                          </a:solidFill>
                          <a:latin typeface="Arial"/>
                          <a:ea typeface="Arial"/>
                          <a:cs typeface="Arial"/>
                        </a:rPr>
                        <a:t>Modalitet va patologiya bo‘yicha ajratish</a:t>
                      </a:r>
                    </a:p>
                  </a:txBody>
                  <a:tcPr marL="152400" marR="133350" marT="114300" marB="95250" anchor="ctr">
                    <a:solidFill>
                      <a:srgbClr val="FFFFFF"/>
                    </a:solidFill>
                  </a:tcPr>
                </a:tc>
                <a:tc>
                  <a:txBody>
                    <a:bodyPr/>
                    <a:lstStyle/>
                    <a:p>
                      <a:r>
                        <a:rPr sz="1725">
                          <a:solidFill>
                            <a:srgbClr val="15394B"/>
                          </a:solidFill>
                          <a:latin typeface="Arial"/>
                          <a:ea typeface="Arial"/>
                          <a:cs typeface="Arial"/>
                        </a:rPr>
                        <a:t>Aniq foydalanish doirasidagi natija</a:t>
                      </a:r>
                    </a:p>
                  </a:txBody>
                  <a:tcPr marL="152400" marR="133350" marT="114300" marB="95250" anchor="ctr">
                    <a:solidFill>
                      <a:srgbClr val="FFFFFF"/>
                    </a:solidFill>
                  </a:tcPr>
                </a:tc>
              </a:tr>
              <a:tr h="674688">
                <a:tc>
                  <a:txBody>
                    <a:bodyPr/>
                    <a:lstStyle/>
                    <a:p>
                      <a:r>
                        <a:rPr sz="1725">
                          <a:solidFill>
                            <a:srgbClr val="15394B"/>
                          </a:solidFill>
                          <a:latin typeface="Arial"/>
                          <a:ea typeface="Arial"/>
                          <a:cs typeface="Arial"/>
                        </a:rPr>
                        <a:t>Hisoblash</a:t>
                      </a:r>
                    </a:p>
                  </a:txBody>
                  <a:tcPr marL="152400" marR="133350" marT="114300" marB="95250" anchor="ctr">
                    <a:solidFill>
                      <a:srgbClr val="FFFFFF"/>
                    </a:solidFill>
                  </a:tcPr>
                </a:tc>
                <a:tc>
                  <a:txBody>
                    <a:bodyPr/>
                    <a:lstStyle/>
                    <a:p>
                      <a:r>
                        <a:rPr sz="1725">
                          <a:solidFill>
                            <a:srgbClr val="15394B"/>
                          </a:solidFill>
                          <a:latin typeface="Arial"/>
                          <a:ea typeface="Arial"/>
                          <a:cs typeface="Arial"/>
                        </a:rPr>
                        <a:t>Yuklama, p50/p95 va sarf o‘lchovi</a:t>
                      </a:r>
                    </a:p>
                  </a:txBody>
                  <a:tcPr marL="152400" marR="133350" marT="114300" marB="95250" anchor="ctr">
                    <a:solidFill>
                      <a:srgbClr val="FFFFFF"/>
                    </a:solidFill>
                  </a:tcPr>
                </a:tc>
                <a:tc>
                  <a:txBody>
                    <a:bodyPr/>
                    <a:lstStyle/>
                    <a:p>
                      <a:r>
                        <a:rPr sz="1725">
                          <a:solidFill>
                            <a:srgbClr val="15394B"/>
                          </a:solidFill>
                          <a:latin typeface="Arial"/>
                          <a:ea typeface="Arial"/>
                          <a:cs typeface="Arial"/>
                        </a:rPr>
                        <a:t>Server sig‘imi va tannarx</a:t>
                      </a:r>
                    </a:p>
                  </a:txBody>
                  <a:tcPr marL="152400" marR="133350" marT="114300" marB="95250" anchor="ctr">
                    <a:solidFill>
                      <a:srgbClr val="FFFFFF"/>
                    </a:solidFill>
                  </a:tcPr>
                </a:tc>
              </a:tr>
              <a:tr h="674688">
                <a:tc>
                  <a:txBody>
                    <a:bodyPr/>
                    <a:lstStyle/>
                    <a:p>
                      <a:r>
                        <a:rPr sz="1725">
                          <a:solidFill>
                            <a:srgbClr val="15394B"/>
                          </a:solidFill>
                          <a:latin typeface="Arial"/>
                          <a:ea typeface="Arial"/>
                          <a:cs typeface="Arial"/>
                        </a:rPr>
                        <a:t>Sotuv</a:t>
                      </a:r>
                    </a:p>
                  </a:txBody>
                  <a:tcPr marL="152400" marR="133350" marT="114300" marB="95250" anchor="ctr">
                    <a:solidFill>
                      <a:srgbClr val="FFFFFF"/>
                    </a:solidFill>
                  </a:tcPr>
                </a:tc>
                <a:tc>
                  <a:txBody>
                    <a:bodyPr/>
                    <a:lstStyle/>
                    <a:p>
                      <a:r>
                        <a:rPr sz="1725">
                          <a:solidFill>
                            <a:srgbClr val="15394B"/>
                          </a:solidFill>
                          <a:latin typeface="Arial"/>
                          <a:ea typeface="Arial"/>
                          <a:cs typeface="Arial"/>
                        </a:rPr>
                        <a:t>Pullik konversiya va yangilanish</a:t>
                      </a:r>
                    </a:p>
                  </a:txBody>
                  <a:tcPr marL="152400" marR="133350" marT="114300" marB="95250" anchor="ctr">
                    <a:solidFill>
                      <a:srgbClr val="FFFFFF"/>
                    </a:solidFill>
                  </a:tcPr>
                </a:tc>
                <a:tc>
                  <a:txBody>
                    <a:bodyPr/>
                    <a:lstStyle/>
                    <a:p>
                      <a:r>
                        <a:rPr sz="1725">
                          <a:solidFill>
                            <a:srgbClr val="15394B"/>
                          </a:solidFill>
                          <a:latin typeface="Arial"/>
                          <a:ea typeface="Arial"/>
                          <a:cs typeface="Arial"/>
                        </a:rPr>
                        <a:t>Talab va takroriy tushum</a:t>
                      </a:r>
                    </a:p>
                  </a:txBody>
                  <a:tcPr marL="152400" marR="133350" marT="114300" marB="95250" anchor="ctr">
                    <a:solidFill>
                      <a:srgbClr val="FFFFFF"/>
                    </a:solidFill>
                  </a:tcPr>
                </a:tc>
              </a:tr>
            </a:tbl>
          </a:graphicData>
        </a:graphic>
      </p:graphicFrame>
      <p:sp>
        <p:nvSpPr>
          <p:cNvPr id="5" name="200 holatli dastlabki pilot umumiy diagnostik an">
            <a:extLst xmlns:a="http://schemas.openxmlformats.org/drawingml/2006/main">
              <a:ext uri="{FF2B5EF4-FFF2-40B4-BE49-F238E27FC236}">
                <a16:creationId xmlns:a16="http://schemas.microsoft.com/office/drawing/2014/main" id="{197B71C6-1EC4-448D-89E3-A6C6A4D684F1}"/>
              </a:ext>
            </a:extLst>
          </p:cNvPr>
          <p:cNvSpPr>
            <a:spLocks xmlns:a="http://schemas.openxmlformats.org/drawingml/2006/main" noGrp="1"/>
          </p:cNvSpPr>
          <p:nvPr/>
        </p:nvSpPr>
        <p:spPr>
          <a:xfrm xmlns:a="http://schemas.openxmlformats.org/drawingml/2006/main">
            <a:off x="571500" y="598170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946321"/>
                </a:solidFill>
                <a:latin typeface="Arial"/>
                <a:ea typeface="Arial"/>
                <a:cs typeface="Arial"/>
              </a:defRPr>
            </a:pPr>
            <a:r>
              <a:rPr sz="1650" b="0">
                <a:solidFill>
                  <a:srgbClr val="946321"/>
                </a:solidFill>
                <a:latin typeface="Arial"/>
                <a:ea typeface="Arial"/>
                <a:cs typeface="Arial"/>
              </a:rPr>
              <a:t>200 holatli dastlabki pilot umumiy diagnostik aniqlikni isbotlashga yetmaydi.</a:t>
            </a:r>
          </a:p>
        </p:txBody>
      </p:sp>
    </p:spTree>
    <p:extLst>
      <p:ext uri="{BB962C8B-B14F-4D97-AF65-F5344CB8AC3E}">
        <p14:creationId xmlns:p14="http://schemas.microsoft.com/office/powerpoint/2010/main" val="1122975396"/>
      </p:ext>
    </p:extLst>
  </p:cSld>
</p:sld>
</file>

<file path=ppt/slides/slide16.xml><?xml version="1.0" encoding="utf-8"?>
<p:sld xmlns:p="http://schemas.openxmlformats.org/presentationml/2006/main">
  <p:cSld>
    <p:bg>
      <p:bgPr>
        <a:solidFill xmlns:a="http://schemas.openxmlformats.org/drawingml/2006/main">
          <a:srgbClr val="F3F8F7"/>
        </a:solidFill>
      </p:bgPr>
    </p:bg>
    <p:spTree>
      <p:nvGrpSpPr>
        <p:cNvPr id="1" name=""/>
        <p:cNvGrpSpPr/>
        <p:nvPr/>
      </p:nvGrpSpPr>
      <p:grpSpPr>
        <a:xfrm xmlns:a="http://schemas.openxmlformats.org/drawingml/2006/main"/>
      </p:grpSpPr>
      <p:sp>
        <p:nvSpPr>
          <p:cNvPr id="16" name="Muhandislik tekshiruvlari">
            <a:extLst xmlns:a="http://schemas.openxmlformats.org/drawingml/2006/main">
              <a:ext uri="{FF2B5EF4-FFF2-40B4-BE49-F238E27FC236}">
                <a16:creationId xmlns:a16="http://schemas.microsoft.com/office/drawing/2014/main" id="{1E497B3F-4FFE-4061-A7CC-DF50ADCBF116}"/>
              </a:ext>
            </a:extLst>
          </p:cNvPr>
          <p:cNvSpPr>
            <a:spLocks xmlns:a="http://schemas.openxmlformats.org/drawingml/2006/main" noGrp="1"/>
          </p:cNvSpPr>
          <p:nvPr/>
        </p:nvSpPr>
        <p:spPr>
          <a:xfrm xmlns:a="http://schemas.openxmlformats.org/drawingml/2006/main">
            <a:off x="571500" y="4191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92536"/>
                </a:solidFill>
                <a:latin typeface="Arial"/>
                <a:ea typeface="Arial"/>
                <a:cs typeface="Arial"/>
              </a:defRPr>
            </a:pPr>
            <a:r>
              <a:rPr sz="3300" b="1">
                <a:solidFill>
                  <a:srgbClr val="092536"/>
                </a:solidFill>
                <a:latin typeface="Arial"/>
                <a:ea typeface="Arial"/>
                <a:cs typeface="Arial"/>
              </a:rPr>
              <a:t>Muhandislik tekshiruvlari</a:t>
            </a:r>
          </a:p>
        </p:txBody>
      </p:sp>
      <p:sp>
        <p:nvSpPr>
          <p:cNvPr id="2" name="Qo‘shimcha material">
            <a:extLst xmlns:a="http://schemas.openxmlformats.org/drawingml/2006/main">
              <a:ext uri="{FF2B5EF4-FFF2-40B4-BE49-F238E27FC236}">
                <a16:creationId xmlns:a16="http://schemas.microsoft.com/office/drawing/2014/main" id="{5BA7C3DD-5A12-4452-9CC1-5311380162D2}"/>
              </a:ext>
            </a:extLst>
          </p:cNvPr>
          <p:cNvSpPr>
            <a:spLocks xmlns:a="http://schemas.openxmlformats.org/drawingml/2006/main" noGrp="1"/>
          </p:cNvSpPr>
          <p:nvPr/>
        </p:nvSpPr>
        <p:spPr>
          <a:xfrm xmlns:a="http://schemas.openxmlformats.org/drawingml/2006/main">
            <a:off x="571500" y="64674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87582"/>
                </a:solidFill>
                <a:latin typeface="Arial"/>
                <a:ea typeface="Arial"/>
                <a:cs typeface="Arial"/>
              </a:defRPr>
            </a:pPr>
            <a:r>
              <a:rPr sz="1125" b="0">
                <a:solidFill>
                  <a:srgbClr val="587582"/>
                </a:solidFill>
                <a:latin typeface="Arial"/>
                <a:ea typeface="Arial"/>
                <a:cs typeface="Arial"/>
              </a:rPr>
              <a:t>Qo‘shimcha material</a:t>
            </a:r>
          </a:p>
        </p:txBody>
      </p:sp>
      <p:sp>
        <p:nvSpPr>
          <p:cNvPr id="3" name="16">
            <a:extLst xmlns:a="http://schemas.openxmlformats.org/drawingml/2006/main">
              <a:ext uri="{FF2B5EF4-FFF2-40B4-BE49-F238E27FC236}">
                <a16:creationId xmlns:a16="http://schemas.microsoft.com/office/drawing/2014/main" id="{0D812A90-06B6-40F3-865A-2507336A6833}"/>
              </a:ext>
            </a:extLst>
          </p:cNvPr>
          <p:cNvSpPr>
            <a:spLocks xmlns:a="http://schemas.openxmlformats.org/drawingml/2006/main" noGrp="1"/>
          </p:cNvSpPr>
          <p:nvPr/>
        </p:nvSpPr>
        <p:spPr>
          <a:xfrm xmlns:a="http://schemas.openxmlformats.org/drawingml/2006/main">
            <a:off x="11049000" y="64484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87582"/>
                </a:solidFill>
                <a:latin typeface="Arial"/>
                <a:ea typeface="Arial"/>
                <a:cs typeface="Arial"/>
              </a:defRPr>
            </a:pPr>
            <a:r>
              <a:rPr sz="1200" b="0">
                <a:solidFill>
                  <a:srgbClr val="587582"/>
                </a:solidFill>
                <a:latin typeface="Arial"/>
                <a:ea typeface="Arial"/>
                <a:cs typeface="Arial"/>
              </a:rPr>
              <a:t>16</a:t>
            </a:r>
          </a:p>
        </p:txBody>
      </p:sp>
      <p:sp>
        <p:nvSpPr>
          <p:cNvPr id="4" name="245">
            <a:extLst xmlns:a="http://schemas.openxmlformats.org/drawingml/2006/main">
              <a:ext uri="{FF2B5EF4-FFF2-40B4-BE49-F238E27FC236}">
                <a16:creationId xmlns:a16="http://schemas.microsoft.com/office/drawing/2014/main" id="{E336AA96-068C-460C-8AFC-05F8BDA2B9BD}"/>
              </a:ext>
            </a:extLst>
          </p:cNvPr>
          <p:cNvSpPr>
            <a:spLocks xmlns:a="http://schemas.openxmlformats.org/drawingml/2006/main" noGrp="1"/>
          </p:cNvSpPr>
          <p:nvPr/>
        </p:nvSpPr>
        <p:spPr>
          <a:xfrm xmlns:a="http://schemas.openxmlformats.org/drawingml/2006/main">
            <a:off x="571500" y="1619250"/>
            <a:ext cx="3238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925" b="1">
                <a:solidFill>
                  <a:srgbClr val="092536"/>
                </a:solidFill>
                <a:latin typeface="Arial"/>
                <a:ea typeface="Arial"/>
                <a:cs typeface="Arial"/>
              </a:defRPr>
            </a:pPr>
            <a:r>
              <a:rPr sz="5925" b="1">
                <a:solidFill>
                  <a:srgbClr val="092536"/>
                </a:solidFill>
                <a:latin typeface="Arial"/>
                <a:ea typeface="Arial"/>
                <a:cs typeface="Arial"/>
              </a:rPr>
              <a:t>245</a:t>
            </a:r>
          </a:p>
        </p:txBody>
      </p:sp>
      <p:sp>
        <p:nvSpPr>
          <p:cNvPr id="5" name="Backend testlari">
            <a:extLst xmlns:a="http://schemas.openxmlformats.org/drawingml/2006/main">
              <a:ext uri="{FF2B5EF4-FFF2-40B4-BE49-F238E27FC236}">
                <a16:creationId xmlns:a16="http://schemas.microsoft.com/office/drawing/2014/main" id="{D4332236-49B5-461A-A038-F919C6921392}"/>
              </a:ext>
            </a:extLst>
          </p:cNvPr>
          <p:cNvSpPr>
            <a:spLocks xmlns:a="http://schemas.openxmlformats.org/drawingml/2006/main" noGrp="1"/>
          </p:cNvSpPr>
          <p:nvPr/>
        </p:nvSpPr>
        <p:spPr>
          <a:xfrm xmlns:a="http://schemas.openxmlformats.org/drawingml/2006/main">
            <a:off x="571500" y="2781300"/>
            <a:ext cx="3381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87582"/>
                </a:solidFill>
                <a:latin typeface="Arial"/>
                <a:ea typeface="Arial"/>
                <a:cs typeface="Arial"/>
              </a:defRPr>
            </a:pPr>
            <a:r>
              <a:rPr sz="1950" b="0">
                <a:solidFill>
                  <a:srgbClr val="587582"/>
                </a:solidFill>
                <a:latin typeface="Arial"/>
                <a:ea typeface="Arial"/>
                <a:cs typeface="Arial"/>
              </a:rPr>
              <a:t>Backend testlari</a:t>
            </a:r>
          </a:p>
        </p:txBody>
      </p:sp>
      <p:sp>
        <p:nvSpPr>
          <p:cNvPr id="6" name="60">
            <a:extLst xmlns:a="http://schemas.openxmlformats.org/drawingml/2006/main">
              <a:ext uri="{FF2B5EF4-FFF2-40B4-BE49-F238E27FC236}">
                <a16:creationId xmlns:a16="http://schemas.microsoft.com/office/drawing/2014/main" id="{C38F3723-9B4C-4E3F-A2B3-44E030E3C4C5}"/>
              </a:ext>
            </a:extLst>
          </p:cNvPr>
          <p:cNvSpPr>
            <a:spLocks xmlns:a="http://schemas.openxmlformats.org/drawingml/2006/main" noGrp="1"/>
          </p:cNvSpPr>
          <p:nvPr/>
        </p:nvSpPr>
        <p:spPr>
          <a:xfrm xmlns:a="http://schemas.openxmlformats.org/drawingml/2006/main">
            <a:off x="4381500" y="1619250"/>
            <a:ext cx="3238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925" b="1">
                <a:solidFill>
                  <a:srgbClr val="008B8B"/>
                </a:solidFill>
                <a:latin typeface="Arial"/>
                <a:ea typeface="Arial"/>
                <a:cs typeface="Arial"/>
              </a:defRPr>
            </a:pPr>
            <a:r>
              <a:rPr sz="5925" b="1">
                <a:solidFill>
                  <a:srgbClr val="008B8B"/>
                </a:solidFill>
                <a:latin typeface="Arial"/>
                <a:ea typeface="Arial"/>
                <a:cs typeface="Arial"/>
              </a:rPr>
              <a:t>60</a:t>
            </a:r>
          </a:p>
        </p:txBody>
      </p:sp>
      <p:sp>
        <p:nvSpPr>
          <p:cNvPr id="7" name="Frontend testlari">
            <a:extLst xmlns:a="http://schemas.openxmlformats.org/drawingml/2006/main">
              <a:ext uri="{FF2B5EF4-FFF2-40B4-BE49-F238E27FC236}">
                <a16:creationId xmlns:a16="http://schemas.microsoft.com/office/drawing/2014/main" id="{77BCD8AC-E187-4579-94EB-5037F15A2C0E}"/>
              </a:ext>
            </a:extLst>
          </p:cNvPr>
          <p:cNvSpPr>
            <a:spLocks xmlns:a="http://schemas.openxmlformats.org/drawingml/2006/main" noGrp="1"/>
          </p:cNvSpPr>
          <p:nvPr/>
        </p:nvSpPr>
        <p:spPr>
          <a:xfrm xmlns:a="http://schemas.openxmlformats.org/drawingml/2006/main">
            <a:off x="4381500" y="2781300"/>
            <a:ext cx="3381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87582"/>
                </a:solidFill>
                <a:latin typeface="Arial"/>
                <a:ea typeface="Arial"/>
                <a:cs typeface="Arial"/>
              </a:defRPr>
            </a:pPr>
            <a:r>
              <a:rPr sz="1950" b="0">
                <a:solidFill>
                  <a:srgbClr val="587582"/>
                </a:solidFill>
                <a:latin typeface="Arial"/>
                <a:ea typeface="Arial"/>
                <a:cs typeface="Arial"/>
              </a:rPr>
              <a:t>Frontend testlari</a:t>
            </a:r>
          </a:p>
        </p:txBody>
      </p:sp>
      <p:sp>
        <p:nvSpPr>
          <p:cNvPr id="8" name="7">
            <a:extLst xmlns:a="http://schemas.openxmlformats.org/drawingml/2006/main">
              <a:ext uri="{FF2B5EF4-FFF2-40B4-BE49-F238E27FC236}">
                <a16:creationId xmlns:a16="http://schemas.microsoft.com/office/drawing/2014/main" id="{21A0B744-5409-4ED6-8B73-0EB9BA13A349}"/>
              </a:ext>
            </a:extLst>
          </p:cNvPr>
          <p:cNvSpPr>
            <a:spLocks xmlns:a="http://schemas.openxmlformats.org/drawingml/2006/main" noGrp="1"/>
          </p:cNvSpPr>
          <p:nvPr/>
        </p:nvSpPr>
        <p:spPr>
          <a:xfrm xmlns:a="http://schemas.openxmlformats.org/drawingml/2006/main">
            <a:off x="8191500" y="1619250"/>
            <a:ext cx="3238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925" b="1">
                <a:solidFill>
                  <a:srgbClr val="092536"/>
                </a:solidFill>
                <a:latin typeface="Arial"/>
                <a:ea typeface="Arial"/>
                <a:cs typeface="Arial"/>
              </a:defRPr>
            </a:pPr>
            <a:r>
              <a:rPr sz="5925" b="1">
                <a:solidFill>
                  <a:srgbClr val="092536"/>
                </a:solidFill>
                <a:latin typeface="Arial"/>
                <a:ea typeface="Arial"/>
                <a:cs typeface="Arial"/>
              </a:rPr>
              <a:t>7</a:t>
            </a:r>
          </a:p>
        </p:txBody>
      </p:sp>
      <p:sp>
        <p:nvSpPr>
          <p:cNvPr id="9" name="Brauzer ssenariylari">
            <a:extLst xmlns:a="http://schemas.openxmlformats.org/drawingml/2006/main">
              <a:ext uri="{FF2B5EF4-FFF2-40B4-BE49-F238E27FC236}">
                <a16:creationId xmlns:a16="http://schemas.microsoft.com/office/drawing/2014/main" id="{23262C54-D27B-48AA-BB7D-0A0A386B2DCB}"/>
              </a:ext>
            </a:extLst>
          </p:cNvPr>
          <p:cNvSpPr>
            <a:spLocks xmlns:a="http://schemas.openxmlformats.org/drawingml/2006/main" noGrp="1"/>
          </p:cNvSpPr>
          <p:nvPr/>
        </p:nvSpPr>
        <p:spPr>
          <a:xfrm xmlns:a="http://schemas.openxmlformats.org/drawingml/2006/main">
            <a:off x="8191500" y="2781300"/>
            <a:ext cx="3381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87582"/>
                </a:solidFill>
                <a:latin typeface="Arial"/>
                <a:ea typeface="Arial"/>
                <a:cs typeface="Arial"/>
              </a:defRPr>
            </a:pPr>
            <a:r>
              <a:rPr sz="1950" b="0">
                <a:solidFill>
                  <a:srgbClr val="587582"/>
                </a:solidFill>
                <a:latin typeface="Arial"/>
                <a:ea typeface="Arial"/>
                <a:cs typeface="Arial"/>
              </a:rPr>
              <a:t>Brauzer ssenariylari</a:t>
            </a:r>
          </a:p>
        </p:txBody>
      </p:sp>
      <p:sp>
        <p:nvSpPr>
          <p:cNvPr id="10" name="">
            <a:extLst xmlns:a="http://schemas.openxmlformats.org/drawingml/2006/main">
              <a:ext uri="{FF2B5EF4-FFF2-40B4-BE49-F238E27FC236}">
                <a16:creationId xmlns:a16="http://schemas.microsoft.com/office/drawing/2014/main" id="{B0B14DD5-5D97-48D3-8B2C-3E41292F4C71}"/>
              </a:ext>
            </a:extLst>
          </p:cNvPr>
          <p:cNvSpPr>
            <a:spLocks xmlns:a="http://schemas.openxmlformats.org/drawingml/2006/main" noGrp="1"/>
          </p:cNvSpPr>
          <p:nvPr/>
        </p:nvSpPr>
        <p:spPr>
          <a:xfrm xmlns:a="http://schemas.openxmlformats.org/drawingml/2006/main">
            <a:off x="571500" y="3571875"/>
            <a:ext cx="11049000" cy="0"/>
          </a:xfrm>
          <a:prstGeom xmlns:a="http://schemas.openxmlformats.org/drawingml/2006/main" prst="line">
            <a:avLst/>
          </a:prstGeom>
          <a:noFill xmlns:a="http://schemas.openxmlformats.org/drawingml/2006/main"/>
          <a:ln xmlns:a="http://schemas.openxmlformats.org/drawingml/2006/main" w="9525">
            <a:solidFill>
              <a:srgbClr val="D4E2E4"/>
            </a:solidFill>
          </a:ln>
        </p:spPr>
      </p:sp>
      <p:sp>
        <p:nvSpPr>
          <p:cNvPr id="11" name="68,41 soniya">
            <a:extLst xmlns:a="http://schemas.openxmlformats.org/drawingml/2006/main">
              <a:ext uri="{FF2B5EF4-FFF2-40B4-BE49-F238E27FC236}">
                <a16:creationId xmlns:a16="http://schemas.microsoft.com/office/drawing/2014/main" id="{A842B14A-409C-4AD0-9C74-C1FC8A332D8A}"/>
              </a:ext>
            </a:extLst>
          </p:cNvPr>
          <p:cNvSpPr>
            <a:spLocks xmlns:a="http://schemas.openxmlformats.org/drawingml/2006/main" noGrp="1"/>
          </p:cNvSpPr>
          <p:nvPr/>
        </p:nvSpPr>
        <p:spPr>
          <a:xfrm xmlns:a="http://schemas.openxmlformats.org/drawingml/2006/main">
            <a:off x="571500" y="4048125"/>
            <a:ext cx="4905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008B8B"/>
                </a:solidFill>
                <a:latin typeface="Arial"/>
                <a:ea typeface="Arial"/>
                <a:cs typeface="Arial"/>
              </a:defRPr>
            </a:pPr>
            <a:r>
              <a:rPr sz="3225" b="1">
                <a:solidFill>
                  <a:srgbClr val="008B8B"/>
                </a:solidFill>
                <a:latin typeface="Arial"/>
                <a:ea typeface="Arial"/>
                <a:cs typeface="Arial"/>
              </a:rPr>
              <a:t>68,41 soniya</a:t>
            </a:r>
          </a:p>
        </p:txBody>
      </p:sp>
      <p:sp>
        <p:nvSpPr>
          <p:cNvPr id="12" name="Klinik sintetik sinov&#10;Bitta qayta tuzatish bilan">
            <a:extLst xmlns:a="http://schemas.openxmlformats.org/drawingml/2006/main">
              <a:ext uri="{FF2B5EF4-FFF2-40B4-BE49-F238E27FC236}">
                <a16:creationId xmlns:a16="http://schemas.microsoft.com/office/drawing/2014/main" id="{A8FB12A3-67B7-49F2-8A4F-5D7BD5C8371E}"/>
              </a:ext>
            </a:extLst>
          </p:cNvPr>
          <p:cNvSpPr>
            <a:spLocks xmlns:a="http://schemas.openxmlformats.org/drawingml/2006/main" noGrp="1"/>
          </p:cNvSpPr>
          <p:nvPr/>
        </p:nvSpPr>
        <p:spPr>
          <a:xfrm xmlns:a="http://schemas.openxmlformats.org/drawingml/2006/main">
            <a:off x="571500" y="4819650"/>
            <a:ext cx="5143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5394B"/>
                </a:solidFill>
                <a:latin typeface="Arial"/>
                <a:ea typeface="Arial"/>
                <a:cs typeface="Arial"/>
              </a:defRPr>
            </a:pPr>
            <a:r>
              <a:rPr sz="1875" b="0">
                <a:solidFill>
                  <a:srgbClr val="15394B"/>
                </a:solidFill>
                <a:latin typeface="Arial"/>
                <a:ea typeface="Arial"/>
                <a:cs typeface="Arial"/>
              </a:rPr>
              <a:t>Klinik sintetik sinov</a:t>
            </a:r>
          </a:p>
          <a:p xmlns:a="http://schemas.openxmlformats.org/drawingml/2006/main">
            <a:pPr algn="l">
              <a:defRPr sz="1875" b="0">
                <a:solidFill>
                  <a:srgbClr val="15394B"/>
                </a:solidFill>
                <a:latin typeface="Arial"/>
                <a:ea typeface="Arial"/>
                <a:cs typeface="Arial"/>
              </a:defRPr>
            </a:pPr>
            <a:r>
              <a:rPr sz="1875" b="0">
                <a:solidFill>
                  <a:srgbClr val="15394B"/>
                </a:solidFill>
                <a:latin typeface="Arial"/>
                <a:ea typeface="Arial"/>
                <a:cs typeface="Arial"/>
              </a:rPr>
              <a:t>Bitta qayta tuzatish bilan</a:t>
            </a:r>
          </a:p>
        </p:txBody>
      </p:sp>
      <p:sp>
        <p:nvSpPr>
          <p:cNvPr id="13" name="97 soniya">
            <a:extLst xmlns:a="http://schemas.openxmlformats.org/drawingml/2006/main">
              <a:ext uri="{FF2B5EF4-FFF2-40B4-BE49-F238E27FC236}">
                <a16:creationId xmlns:a16="http://schemas.microsoft.com/office/drawing/2014/main" id="{A7ED4C90-ABE1-4AB3-A9D0-E10A455F27B6}"/>
              </a:ext>
            </a:extLst>
          </p:cNvPr>
          <p:cNvSpPr>
            <a:spLocks xmlns:a="http://schemas.openxmlformats.org/drawingml/2006/main" noGrp="1"/>
          </p:cNvSpPr>
          <p:nvPr/>
        </p:nvSpPr>
        <p:spPr>
          <a:xfrm xmlns:a="http://schemas.openxmlformats.org/drawingml/2006/main">
            <a:off x="6477000" y="4048125"/>
            <a:ext cx="4905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008B8B"/>
                </a:solidFill>
                <a:latin typeface="Arial"/>
                <a:ea typeface="Arial"/>
                <a:cs typeface="Arial"/>
              </a:defRPr>
            </a:pPr>
            <a:r>
              <a:rPr sz="3225" b="1">
                <a:solidFill>
                  <a:srgbClr val="008B8B"/>
                </a:solidFill>
                <a:latin typeface="Arial"/>
                <a:ea typeface="Arial"/>
                <a:cs typeface="Arial"/>
              </a:rPr>
              <a:t>97 soniya</a:t>
            </a:r>
          </a:p>
        </p:txBody>
      </p:sp>
      <p:sp>
        <p:nvSpPr>
          <p:cNvPr id="14" name="Radiologiya sintetik sinovi&#10;12 kadrdan 4 tasi">
            <a:extLst xmlns:a="http://schemas.openxmlformats.org/drawingml/2006/main">
              <a:ext uri="{FF2B5EF4-FFF2-40B4-BE49-F238E27FC236}">
                <a16:creationId xmlns:a16="http://schemas.microsoft.com/office/drawing/2014/main" id="{66179782-7012-4794-BFF8-6A333AB68D0D}"/>
              </a:ext>
            </a:extLst>
          </p:cNvPr>
          <p:cNvSpPr>
            <a:spLocks xmlns:a="http://schemas.openxmlformats.org/drawingml/2006/main" noGrp="1"/>
          </p:cNvSpPr>
          <p:nvPr/>
        </p:nvSpPr>
        <p:spPr>
          <a:xfrm xmlns:a="http://schemas.openxmlformats.org/drawingml/2006/main">
            <a:off x="6477000" y="4819650"/>
            <a:ext cx="5143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5394B"/>
                </a:solidFill>
                <a:latin typeface="Arial"/>
                <a:ea typeface="Arial"/>
                <a:cs typeface="Arial"/>
              </a:defRPr>
            </a:pPr>
            <a:r>
              <a:rPr sz="1875" b="0">
                <a:solidFill>
                  <a:srgbClr val="15394B"/>
                </a:solidFill>
                <a:latin typeface="Arial"/>
                <a:ea typeface="Arial"/>
                <a:cs typeface="Arial"/>
              </a:rPr>
              <a:t>Radiologiya sintetik sinovi</a:t>
            </a:r>
          </a:p>
          <a:p xmlns:a="http://schemas.openxmlformats.org/drawingml/2006/main">
            <a:pPr algn="l">
              <a:defRPr sz="1875" b="0">
                <a:solidFill>
                  <a:srgbClr val="15394B"/>
                </a:solidFill>
                <a:latin typeface="Arial"/>
                <a:ea typeface="Arial"/>
                <a:cs typeface="Arial"/>
              </a:defRPr>
            </a:pPr>
            <a:r>
              <a:rPr sz="1875" b="0">
                <a:solidFill>
                  <a:srgbClr val="15394B"/>
                </a:solidFill>
                <a:latin typeface="Arial"/>
                <a:ea typeface="Arial"/>
                <a:cs typeface="Arial"/>
              </a:rPr>
              <a:t>12 kadrdan 4 tasi</a:t>
            </a:r>
          </a:p>
        </p:txBody>
      </p:sp>
      <p:sp>
        <p:nvSpPr>
          <p:cNvPr id="15" name="Bular texnik tekshiruvlar. Diagnostik aniqlik yo">
            <a:extLst xmlns:a="http://schemas.openxmlformats.org/drawingml/2006/main">
              <a:ext uri="{FF2B5EF4-FFF2-40B4-BE49-F238E27FC236}">
                <a16:creationId xmlns:a16="http://schemas.microsoft.com/office/drawing/2014/main" id="{E2332FBE-B298-4F57-8700-93A2BC6EBE74}"/>
              </a:ext>
            </a:extLst>
          </p:cNvPr>
          <p:cNvSpPr>
            <a:spLocks xmlns:a="http://schemas.openxmlformats.org/drawingml/2006/main" noGrp="1"/>
          </p:cNvSpPr>
          <p:nvPr/>
        </p:nvSpPr>
        <p:spPr>
          <a:xfrm xmlns:a="http://schemas.openxmlformats.org/drawingml/2006/main">
            <a:off x="571500" y="6019800"/>
            <a:ext cx="1104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946321"/>
                </a:solidFill>
                <a:latin typeface="Arial"/>
                <a:ea typeface="Arial"/>
                <a:cs typeface="Arial"/>
              </a:defRPr>
            </a:pPr>
            <a:r>
              <a:rPr sz="1575" b="0">
                <a:solidFill>
                  <a:srgbClr val="946321"/>
                </a:solidFill>
                <a:latin typeface="Arial"/>
                <a:ea typeface="Arial"/>
                <a:cs typeface="Arial"/>
              </a:rPr>
              <a:t>Bular texnik tekshiruvlar. Diagnostik aniqlik yoki p95 tezlik ko‘rsatkichi emas.</a:t>
            </a:r>
          </a:p>
        </p:txBody>
      </p:sp>
    </p:spTree>
    <p:extLst>
      <p:ext uri="{BB962C8B-B14F-4D97-AF65-F5344CB8AC3E}">
        <p14:creationId xmlns:p14="http://schemas.microsoft.com/office/powerpoint/2010/main" val="1603917932"/>
      </p:ext>
    </p:extLst>
  </p:cSld>
</p:sld>
</file>

<file path=ppt/slides/slide17.xml><?xml version="1.0" encoding="utf-8"?>
<p:sld xmlns:p="http://schemas.openxmlformats.org/presentationml/2006/main">
  <p:cSld>
    <p:bg>
      <p:bgPr>
        <a:solidFill xmlns:a="http://schemas.openxmlformats.org/drawingml/2006/main">
          <a:srgbClr val="F3F8F7"/>
        </a:solidFill>
      </p:bgPr>
    </p:bg>
    <p:spTree>
      <p:nvGrpSpPr>
        <p:cNvPr id="1" name=""/>
        <p:cNvGrpSpPr/>
        <p:nvPr/>
      </p:nvGrpSpPr>
      <p:grpSpPr>
        <a:xfrm xmlns:a="http://schemas.openxmlformats.org/drawingml/2006/main"/>
      </p:grpSpPr>
      <p:sp>
        <p:nvSpPr>
          <p:cNvPr id="16" name="Hakamlarning asosiy savollari">
            <a:extLst xmlns:a="http://schemas.openxmlformats.org/drawingml/2006/main">
              <a:ext uri="{FF2B5EF4-FFF2-40B4-BE49-F238E27FC236}">
                <a16:creationId xmlns:a16="http://schemas.microsoft.com/office/drawing/2014/main" id="{1513BF98-5195-46EA-A0F3-D18AA897793A}"/>
              </a:ext>
            </a:extLst>
          </p:cNvPr>
          <p:cNvSpPr>
            <a:spLocks xmlns:a="http://schemas.openxmlformats.org/drawingml/2006/main" noGrp="1"/>
          </p:cNvSpPr>
          <p:nvPr/>
        </p:nvSpPr>
        <p:spPr>
          <a:xfrm xmlns:a="http://schemas.openxmlformats.org/drawingml/2006/main">
            <a:off x="571500" y="4191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92536"/>
                </a:solidFill>
                <a:latin typeface="Arial"/>
                <a:ea typeface="Arial"/>
                <a:cs typeface="Arial"/>
              </a:defRPr>
            </a:pPr>
            <a:r>
              <a:rPr sz="3300" b="1">
                <a:solidFill>
                  <a:srgbClr val="092536"/>
                </a:solidFill>
                <a:latin typeface="Arial"/>
                <a:ea typeface="Arial"/>
                <a:cs typeface="Arial"/>
              </a:rPr>
              <a:t>Hakamlarning asosiy savollari</a:t>
            </a:r>
          </a:p>
        </p:txBody>
      </p:sp>
      <p:sp>
        <p:nvSpPr>
          <p:cNvPr id="2" name="Qo‘shimcha material">
            <a:extLst xmlns:a="http://schemas.openxmlformats.org/drawingml/2006/main">
              <a:ext uri="{FF2B5EF4-FFF2-40B4-BE49-F238E27FC236}">
                <a16:creationId xmlns:a16="http://schemas.microsoft.com/office/drawing/2014/main" id="{F5524ADF-DD1E-4287-9EE1-07768F0DC72C}"/>
              </a:ext>
            </a:extLst>
          </p:cNvPr>
          <p:cNvSpPr>
            <a:spLocks xmlns:a="http://schemas.openxmlformats.org/drawingml/2006/main" noGrp="1"/>
          </p:cNvSpPr>
          <p:nvPr/>
        </p:nvSpPr>
        <p:spPr>
          <a:xfrm xmlns:a="http://schemas.openxmlformats.org/drawingml/2006/main">
            <a:off x="571500" y="64674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87582"/>
                </a:solidFill>
                <a:latin typeface="Arial"/>
                <a:ea typeface="Arial"/>
                <a:cs typeface="Arial"/>
              </a:defRPr>
            </a:pPr>
            <a:r>
              <a:rPr sz="1125" b="0">
                <a:solidFill>
                  <a:srgbClr val="587582"/>
                </a:solidFill>
                <a:latin typeface="Arial"/>
                <a:ea typeface="Arial"/>
                <a:cs typeface="Arial"/>
              </a:rPr>
              <a:t>Qo‘shimcha material</a:t>
            </a:r>
          </a:p>
        </p:txBody>
      </p:sp>
      <p:sp>
        <p:nvSpPr>
          <p:cNvPr id="3" name="17">
            <a:extLst xmlns:a="http://schemas.openxmlformats.org/drawingml/2006/main">
              <a:ext uri="{FF2B5EF4-FFF2-40B4-BE49-F238E27FC236}">
                <a16:creationId xmlns:a16="http://schemas.microsoft.com/office/drawing/2014/main" id="{8F3165D7-4B5C-4A94-8E1D-14D46ED3CAE3}"/>
              </a:ext>
            </a:extLst>
          </p:cNvPr>
          <p:cNvSpPr>
            <a:spLocks xmlns:a="http://schemas.openxmlformats.org/drawingml/2006/main" noGrp="1"/>
          </p:cNvSpPr>
          <p:nvPr/>
        </p:nvSpPr>
        <p:spPr>
          <a:xfrm xmlns:a="http://schemas.openxmlformats.org/drawingml/2006/main">
            <a:off x="11049000" y="64484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87582"/>
                </a:solidFill>
                <a:latin typeface="Arial"/>
                <a:ea typeface="Arial"/>
                <a:cs typeface="Arial"/>
              </a:defRPr>
            </a:pPr>
            <a:r>
              <a:rPr sz="1200" b="0">
                <a:solidFill>
                  <a:srgbClr val="587582"/>
                </a:solidFill>
                <a:latin typeface="Arial"/>
                <a:ea typeface="Arial"/>
                <a:cs typeface="Arial"/>
              </a:rPr>
              <a:t>17</a:t>
            </a:r>
          </a:p>
        </p:txBody>
      </p:sp>
      <p:sp>
        <p:nvSpPr>
          <p:cNvPr id="4" name="AI shifokorni almashtiradimi?">
            <a:extLst xmlns:a="http://schemas.openxmlformats.org/drawingml/2006/main">
              <a:ext uri="{FF2B5EF4-FFF2-40B4-BE49-F238E27FC236}">
                <a16:creationId xmlns:a16="http://schemas.microsoft.com/office/drawing/2014/main" id="{A5794055-0A4E-46A8-AF10-2B56E19B91E9}"/>
              </a:ext>
            </a:extLst>
          </p:cNvPr>
          <p:cNvSpPr>
            <a:spLocks xmlns:a="http://schemas.openxmlformats.org/drawingml/2006/main" noGrp="1"/>
          </p:cNvSpPr>
          <p:nvPr/>
        </p:nvSpPr>
        <p:spPr>
          <a:xfrm xmlns:a="http://schemas.openxmlformats.org/drawingml/2006/main">
            <a:off x="571500" y="1609725"/>
            <a:ext cx="50958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008B8B"/>
                </a:solidFill>
                <a:latin typeface="Arial"/>
                <a:ea typeface="Arial"/>
                <a:cs typeface="Arial"/>
              </a:defRPr>
            </a:pPr>
            <a:r>
              <a:rPr sz="1950" b="1">
                <a:solidFill>
                  <a:srgbClr val="008B8B"/>
                </a:solidFill>
                <a:latin typeface="Arial"/>
                <a:ea typeface="Arial"/>
                <a:cs typeface="Arial"/>
              </a:rPr>
              <a:t>AI shifokorni almashtiradimi?</a:t>
            </a:r>
          </a:p>
        </p:txBody>
      </p:sp>
      <p:sp>
        <p:nvSpPr>
          <p:cNvPr id="5" name="Qaror shifokorda. AI manbali tahlil beradi.">
            <a:extLst xmlns:a="http://schemas.openxmlformats.org/drawingml/2006/main">
              <a:ext uri="{FF2B5EF4-FFF2-40B4-BE49-F238E27FC236}">
                <a16:creationId xmlns:a16="http://schemas.microsoft.com/office/drawing/2014/main" id="{799CA2FC-B18F-4B2D-87D5-6D013B2360AC}"/>
              </a:ext>
            </a:extLst>
          </p:cNvPr>
          <p:cNvSpPr>
            <a:spLocks xmlns:a="http://schemas.openxmlformats.org/drawingml/2006/main" noGrp="1"/>
          </p:cNvSpPr>
          <p:nvPr/>
        </p:nvSpPr>
        <p:spPr>
          <a:xfrm xmlns:a="http://schemas.openxmlformats.org/drawingml/2006/main">
            <a:off x="571500" y="2305050"/>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5394B"/>
                </a:solidFill>
                <a:latin typeface="Arial"/>
                <a:ea typeface="Arial"/>
                <a:cs typeface="Arial"/>
              </a:defRPr>
            </a:pPr>
            <a:r>
              <a:rPr sz="1725" b="0">
                <a:solidFill>
                  <a:srgbClr val="15394B"/>
                </a:solidFill>
                <a:latin typeface="Arial"/>
                <a:ea typeface="Arial"/>
                <a:cs typeface="Arial"/>
              </a:rPr>
              <a:t>Qaror shifokorda. AI manbali tahlil beradi.</a:t>
            </a:r>
          </a:p>
        </p:txBody>
      </p:sp>
      <p:sp>
        <p:nvSpPr>
          <p:cNvPr id="6" name="Aniqlik necha foiz?">
            <a:extLst xmlns:a="http://schemas.openxmlformats.org/drawingml/2006/main">
              <a:ext uri="{FF2B5EF4-FFF2-40B4-BE49-F238E27FC236}">
                <a16:creationId xmlns:a16="http://schemas.microsoft.com/office/drawing/2014/main" id="{A5AD2F4F-8757-48C2-AFB2-163F03373250}"/>
              </a:ext>
            </a:extLst>
          </p:cNvPr>
          <p:cNvSpPr>
            <a:spLocks xmlns:a="http://schemas.openxmlformats.org/drawingml/2006/main" noGrp="1"/>
          </p:cNvSpPr>
          <p:nvPr/>
        </p:nvSpPr>
        <p:spPr>
          <a:xfrm xmlns:a="http://schemas.openxmlformats.org/drawingml/2006/main">
            <a:off x="6477000" y="1609725"/>
            <a:ext cx="50958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008B8B"/>
                </a:solidFill>
                <a:latin typeface="Arial"/>
                <a:ea typeface="Arial"/>
                <a:cs typeface="Arial"/>
              </a:defRPr>
            </a:pPr>
            <a:r>
              <a:rPr sz="1950" b="1">
                <a:solidFill>
                  <a:srgbClr val="008B8B"/>
                </a:solidFill>
                <a:latin typeface="Arial"/>
                <a:ea typeface="Arial"/>
                <a:cs typeface="Arial"/>
              </a:rPr>
              <a:t>Aniqlik necha foiz?</a:t>
            </a:r>
          </a:p>
        </p:txBody>
      </p:sp>
      <p:sp>
        <p:nvSpPr>
          <p:cNvPr id="7" name="Hali klinik validatsiya yo‘q. Foiz da’vo qilmaym">
            <a:extLst xmlns:a="http://schemas.openxmlformats.org/drawingml/2006/main">
              <a:ext uri="{FF2B5EF4-FFF2-40B4-BE49-F238E27FC236}">
                <a16:creationId xmlns:a16="http://schemas.microsoft.com/office/drawing/2014/main" id="{81591DFB-9CCF-4E91-8AC6-95D2996407CD}"/>
              </a:ext>
            </a:extLst>
          </p:cNvPr>
          <p:cNvSpPr>
            <a:spLocks xmlns:a="http://schemas.openxmlformats.org/drawingml/2006/main" noGrp="1"/>
          </p:cNvSpPr>
          <p:nvPr/>
        </p:nvSpPr>
        <p:spPr>
          <a:xfrm xmlns:a="http://schemas.openxmlformats.org/drawingml/2006/main">
            <a:off x="6477000" y="2305050"/>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5394B"/>
                </a:solidFill>
                <a:latin typeface="Arial"/>
                <a:ea typeface="Arial"/>
                <a:cs typeface="Arial"/>
              </a:defRPr>
            </a:pPr>
            <a:r>
              <a:rPr sz="1725" b="0">
                <a:solidFill>
                  <a:srgbClr val="15394B"/>
                </a:solidFill>
                <a:latin typeface="Arial"/>
                <a:ea typeface="Arial"/>
                <a:cs typeface="Arial"/>
              </a:rPr>
              <a:t>Hali klinik validatsiya yo‘q. Foiz da’vo qilmaymiz.</a:t>
            </a:r>
          </a:p>
        </p:txBody>
      </p:sp>
      <p:sp>
        <p:nvSpPr>
          <p:cNvPr id="8" name="DMED ulanganmi?">
            <a:extLst xmlns:a="http://schemas.openxmlformats.org/drawingml/2006/main">
              <a:ext uri="{FF2B5EF4-FFF2-40B4-BE49-F238E27FC236}">
                <a16:creationId xmlns:a16="http://schemas.microsoft.com/office/drawing/2014/main" id="{EEFFD076-D288-4DF5-BFE9-30C48B917F6A}"/>
              </a:ext>
            </a:extLst>
          </p:cNvPr>
          <p:cNvSpPr>
            <a:spLocks xmlns:a="http://schemas.openxmlformats.org/drawingml/2006/main" noGrp="1"/>
          </p:cNvSpPr>
          <p:nvPr/>
        </p:nvSpPr>
        <p:spPr>
          <a:xfrm xmlns:a="http://schemas.openxmlformats.org/drawingml/2006/main">
            <a:off x="571500" y="3171825"/>
            <a:ext cx="50958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008B8B"/>
                </a:solidFill>
                <a:latin typeface="Arial"/>
                <a:ea typeface="Arial"/>
                <a:cs typeface="Arial"/>
              </a:defRPr>
            </a:pPr>
            <a:r>
              <a:rPr sz="1950" b="1">
                <a:solidFill>
                  <a:srgbClr val="008B8B"/>
                </a:solidFill>
                <a:latin typeface="Arial"/>
                <a:ea typeface="Arial"/>
                <a:cs typeface="Arial"/>
              </a:rPr>
              <a:t>DMED ulanganmi?</a:t>
            </a:r>
          </a:p>
        </p:txBody>
      </p:sp>
      <p:sp>
        <p:nvSpPr>
          <p:cNvPr id="9" name="Hozir demo. Haqiqiy integratsiya keyingi bosqich">
            <a:extLst xmlns:a="http://schemas.openxmlformats.org/drawingml/2006/main">
              <a:ext uri="{FF2B5EF4-FFF2-40B4-BE49-F238E27FC236}">
                <a16:creationId xmlns:a16="http://schemas.microsoft.com/office/drawing/2014/main" id="{B2387F67-2615-4197-B812-D0E3F22D3E77}"/>
              </a:ext>
            </a:extLst>
          </p:cNvPr>
          <p:cNvSpPr>
            <a:spLocks xmlns:a="http://schemas.openxmlformats.org/drawingml/2006/main" noGrp="1"/>
          </p:cNvSpPr>
          <p:nvPr/>
        </p:nvSpPr>
        <p:spPr>
          <a:xfrm xmlns:a="http://schemas.openxmlformats.org/drawingml/2006/main">
            <a:off x="571500" y="3867150"/>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5394B"/>
                </a:solidFill>
                <a:latin typeface="Arial"/>
                <a:ea typeface="Arial"/>
                <a:cs typeface="Arial"/>
              </a:defRPr>
            </a:pPr>
            <a:r>
              <a:rPr sz="1725" b="0">
                <a:solidFill>
                  <a:srgbClr val="15394B"/>
                </a:solidFill>
                <a:latin typeface="Arial"/>
                <a:ea typeface="Arial"/>
                <a:cs typeface="Arial"/>
              </a:rPr>
              <a:t>Hozir demo. Haqiqiy integratsiya keyingi bosqich.</a:t>
            </a:r>
          </a:p>
        </p:txBody>
      </p:sp>
      <p:sp>
        <p:nvSpPr>
          <p:cNvPr id="10" name="MedGemma tijorat uchunmi?">
            <a:extLst xmlns:a="http://schemas.openxmlformats.org/drawingml/2006/main">
              <a:ext uri="{FF2B5EF4-FFF2-40B4-BE49-F238E27FC236}">
                <a16:creationId xmlns:a16="http://schemas.microsoft.com/office/drawing/2014/main" id="{0663C2F1-B986-4861-B752-8B7D7772C14E}"/>
              </a:ext>
            </a:extLst>
          </p:cNvPr>
          <p:cNvSpPr>
            <a:spLocks xmlns:a="http://schemas.openxmlformats.org/drawingml/2006/main" noGrp="1"/>
          </p:cNvSpPr>
          <p:nvPr/>
        </p:nvSpPr>
        <p:spPr>
          <a:xfrm xmlns:a="http://schemas.openxmlformats.org/drawingml/2006/main">
            <a:off x="6477000" y="3171825"/>
            <a:ext cx="50958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008B8B"/>
                </a:solidFill>
                <a:latin typeface="Arial"/>
                <a:ea typeface="Arial"/>
                <a:cs typeface="Arial"/>
              </a:defRPr>
            </a:pPr>
            <a:r>
              <a:rPr sz="1950" b="1">
                <a:solidFill>
                  <a:srgbClr val="008B8B"/>
                </a:solidFill>
                <a:latin typeface="Arial"/>
                <a:ea typeface="Arial"/>
                <a:cs typeface="Arial"/>
              </a:rPr>
              <a:t>MedGemma tijorat uchunmi?</a:t>
            </a:r>
          </a:p>
        </p:txBody>
      </p:sp>
      <p:sp>
        <p:nvSpPr>
          <p:cNvPr id="11" name="HAI-DEF shartlari doirasida mumkin. Klinik ruxsa">
            <a:extLst xmlns:a="http://schemas.openxmlformats.org/drawingml/2006/main">
              <a:ext uri="{FF2B5EF4-FFF2-40B4-BE49-F238E27FC236}">
                <a16:creationId xmlns:a16="http://schemas.microsoft.com/office/drawing/2014/main" id="{3AB47E87-DA06-45C6-B204-6A1D2F881F32}"/>
              </a:ext>
            </a:extLst>
          </p:cNvPr>
          <p:cNvSpPr>
            <a:spLocks xmlns:a="http://schemas.openxmlformats.org/drawingml/2006/main" noGrp="1"/>
          </p:cNvSpPr>
          <p:nvPr/>
        </p:nvSpPr>
        <p:spPr>
          <a:xfrm xmlns:a="http://schemas.openxmlformats.org/drawingml/2006/main">
            <a:off x="6477000" y="3867150"/>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5394B"/>
                </a:solidFill>
                <a:latin typeface="Arial"/>
                <a:ea typeface="Arial"/>
                <a:cs typeface="Arial"/>
              </a:defRPr>
            </a:pPr>
            <a:r>
              <a:rPr sz="1725" b="0">
                <a:solidFill>
                  <a:srgbClr val="15394B"/>
                </a:solidFill>
                <a:latin typeface="Arial"/>
                <a:ea typeface="Arial"/>
                <a:cs typeface="Arial"/>
              </a:rPr>
              <a:t>HAI-DEF shartlari doirasida mumkin. Klinik ruxsat alohida.</a:t>
            </a:r>
          </a:p>
        </p:txBody>
      </p:sp>
      <p:sp>
        <p:nvSpPr>
          <p:cNvPr id="12" name="Bemor ma’lumoti qayerda?">
            <a:extLst xmlns:a="http://schemas.openxmlformats.org/drawingml/2006/main">
              <a:ext uri="{FF2B5EF4-FFF2-40B4-BE49-F238E27FC236}">
                <a16:creationId xmlns:a16="http://schemas.microsoft.com/office/drawing/2014/main" id="{806DE24D-B8B2-49F6-867E-FE94D215E227}"/>
              </a:ext>
            </a:extLst>
          </p:cNvPr>
          <p:cNvSpPr>
            <a:spLocks xmlns:a="http://schemas.openxmlformats.org/drawingml/2006/main" noGrp="1"/>
          </p:cNvSpPr>
          <p:nvPr/>
        </p:nvSpPr>
        <p:spPr>
          <a:xfrm xmlns:a="http://schemas.openxmlformats.org/drawingml/2006/main">
            <a:off x="571500" y="4733925"/>
            <a:ext cx="50958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008B8B"/>
                </a:solidFill>
                <a:latin typeface="Arial"/>
                <a:ea typeface="Arial"/>
                <a:cs typeface="Arial"/>
              </a:defRPr>
            </a:pPr>
            <a:r>
              <a:rPr sz="1950" b="1">
                <a:solidFill>
                  <a:srgbClr val="008B8B"/>
                </a:solidFill>
                <a:latin typeface="Arial"/>
                <a:ea typeface="Arial"/>
                <a:cs typeface="Arial"/>
              </a:rPr>
              <a:t>Bemor ma’lumoti qayerda?</a:t>
            </a:r>
          </a:p>
        </p:txBody>
      </p:sp>
      <p:sp>
        <p:nvSpPr>
          <p:cNvPr id="13" name="Model lokal ishlaydi. Hosting va ruxsatlar alohi">
            <a:extLst xmlns:a="http://schemas.openxmlformats.org/drawingml/2006/main">
              <a:ext uri="{FF2B5EF4-FFF2-40B4-BE49-F238E27FC236}">
                <a16:creationId xmlns:a16="http://schemas.microsoft.com/office/drawing/2014/main" id="{6E3155BC-C18F-4E34-9658-45AB718A949E}"/>
              </a:ext>
            </a:extLst>
          </p:cNvPr>
          <p:cNvSpPr>
            <a:spLocks xmlns:a="http://schemas.openxmlformats.org/drawingml/2006/main" noGrp="1"/>
          </p:cNvSpPr>
          <p:nvPr/>
        </p:nvSpPr>
        <p:spPr>
          <a:xfrm xmlns:a="http://schemas.openxmlformats.org/drawingml/2006/main">
            <a:off x="571500" y="5429250"/>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5394B"/>
                </a:solidFill>
                <a:latin typeface="Arial"/>
                <a:ea typeface="Arial"/>
                <a:cs typeface="Arial"/>
              </a:defRPr>
            </a:pPr>
            <a:r>
              <a:rPr sz="1725" b="0">
                <a:solidFill>
                  <a:srgbClr val="15394B"/>
                </a:solidFill>
                <a:latin typeface="Arial"/>
                <a:ea typeface="Arial"/>
                <a:cs typeface="Arial"/>
              </a:rPr>
              <a:t>Model lokal ishlaydi. Hosting va ruxsatlar alohida nazorat talab qiladi.</a:t>
            </a:r>
          </a:p>
        </p:txBody>
      </p:sp>
      <p:sp>
        <p:nvSpPr>
          <p:cNvPr id="14" name="Haqiqiy mijozlar bormi?">
            <a:extLst xmlns:a="http://schemas.openxmlformats.org/drawingml/2006/main">
              <a:ext uri="{FF2B5EF4-FFF2-40B4-BE49-F238E27FC236}">
                <a16:creationId xmlns:a16="http://schemas.microsoft.com/office/drawing/2014/main" id="{0A3CB575-A515-4895-A8A7-DF0816E9341C}"/>
              </a:ext>
            </a:extLst>
          </p:cNvPr>
          <p:cNvSpPr>
            <a:spLocks xmlns:a="http://schemas.openxmlformats.org/drawingml/2006/main" noGrp="1"/>
          </p:cNvSpPr>
          <p:nvPr/>
        </p:nvSpPr>
        <p:spPr>
          <a:xfrm xmlns:a="http://schemas.openxmlformats.org/drawingml/2006/main">
            <a:off x="6477000" y="4733925"/>
            <a:ext cx="50958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008B8B"/>
                </a:solidFill>
                <a:latin typeface="Arial"/>
                <a:ea typeface="Arial"/>
                <a:cs typeface="Arial"/>
              </a:defRPr>
            </a:pPr>
            <a:r>
              <a:rPr sz="1950" b="1">
                <a:solidFill>
                  <a:srgbClr val="008B8B"/>
                </a:solidFill>
                <a:latin typeface="Arial"/>
                <a:ea typeface="Arial"/>
                <a:cs typeface="Arial"/>
              </a:rPr>
              <a:t>Haqiqiy mijozlar bormi?</a:t>
            </a:r>
          </a:p>
        </p:txBody>
      </p:sp>
      <p:sp>
        <p:nvSpPr>
          <p:cNvPr id="15" name="Pullik traction tasdiqlanmagan. Pilot hamkorlarn">
            <a:extLst xmlns:a="http://schemas.openxmlformats.org/drawingml/2006/main">
              <a:ext uri="{FF2B5EF4-FFF2-40B4-BE49-F238E27FC236}">
                <a16:creationId xmlns:a16="http://schemas.microsoft.com/office/drawing/2014/main" id="{0B490E93-6540-407C-8F5D-03D2E292BF41}"/>
              </a:ext>
            </a:extLst>
          </p:cNvPr>
          <p:cNvSpPr>
            <a:spLocks xmlns:a="http://schemas.openxmlformats.org/drawingml/2006/main" noGrp="1"/>
          </p:cNvSpPr>
          <p:nvPr/>
        </p:nvSpPr>
        <p:spPr>
          <a:xfrm xmlns:a="http://schemas.openxmlformats.org/drawingml/2006/main">
            <a:off x="6477000" y="5429250"/>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5394B"/>
                </a:solidFill>
                <a:latin typeface="Arial"/>
                <a:ea typeface="Arial"/>
                <a:cs typeface="Arial"/>
              </a:defRPr>
            </a:pPr>
            <a:r>
              <a:rPr sz="1725" b="0">
                <a:solidFill>
                  <a:srgbClr val="15394B"/>
                </a:solidFill>
                <a:latin typeface="Arial"/>
                <a:ea typeface="Arial"/>
                <a:cs typeface="Arial"/>
              </a:rPr>
              <a:t>Pullik traction tasdiqlanmagan. Pilot hamkorlarni izlayapmiz.</a:t>
            </a:r>
          </a:p>
        </p:txBody>
      </p:sp>
    </p:spTree>
    <p:extLst>
      <p:ext uri="{BB962C8B-B14F-4D97-AF65-F5344CB8AC3E}">
        <p14:creationId xmlns:p14="http://schemas.microsoft.com/office/powerpoint/2010/main" val="1564574372"/>
      </p:ext>
    </p:extLst>
  </p:cSld>
</p:sld>
</file>

<file path=ppt/slides/slide18.xml><?xml version="1.0" encoding="utf-8"?>
<p:sld xmlns:p="http://schemas.openxmlformats.org/presentationml/2006/main">
  <p:cSld>
    <p:bg>
      <p:bgPr>
        <a:solidFill xmlns:a="http://schemas.openxmlformats.org/drawingml/2006/main">
          <a:srgbClr val="F3F8F7"/>
        </a:solidFill>
      </p:bgPr>
    </p:bg>
    <p:spTree>
      <p:nvGrpSpPr>
        <p:cNvPr id="1" name=""/>
        <p:cNvGrpSpPr/>
        <p:nvPr/>
      </p:nvGrpSpPr>
      <p:grpSpPr>
        <a:xfrm xmlns:a="http://schemas.openxmlformats.org/drawingml/2006/main"/>
      </p:grpSpPr>
      <p:sp>
        <p:nvSpPr>
          <p:cNvPr id="16" name="Manbalar va materiallar">
            <a:extLst xmlns:a="http://schemas.openxmlformats.org/drawingml/2006/main">
              <a:ext uri="{FF2B5EF4-FFF2-40B4-BE49-F238E27FC236}">
                <a16:creationId xmlns:a16="http://schemas.microsoft.com/office/drawing/2014/main" id="{D1A9986F-DA38-4C66-B903-BC19B8184CBD}"/>
              </a:ext>
            </a:extLst>
          </p:cNvPr>
          <p:cNvSpPr>
            <a:spLocks xmlns:a="http://schemas.openxmlformats.org/drawingml/2006/main" noGrp="1"/>
          </p:cNvSpPr>
          <p:nvPr/>
        </p:nvSpPr>
        <p:spPr>
          <a:xfrm xmlns:a="http://schemas.openxmlformats.org/drawingml/2006/main">
            <a:off x="571500" y="4191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92536"/>
                </a:solidFill>
                <a:latin typeface="Arial"/>
                <a:ea typeface="Arial"/>
                <a:cs typeface="Arial"/>
              </a:defRPr>
            </a:pPr>
            <a:r>
              <a:rPr sz="3300" b="1">
                <a:solidFill>
                  <a:srgbClr val="092536"/>
                </a:solidFill>
                <a:latin typeface="Arial"/>
                <a:ea typeface="Arial"/>
                <a:cs typeface="Arial"/>
              </a:rPr>
              <a:t>Manbalar va materiallar</a:t>
            </a:r>
          </a:p>
        </p:txBody>
      </p:sp>
      <p:sp>
        <p:nvSpPr>
          <p:cNvPr id="2" name="Qo‘shimcha material">
            <a:extLst xmlns:a="http://schemas.openxmlformats.org/drawingml/2006/main">
              <a:ext uri="{FF2B5EF4-FFF2-40B4-BE49-F238E27FC236}">
                <a16:creationId xmlns:a16="http://schemas.microsoft.com/office/drawing/2014/main" id="{4B49B87E-1020-4831-A366-D80FDDAAAE8E}"/>
              </a:ext>
            </a:extLst>
          </p:cNvPr>
          <p:cNvSpPr>
            <a:spLocks xmlns:a="http://schemas.openxmlformats.org/drawingml/2006/main" noGrp="1"/>
          </p:cNvSpPr>
          <p:nvPr/>
        </p:nvSpPr>
        <p:spPr>
          <a:xfrm xmlns:a="http://schemas.openxmlformats.org/drawingml/2006/main">
            <a:off x="571500" y="64674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87582"/>
                </a:solidFill>
                <a:latin typeface="Arial"/>
                <a:ea typeface="Arial"/>
                <a:cs typeface="Arial"/>
              </a:defRPr>
            </a:pPr>
            <a:r>
              <a:rPr sz="1125" b="0">
                <a:solidFill>
                  <a:srgbClr val="587582"/>
                </a:solidFill>
                <a:latin typeface="Arial"/>
                <a:ea typeface="Arial"/>
                <a:cs typeface="Arial"/>
              </a:rPr>
              <a:t>Qo‘shimcha material</a:t>
            </a:r>
          </a:p>
        </p:txBody>
      </p:sp>
      <p:sp>
        <p:nvSpPr>
          <p:cNvPr id="3" name="18">
            <a:extLst xmlns:a="http://schemas.openxmlformats.org/drawingml/2006/main">
              <a:ext uri="{FF2B5EF4-FFF2-40B4-BE49-F238E27FC236}">
                <a16:creationId xmlns:a16="http://schemas.microsoft.com/office/drawing/2014/main" id="{E509B856-927B-469F-8F07-44F1E53D7FE7}"/>
              </a:ext>
            </a:extLst>
          </p:cNvPr>
          <p:cNvSpPr>
            <a:spLocks xmlns:a="http://schemas.openxmlformats.org/drawingml/2006/main" noGrp="1"/>
          </p:cNvSpPr>
          <p:nvPr/>
        </p:nvSpPr>
        <p:spPr>
          <a:xfrm xmlns:a="http://schemas.openxmlformats.org/drawingml/2006/main">
            <a:off x="11049000" y="64484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87582"/>
                </a:solidFill>
                <a:latin typeface="Arial"/>
                <a:ea typeface="Arial"/>
                <a:cs typeface="Arial"/>
              </a:defRPr>
            </a:pPr>
            <a:r>
              <a:rPr sz="1200" b="0">
                <a:solidFill>
                  <a:srgbClr val="587582"/>
                </a:solidFill>
                <a:latin typeface="Arial"/>
                <a:ea typeface="Arial"/>
                <a:cs typeface="Arial"/>
              </a:rPr>
              <a:t>18</a:t>
            </a:r>
          </a:p>
        </p:txBody>
      </p:sp>
      <p:sp>
        <p:nvSpPr>
          <p:cNvPr id="4" name="Mahsulot va sinovlar">
            <a:extLst xmlns:a="http://schemas.openxmlformats.org/drawingml/2006/main">
              <a:ext uri="{FF2B5EF4-FFF2-40B4-BE49-F238E27FC236}">
                <a16:creationId xmlns:a16="http://schemas.microsoft.com/office/drawing/2014/main" id="{4CA32C22-ED4C-4071-8B8E-E515C588EB39}"/>
              </a:ext>
            </a:extLst>
          </p:cNvPr>
          <p:cNvSpPr>
            <a:spLocks xmlns:a="http://schemas.openxmlformats.org/drawingml/2006/main" noGrp="1"/>
          </p:cNvSpPr>
          <p:nvPr/>
        </p:nvSpPr>
        <p:spPr>
          <a:xfrm xmlns:a="http://schemas.openxmlformats.org/drawingml/2006/main">
            <a:off x="571500" y="1562100"/>
            <a:ext cx="3714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08B8B"/>
                </a:solidFill>
                <a:latin typeface="Arial"/>
                <a:ea typeface="Arial"/>
                <a:cs typeface="Arial"/>
              </a:defRPr>
            </a:pPr>
            <a:r>
              <a:rPr sz="2025" b="1">
                <a:solidFill>
                  <a:srgbClr val="008B8B"/>
                </a:solidFill>
                <a:latin typeface="Arial"/>
                <a:ea typeface="Arial"/>
                <a:cs typeface="Arial"/>
              </a:rPr>
              <a:t>Mahsulot va sinovlar</a:t>
            </a:r>
          </a:p>
        </p:txBody>
      </p:sp>
      <p:sp>
        <p:nvSpPr>
          <p:cNvPr id="5" name="Loyiha kodi, qo‘llanmalar va sintetik sinov hiso">
            <a:extLst xmlns:a="http://schemas.openxmlformats.org/drawingml/2006/main">
              <a:ext uri="{FF2B5EF4-FFF2-40B4-BE49-F238E27FC236}">
                <a16:creationId xmlns:a16="http://schemas.microsoft.com/office/drawing/2014/main" id="{C8529B81-1B99-403F-A503-7533EAD9FE4A}"/>
              </a:ext>
            </a:extLst>
          </p:cNvPr>
          <p:cNvSpPr>
            <a:spLocks xmlns:a="http://schemas.openxmlformats.org/drawingml/2006/main" noGrp="1"/>
          </p:cNvSpPr>
          <p:nvPr/>
        </p:nvSpPr>
        <p:spPr>
          <a:xfrm xmlns:a="http://schemas.openxmlformats.org/drawingml/2006/main">
            <a:off x="4333875" y="1581150"/>
            <a:ext cx="728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5394B"/>
                </a:solidFill>
                <a:latin typeface="Arial"/>
                <a:ea typeface="Arial"/>
                <a:cs typeface="Arial"/>
              </a:defRPr>
            </a:pPr>
            <a:r>
              <a:rPr sz="1875" b="0">
                <a:solidFill>
                  <a:srgbClr val="15394B"/>
                </a:solidFill>
                <a:latin typeface="Arial"/>
                <a:ea typeface="Arial"/>
                <a:cs typeface="Arial"/>
              </a:rPr>
              <a:t>Loyiha kodi, qo‘llanmalar va sintetik sinov hisobotlari</a:t>
            </a:r>
          </a:p>
        </p:txBody>
      </p:sp>
      <p:sp>
        <p:nvSpPr>
          <p:cNvPr id="6" name="">
            <a:extLst xmlns:a="http://schemas.openxmlformats.org/drawingml/2006/main">
              <a:ext uri="{FF2B5EF4-FFF2-40B4-BE49-F238E27FC236}">
                <a16:creationId xmlns:a16="http://schemas.microsoft.com/office/drawing/2014/main" id="{3CEF6EE7-61BB-40E2-BF58-799104DEF358}"/>
              </a:ext>
            </a:extLst>
          </p:cNvPr>
          <p:cNvSpPr>
            <a:spLocks xmlns:a="http://schemas.openxmlformats.org/drawingml/2006/main" noGrp="1"/>
          </p:cNvSpPr>
          <p:nvPr/>
        </p:nvSpPr>
        <p:spPr>
          <a:xfrm xmlns:a="http://schemas.openxmlformats.org/drawingml/2006/main">
            <a:off x="571500" y="2324100"/>
            <a:ext cx="11049000" cy="0"/>
          </a:xfrm>
          <a:prstGeom xmlns:a="http://schemas.openxmlformats.org/drawingml/2006/main" prst="line">
            <a:avLst/>
          </a:prstGeom>
          <a:noFill xmlns:a="http://schemas.openxmlformats.org/drawingml/2006/main"/>
          <a:ln xmlns:a="http://schemas.openxmlformats.org/drawingml/2006/main" w="9525">
            <a:solidFill>
              <a:srgbClr val="D4E2E4"/>
            </a:solidFill>
          </a:ln>
        </p:spPr>
      </p:sp>
      <p:sp>
        <p:nvSpPr>
          <p:cNvPr id="7" name="O‘zbekiston bozori">
            <a:extLst xmlns:a="http://schemas.openxmlformats.org/drawingml/2006/main">
              <a:ext uri="{FF2B5EF4-FFF2-40B4-BE49-F238E27FC236}">
                <a16:creationId xmlns:a16="http://schemas.microsoft.com/office/drawing/2014/main" id="{206B2E8C-65C3-4175-9C94-A1EDEC5F1FF2}"/>
              </a:ext>
            </a:extLst>
          </p:cNvPr>
          <p:cNvSpPr>
            <a:spLocks xmlns:a="http://schemas.openxmlformats.org/drawingml/2006/main" noGrp="1"/>
          </p:cNvSpPr>
          <p:nvPr/>
        </p:nvSpPr>
        <p:spPr>
          <a:xfrm xmlns:a="http://schemas.openxmlformats.org/drawingml/2006/main">
            <a:off x="571500" y="2562225"/>
            <a:ext cx="3714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08B8B"/>
                </a:solidFill>
                <a:latin typeface="Arial"/>
                <a:ea typeface="Arial"/>
                <a:cs typeface="Arial"/>
              </a:defRPr>
            </a:pPr>
            <a:r>
              <a:rPr sz="2025" b="1">
                <a:solidFill>
                  <a:srgbClr val="008B8B"/>
                </a:solidFill>
                <a:latin typeface="Arial"/>
                <a:ea typeface="Arial"/>
                <a:cs typeface="Arial"/>
              </a:rPr>
              <a:t>O‘zbekiston bozori</a:t>
            </a:r>
          </a:p>
        </p:txBody>
      </p:sp>
      <p:sp>
        <p:nvSpPr>
          <p:cNvPr id="8" name="Milliy statistika qo‘mitasi: 2025-01-01 holatida">
            <a:extLst xmlns:a="http://schemas.openxmlformats.org/drawingml/2006/main">
              <a:ext uri="{FF2B5EF4-FFF2-40B4-BE49-F238E27FC236}">
                <a16:creationId xmlns:a16="http://schemas.microsoft.com/office/drawing/2014/main" id="{9D82B808-E02D-4E60-9C60-A1E8AA2F8DA8}"/>
              </a:ext>
            </a:extLst>
          </p:cNvPr>
          <p:cNvSpPr>
            <a:spLocks xmlns:a="http://schemas.openxmlformats.org/drawingml/2006/main" noGrp="1"/>
          </p:cNvSpPr>
          <p:nvPr/>
        </p:nvSpPr>
        <p:spPr>
          <a:xfrm xmlns:a="http://schemas.openxmlformats.org/drawingml/2006/main">
            <a:off x="4333875" y="2581275"/>
            <a:ext cx="728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5394B"/>
                </a:solidFill>
                <a:latin typeface="Arial"/>
                <a:ea typeface="Arial"/>
                <a:cs typeface="Arial"/>
              </a:defRPr>
            </a:pPr>
            <a:r>
              <a:rPr sz="1875" b="0">
                <a:solidFill>
                  <a:srgbClr val="15394B"/>
                </a:solidFill>
                <a:latin typeface="Arial"/>
                <a:ea typeface="Arial"/>
                <a:cs typeface="Arial"/>
              </a:rPr>
              <a:t>Milliy statistika qo‘mitasi: 2025-01-01 holatidagi shifoxonalar</a:t>
            </a:r>
          </a:p>
        </p:txBody>
      </p:sp>
      <p:sp>
        <p:nvSpPr>
          <p:cNvPr id="9" name="">
            <a:extLst xmlns:a="http://schemas.openxmlformats.org/drawingml/2006/main">
              <a:ext uri="{FF2B5EF4-FFF2-40B4-BE49-F238E27FC236}">
                <a16:creationId xmlns:a16="http://schemas.microsoft.com/office/drawing/2014/main" id="{E8FAFB13-FA9C-43A8-8BE3-7256AA56D859}"/>
              </a:ext>
            </a:extLst>
          </p:cNvPr>
          <p:cNvSpPr>
            <a:spLocks xmlns:a="http://schemas.openxmlformats.org/drawingml/2006/main" noGrp="1"/>
          </p:cNvSpPr>
          <p:nvPr/>
        </p:nvSpPr>
        <p:spPr>
          <a:xfrm xmlns:a="http://schemas.openxmlformats.org/drawingml/2006/main">
            <a:off x="571500" y="3324225"/>
            <a:ext cx="11049000" cy="0"/>
          </a:xfrm>
          <a:prstGeom xmlns:a="http://schemas.openxmlformats.org/drawingml/2006/main" prst="line">
            <a:avLst/>
          </a:prstGeom>
          <a:noFill xmlns:a="http://schemas.openxmlformats.org/drawingml/2006/main"/>
          <a:ln xmlns:a="http://schemas.openxmlformats.org/drawingml/2006/main" w="9525">
            <a:solidFill>
              <a:srgbClr val="D4E2E4"/>
            </a:solidFill>
          </a:ln>
        </p:spPr>
      </p:sp>
      <p:sp>
        <p:nvSpPr>
          <p:cNvPr id="10" name="MedGemma">
            <a:extLst xmlns:a="http://schemas.openxmlformats.org/drawingml/2006/main">
              <a:ext uri="{FF2B5EF4-FFF2-40B4-BE49-F238E27FC236}">
                <a16:creationId xmlns:a16="http://schemas.microsoft.com/office/drawing/2014/main" id="{D7C6B673-94DB-4E22-AF1E-E1A8C4362A2A}"/>
              </a:ext>
            </a:extLst>
          </p:cNvPr>
          <p:cNvSpPr>
            <a:spLocks xmlns:a="http://schemas.openxmlformats.org/drawingml/2006/main" noGrp="1"/>
          </p:cNvSpPr>
          <p:nvPr/>
        </p:nvSpPr>
        <p:spPr>
          <a:xfrm xmlns:a="http://schemas.openxmlformats.org/drawingml/2006/main">
            <a:off x="571500" y="3562350"/>
            <a:ext cx="3714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08B8B"/>
                </a:solidFill>
                <a:latin typeface="Arial"/>
                <a:ea typeface="Arial"/>
                <a:cs typeface="Arial"/>
              </a:defRPr>
            </a:pPr>
            <a:r>
              <a:rPr sz="2025" b="1">
                <a:solidFill>
                  <a:srgbClr val="008B8B"/>
                </a:solidFill>
                <a:latin typeface="Arial"/>
                <a:ea typeface="Arial"/>
                <a:cs typeface="Arial"/>
              </a:rPr>
              <a:t>MedGemma</a:t>
            </a:r>
          </a:p>
        </p:txBody>
      </p:sp>
      <p:sp>
        <p:nvSpPr>
          <p:cNvPr id="11" name="Google model kartasi, HAI-DEF FAQ va foydalanish">
            <a:extLst xmlns:a="http://schemas.openxmlformats.org/drawingml/2006/main">
              <a:ext uri="{FF2B5EF4-FFF2-40B4-BE49-F238E27FC236}">
                <a16:creationId xmlns:a16="http://schemas.microsoft.com/office/drawing/2014/main" id="{4D334930-D85A-48B2-8158-01624A7AC826}"/>
              </a:ext>
            </a:extLst>
          </p:cNvPr>
          <p:cNvSpPr>
            <a:spLocks xmlns:a="http://schemas.openxmlformats.org/drawingml/2006/main" noGrp="1"/>
          </p:cNvSpPr>
          <p:nvPr/>
        </p:nvSpPr>
        <p:spPr>
          <a:xfrm xmlns:a="http://schemas.openxmlformats.org/drawingml/2006/main">
            <a:off x="4333875" y="3581400"/>
            <a:ext cx="728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5394B"/>
                </a:solidFill>
                <a:latin typeface="Arial"/>
                <a:ea typeface="Arial"/>
                <a:cs typeface="Arial"/>
              </a:defRPr>
            </a:pPr>
            <a:r>
              <a:rPr sz="1875" b="0">
                <a:solidFill>
                  <a:srgbClr val="15394B"/>
                </a:solidFill>
                <a:latin typeface="Arial"/>
                <a:ea typeface="Arial"/>
                <a:cs typeface="Arial"/>
              </a:rPr>
              <a:t>Google model kartasi, HAI-DEF FAQ va foydalanish shartlari</a:t>
            </a:r>
          </a:p>
        </p:txBody>
      </p:sp>
      <p:sp>
        <p:nvSpPr>
          <p:cNvPr id="12" name="">
            <a:extLst xmlns:a="http://schemas.openxmlformats.org/drawingml/2006/main">
              <a:ext uri="{FF2B5EF4-FFF2-40B4-BE49-F238E27FC236}">
                <a16:creationId xmlns:a16="http://schemas.microsoft.com/office/drawing/2014/main" id="{257870C7-EECE-4C1F-89D2-55122CE02CD9}"/>
              </a:ext>
            </a:extLst>
          </p:cNvPr>
          <p:cNvSpPr>
            <a:spLocks xmlns:a="http://schemas.openxmlformats.org/drawingml/2006/main" noGrp="1"/>
          </p:cNvSpPr>
          <p:nvPr/>
        </p:nvSpPr>
        <p:spPr>
          <a:xfrm xmlns:a="http://schemas.openxmlformats.org/drawingml/2006/main">
            <a:off x="571500" y="4324350"/>
            <a:ext cx="11049000" cy="0"/>
          </a:xfrm>
          <a:prstGeom xmlns:a="http://schemas.openxmlformats.org/drawingml/2006/main" prst="line">
            <a:avLst/>
          </a:prstGeom>
          <a:noFill xmlns:a="http://schemas.openxmlformats.org/drawingml/2006/main"/>
          <a:ln xmlns:a="http://schemas.openxmlformats.org/drawingml/2006/main" w="9525">
            <a:solidFill>
              <a:srgbClr val="D4E2E4"/>
            </a:solidFill>
          </a:ln>
        </p:spPr>
      </p:sp>
      <p:sp>
        <p:nvSpPr>
          <p:cNvPr id="13" name="Vizual materiallar">
            <a:extLst xmlns:a="http://schemas.openxmlformats.org/drawingml/2006/main">
              <a:ext uri="{FF2B5EF4-FFF2-40B4-BE49-F238E27FC236}">
                <a16:creationId xmlns:a16="http://schemas.microsoft.com/office/drawing/2014/main" id="{A2FB4910-4C9C-41D0-8A04-BCE56D8B02D4}"/>
              </a:ext>
            </a:extLst>
          </p:cNvPr>
          <p:cNvSpPr>
            <a:spLocks xmlns:a="http://schemas.openxmlformats.org/drawingml/2006/main" noGrp="1"/>
          </p:cNvSpPr>
          <p:nvPr/>
        </p:nvSpPr>
        <p:spPr>
          <a:xfrm xmlns:a="http://schemas.openxmlformats.org/drawingml/2006/main">
            <a:off x="571500" y="4562475"/>
            <a:ext cx="3714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08B8B"/>
                </a:solidFill>
                <a:latin typeface="Arial"/>
                <a:ea typeface="Arial"/>
                <a:cs typeface="Arial"/>
              </a:defRPr>
            </a:pPr>
            <a:r>
              <a:rPr sz="2025" b="1">
                <a:solidFill>
                  <a:srgbClr val="008B8B"/>
                </a:solidFill>
                <a:latin typeface="Arial"/>
                <a:ea typeface="Arial"/>
                <a:cs typeface="Arial"/>
              </a:rPr>
              <a:t>Vizual materiallar</a:t>
            </a:r>
          </a:p>
        </p:txBody>
      </p:sp>
      <p:sp>
        <p:nvSpPr>
          <p:cNvPr id="14" name="Haqiqiy demo skrinshotlari, loyiha logosi, Lucid">
            <a:extLst xmlns:a="http://schemas.openxmlformats.org/drawingml/2006/main">
              <a:ext uri="{FF2B5EF4-FFF2-40B4-BE49-F238E27FC236}">
                <a16:creationId xmlns:a16="http://schemas.microsoft.com/office/drawing/2014/main" id="{EEDCB2E1-F029-4C54-A12C-F30ED49FA294}"/>
              </a:ext>
            </a:extLst>
          </p:cNvPr>
          <p:cNvSpPr>
            <a:spLocks xmlns:a="http://schemas.openxmlformats.org/drawingml/2006/main" noGrp="1"/>
          </p:cNvSpPr>
          <p:nvPr/>
        </p:nvSpPr>
        <p:spPr>
          <a:xfrm xmlns:a="http://schemas.openxmlformats.org/drawingml/2006/main">
            <a:off x="4333875" y="4581525"/>
            <a:ext cx="728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5394B"/>
                </a:solidFill>
                <a:latin typeface="Arial"/>
                <a:ea typeface="Arial"/>
                <a:cs typeface="Arial"/>
              </a:defRPr>
            </a:pPr>
            <a:r>
              <a:rPr sz="1875" b="0">
                <a:solidFill>
                  <a:srgbClr val="15394B"/>
                </a:solidFill>
                <a:latin typeface="Arial"/>
                <a:ea typeface="Arial"/>
                <a:cs typeface="Arial"/>
              </a:rPr>
              <a:t>Haqiqiy demo skrinshotlari, loyiha logosi, Lucide ikonkalari</a:t>
            </a:r>
          </a:p>
        </p:txBody>
      </p:sp>
      <p:sp>
        <p:nvSpPr>
          <p:cNvPr id="15" name="Narxlar va hisob farazlari: 19 sentabr 2026. To‘">
            <a:extLst xmlns:a="http://schemas.openxmlformats.org/drawingml/2006/main">
              <a:ext uri="{FF2B5EF4-FFF2-40B4-BE49-F238E27FC236}">
                <a16:creationId xmlns:a16="http://schemas.microsoft.com/office/drawing/2014/main" id="{2063B3E1-17C6-4DDA-B601-D03BD15EECAB}"/>
              </a:ext>
            </a:extLst>
          </p:cNvPr>
          <p:cNvSpPr>
            <a:spLocks xmlns:a="http://schemas.openxmlformats.org/drawingml/2006/main" noGrp="1"/>
          </p:cNvSpPr>
          <p:nvPr/>
        </p:nvSpPr>
        <p:spPr>
          <a:xfrm xmlns:a="http://schemas.openxmlformats.org/drawingml/2006/main">
            <a:off x="571500" y="5800725"/>
            <a:ext cx="11049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87582"/>
                </a:solidFill>
                <a:latin typeface="Arial"/>
                <a:ea typeface="Arial"/>
                <a:cs typeface="Arial"/>
              </a:defRPr>
            </a:pPr>
            <a:r>
              <a:rPr sz="1725" b="0">
                <a:solidFill>
                  <a:srgbClr val="587582"/>
                </a:solidFill>
                <a:latin typeface="Arial"/>
                <a:ea typeface="Arial"/>
                <a:cs typeface="Arial"/>
              </a:rPr>
              <a:t>Narxlar va hisob farazlari: 19 sentabr 2026. To‘liq havolalar slayd izohlarida.</a:t>
            </a:r>
          </a:p>
        </p:txBody>
      </p:sp>
    </p:spTree>
    <p:extLst>
      <p:ext uri="{BB962C8B-B14F-4D97-AF65-F5344CB8AC3E}">
        <p14:creationId xmlns:p14="http://schemas.microsoft.com/office/powerpoint/2010/main" val="20999846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2026-09-18T21:08:57.6590000Z</dcterms:created>
  <dcterms:modified xsi:type="dcterms:W3CDTF">2026-09-18T21:08:57.6590000Z</dcterms:modified>
</coreProperties>
</file>